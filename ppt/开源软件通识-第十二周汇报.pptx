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1"/>
  </p:notesMasterIdLst>
  <p:sldIdLst>
    <p:sldId id="256" r:id="rId3"/>
    <p:sldId id="303" r:id="rId4"/>
    <p:sldId id="282" r:id="rId5"/>
    <p:sldId id="304" r:id="rId6"/>
    <p:sldId id="305" r:id="rId7"/>
    <p:sldId id="283" r:id="rId8"/>
    <p:sldId id="302" r:id="rId9"/>
    <p:sldId id="276" r:id="rId10"/>
    <p:sldId id="288" r:id="rId11"/>
    <p:sldId id="301" r:id="rId12"/>
    <p:sldId id="297" r:id="rId13"/>
    <p:sldId id="285" r:id="rId14"/>
    <p:sldId id="292" r:id="rId15"/>
    <p:sldId id="293" r:id="rId16"/>
    <p:sldId id="294" r:id="rId17"/>
    <p:sldId id="290" r:id="rId18"/>
    <p:sldId id="295" r:id="rId19"/>
    <p:sldId id="291" r:id="rId20"/>
    <p:sldId id="296" r:id="rId21"/>
    <p:sldId id="289" r:id="rId22"/>
    <p:sldId id="274" r:id="rId23"/>
    <p:sldId id="280" r:id="rId24"/>
    <p:sldId id="273" r:id="rId25"/>
    <p:sldId id="281" r:id="rId26"/>
    <p:sldId id="298" r:id="rId27"/>
    <p:sldId id="299" r:id="rId28"/>
    <p:sldId id="300" r:id="rId29"/>
    <p:sldId id="272" r:id="rId3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84972" autoAdjust="0"/>
  </p:normalViewPr>
  <p:slideViewPr>
    <p:cSldViewPr snapToGrid="0">
      <p:cViewPr varScale="1">
        <p:scale>
          <a:sx n="72" d="100"/>
          <a:sy n="72" d="100"/>
        </p:scale>
        <p:origin x="1253"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08062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97513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36084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1087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78085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61405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25000"/>
              </a:lnSpc>
              <a:defRPr/>
            </a:pPr>
            <a:endParaRPr lang="en-US" altLang="zh-CN" sz="1050">
              <a:latin typeface="+mn-ea"/>
              <a:ea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67112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9553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00499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73058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03933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37396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73130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195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六个部分。首先，我会介绍项目的背景和核心价值。接着，会详细阐述系统的功能模块和用户角色。第三部分将深入讲解核心的业务流程和计算模型。之后，会展示系统的技术架构。第五部分关注系统的安全、性能和可靠性。最后，给出项目的实施路线图并进行总结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47912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32614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3585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11328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93346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790624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66141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68534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的核心是其四层权重计算模型。第一层，计算学生在课程目标上的达成度；第二层，将目标达成度按内部权重聚合为课程级达成度；第三层，再将课程级达成度按支撑矩阵权重聚合为专业级达成度。每一层都有严格的权重和为1的约束，确保了计算的科学性和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00949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六个部分。首先，我会介绍项目的背景和核心价值。接着，会详细阐述系统的功能模块和用户角色。第三部分将深入讲解核心的业务流程和计算模型。之后，会展示系统的技术架构。第五部分关注系统的安全、性能和可靠性。最后，给出项目的实施路线图并进行总结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21431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797437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21280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svg"/><Relationship Id="rId11" Type="http://schemas.openxmlformats.org/officeDocument/2006/relationships/image" Target="../media/image3.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svg"/><Relationship Id="rId11" Type="http://schemas.openxmlformats.org/officeDocument/2006/relationships/image" Target="../media/image3.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3.svg"/><Relationship Id="rId11" Type="http://schemas.openxmlformats.org/officeDocument/2006/relationships/image" Target="../media/image3.png"/><Relationship Id="rId5" Type="http://schemas.openxmlformats.org/officeDocument/2006/relationships/image" Target="../media/image22.png"/><Relationship Id="rId10" Type="http://schemas.openxmlformats.org/officeDocument/2006/relationships/image" Target="../media/image5.svg"/><Relationship Id="rId4" Type="http://schemas.openxmlformats.org/officeDocument/2006/relationships/image" Target="../media/image21.sv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svg"/><Relationship Id="rId3" Type="http://schemas.openxmlformats.org/officeDocument/2006/relationships/image" Target="../media/image26.png"/><Relationship Id="rId7" Type="http://schemas.openxmlformats.org/officeDocument/2006/relationships/image" Target="../media/image30.svg"/><Relationship Id="rId12"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3.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0.svg"/><Relationship Id="rId11" Type="http://schemas.openxmlformats.org/officeDocument/2006/relationships/image" Target="../media/image43.png"/><Relationship Id="rId5" Type="http://schemas.openxmlformats.org/officeDocument/2006/relationships/image" Target="../media/image39.png"/><Relationship Id="rId10" Type="http://schemas.openxmlformats.org/officeDocument/2006/relationships/image" Target="../media/image15.svg"/><Relationship Id="rId4" Type="http://schemas.openxmlformats.org/officeDocument/2006/relationships/image" Target="../media/image38.sv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47.png"/><Relationship Id="rId4" Type="http://schemas.openxmlformats.org/officeDocument/2006/relationships/image" Target="../media/image46.sv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6.sv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50.png"/><Relationship Id="rId4" Type="http://schemas.openxmlformats.org/officeDocument/2006/relationships/image" Target="../media/image46.sv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53.png"/><Relationship Id="rId4" Type="http://schemas.openxmlformats.org/officeDocument/2006/relationships/image" Target="../media/image52.sv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2.sv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6.png"/><Relationship Id="rId4" Type="http://schemas.openxmlformats.org/officeDocument/2006/relationships/image" Target="../media/image52.sv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59.png"/><Relationship Id="rId4" Type="http://schemas.openxmlformats.org/officeDocument/2006/relationships/image" Target="../media/image58.svg"/></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60.png"/><Relationship Id="rId4" Type="http://schemas.openxmlformats.org/officeDocument/2006/relationships/image" Target="../media/image58.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2.svg"/><Relationship Id="rId11" Type="http://schemas.openxmlformats.org/officeDocument/2006/relationships/image" Target="../media/image3.png"/><Relationship Id="rId5" Type="http://schemas.openxmlformats.org/officeDocument/2006/relationships/image" Target="../media/image31.png"/><Relationship Id="rId10" Type="http://schemas.openxmlformats.org/officeDocument/2006/relationships/image" Target="../media/image67.svg"/><Relationship Id="rId4" Type="http://schemas.openxmlformats.org/officeDocument/2006/relationships/image" Target="../media/image63.svg"/><Relationship Id="rId9"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43.png"/><Relationship Id="rId3" Type="http://schemas.openxmlformats.org/officeDocument/2006/relationships/image" Target="../media/image45.png"/><Relationship Id="rId7" Type="http://schemas.openxmlformats.org/officeDocument/2006/relationships/image" Target="../media/image70.png"/><Relationship Id="rId12" Type="http://schemas.openxmlformats.org/officeDocument/2006/relationships/image" Target="../media/image75.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69.sv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3.png"/><Relationship Id="rId10" Type="http://schemas.openxmlformats.org/officeDocument/2006/relationships/image" Target="../media/image73.svg"/><Relationship Id="rId4" Type="http://schemas.openxmlformats.org/officeDocument/2006/relationships/image" Target="../media/image46.svg"/><Relationship Id="rId9" Type="http://schemas.openxmlformats.org/officeDocument/2006/relationships/image" Target="../media/image72.png"/><Relationship Id="rId14" Type="http://schemas.openxmlformats.org/officeDocument/2006/relationships/image" Target="../media/image44.svg"/></Relationships>
</file>

<file path=ppt/slides/_rels/slide2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sp>
        <p:nvSpPr>
          <p:cNvPr id="3" name="AutoShape 3"/>
          <p:cNvSpPr/>
          <p:nvPr/>
        </p:nvSpPr>
        <p:spPr>
          <a:xfrm>
            <a:off x="0" y="2032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400" b="1" i="0" u="none" strike="noStrike">
                <a:solidFill>
                  <a:srgbClr val="FFFFFF"/>
                </a:solidFill>
                <a:latin typeface="+mn-ea"/>
                <a:ea typeface="+mn-ea"/>
                <a:cs typeface="Noto Sans SC"/>
                <a:sym typeface="Noto Sans SC"/>
              </a:rPr>
              <a:t>毕业要求达成度计算平台</a:t>
            </a:r>
            <a:endParaRPr lang="en-US" sz="1100">
              <a:latin typeface="+mn-ea"/>
              <a:ea typeface="+mn-ea"/>
            </a:endParaRPr>
          </a:p>
        </p:txBody>
      </p:sp>
      <p:sp>
        <p:nvSpPr>
          <p:cNvPr id="4" name="AutoShape 4"/>
          <p:cNvSpPr/>
          <p:nvPr/>
        </p:nvSpPr>
        <p:spPr>
          <a:xfrm>
            <a:off x="5588000" y="3556000"/>
            <a:ext cx="1016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sp>
        <p:nvSpPr>
          <p:cNvPr id="5" name="AutoShape 5"/>
          <p:cNvSpPr/>
          <p:nvPr/>
        </p:nvSpPr>
        <p:spPr>
          <a:xfrm>
            <a:off x="0" y="3937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DD4BF"/>
                </a:solidFill>
                <a:latin typeface="+mn-ea"/>
                <a:ea typeface="+mn-ea"/>
                <a:cs typeface="Noto Sans SC"/>
                <a:sym typeface="Noto Sans SC"/>
              </a:rPr>
              <a:t>PROJECT REPORT · 项目汇报</a:t>
            </a:r>
            <a:endParaRPr lang="en-US" sz="1100">
              <a:latin typeface="+mn-ea"/>
              <a:ea typeface="+mn-ea"/>
            </a:endParaRPr>
          </a:p>
        </p:txBody>
      </p:sp>
      <p:sp>
        <p:nvSpPr>
          <p:cNvPr id="6" name="AutoShape 6"/>
          <p:cNvSpPr/>
          <p:nvPr/>
        </p:nvSpPr>
        <p:spPr>
          <a:xfrm>
            <a:off x="0" y="52832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600" b="0" i="0" u="none" strike="noStrike">
                <a:solidFill>
                  <a:srgbClr val="E5E7EB"/>
                </a:solidFill>
                <a:latin typeface="+mn-ea"/>
                <a:ea typeface="+mn-ea"/>
                <a:cs typeface="Noto Sans SC"/>
                <a:sym typeface="Noto Sans SC"/>
              </a:rPr>
              <a:t>汇报人</a:t>
            </a:r>
            <a:r>
              <a:rPr lang="zh-CN" altLang="en-US" sz="1600" b="0" i="0" u="none" strike="noStrike">
                <a:solidFill>
                  <a:srgbClr val="E5E7EB"/>
                </a:solidFill>
                <a:latin typeface="+mn-ea"/>
                <a:ea typeface="+mn-ea"/>
                <a:cs typeface="Noto Sans SC"/>
                <a:sym typeface="Noto Sans SC"/>
              </a:rPr>
              <a:t>：查琪乐</a:t>
            </a:r>
            <a:endParaRPr lang="en-US" sz="1600" b="0" i="0" u="none" strike="noStrike">
              <a:solidFill>
                <a:srgbClr val="E5E7EB"/>
              </a:solidFill>
              <a:latin typeface="+mn-ea"/>
              <a:ea typeface="+mn-ea"/>
              <a:cs typeface="Noto Sans SC"/>
              <a:sym typeface="Noto Sans SC"/>
            </a:endParaRPr>
          </a:p>
          <a:p>
            <a:pPr indent="0" algn="ctr">
              <a:lnSpc>
                <a:spcPct val="116666"/>
              </a:lnSpc>
              <a:defRPr/>
            </a:pPr>
            <a:r>
              <a:rPr lang="zh-CN" altLang="en-US" sz="1600">
                <a:solidFill>
                  <a:srgbClr val="E5E7EB"/>
                </a:solidFill>
                <a:latin typeface="+mn-ea"/>
                <a:ea typeface="+mn-ea"/>
              </a:rPr>
              <a:t>小组成员：查琪乐、邱志斌、邱嘉堃、刘辉艺、吴思雨、闫皇冲、李伟鹏、褚茂誉</a:t>
            </a:r>
            <a:endParaRPr lang="en-US" altLang="zh-CN" sz="1600">
              <a:solidFill>
                <a:srgbClr val="E5E7EB"/>
              </a:solidFill>
              <a:latin typeface="+mn-ea"/>
              <a:ea typeface="+mn-ea"/>
            </a:endParaRPr>
          </a:p>
          <a:p>
            <a:pPr algn="ctr">
              <a:lnSpc>
                <a:spcPct val="116666"/>
              </a:lnSpc>
              <a:defRPr/>
            </a:pPr>
            <a:r>
              <a:rPr lang="en-US" altLang="zh-CN" sz="1600" b="0" i="0" u="none" strike="noStrike">
                <a:solidFill>
                  <a:srgbClr val="E5E7EB"/>
                </a:solidFill>
                <a:latin typeface="+mn-ea"/>
                <a:ea typeface="+mn-ea"/>
                <a:cs typeface="Noto Sans SC"/>
                <a:sym typeface="Noto Sans SC"/>
              </a:rPr>
              <a:t>日期：2026年05月20日</a:t>
            </a:r>
          </a:p>
          <a:p>
            <a:pPr indent="0" algn="ctr">
              <a:lnSpc>
                <a:spcPct val="116666"/>
              </a:lnSpc>
              <a:defRPr/>
            </a:pPr>
            <a:endParaRPr lang="zh-CN" altLang="en-US" sz="1600">
              <a:solidFill>
                <a:srgbClr val="E5E7EB"/>
              </a:solidFill>
              <a:latin typeface="+mn-ea"/>
              <a:ea typeface="+mn-ea"/>
            </a:endParaRPr>
          </a:p>
          <a:p>
            <a:pPr indent="0" algn="ctr">
              <a:lnSpc>
                <a:spcPct val="116666"/>
              </a:lnSpc>
              <a:defRPr/>
            </a:pPr>
            <a:endParaRPr lang="en-US" sz="1100">
              <a:latin typeface="+mn-ea"/>
              <a:ea typeface="+mn-ea"/>
            </a:endParaRPr>
          </a:p>
        </p:txBody>
      </p:sp>
      <p:pic>
        <p:nvPicPr>
          <p:cNvPr id="7" name="图片 6">
            <a:extLst>
              <a:ext uri="{FF2B5EF4-FFF2-40B4-BE49-F238E27FC236}">
                <a16:creationId xmlns:a16="http://schemas.microsoft.com/office/drawing/2014/main" id="{E50CF11B-566E-459A-8338-DFC7030F45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2580" y="88496"/>
            <a:ext cx="4459272" cy="6765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309F6D0D-0579-4316-BBCF-CB85A42023DD}"/>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目录</a:t>
            </a:r>
            <a:r>
              <a:rPr lang="en-US" sz="2400" b="1" i="0" u="none" strike="noStrike">
                <a:solidFill>
                  <a:srgbClr val="94A3B8"/>
                </a:solidFill>
                <a:latin typeface="+mn-ea"/>
                <a:ea typeface="+mn-ea"/>
                <a:cs typeface="Noto Sans SC"/>
                <a:sym typeface="Noto Sans SC"/>
              </a:rPr>
              <a:t>CONTENTS</a:t>
            </a:r>
            <a:endParaRPr lang="en-US" sz="1100">
              <a:latin typeface="+mn-ea"/>
              <a:ea typeface="+mn-ea"/>
            </a:endParaRPr>
          </a:p>
        </p:txBody>
      </p:sp>
      <p:sp>
        <p:nvSpPr>
          <p:cNvPr id="8" name="AutoShape 4">
            <a:extLst>
              <a:ext uri="{FF2B5EF4-FFF2-40B4-BE49-F238E27FC236}">
                <a16:creationId xmlns:a16="http://schemas.microsoft.com/office/drawing/2014/main" id="{7879CD50-35C8-4404-BFFD-0A62FBB5569E}"/>
              </a:ext>
            </a:extLst>
          </p:cNvPr>
          <p:cNvSpPr/>
          <p:nvPr/>
        </p:nvSpPr>
        <p:spPr>
          <a:xfrm>
            <a:off x="762000" y="1778000"/>
            <a:ext cx="5207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9" name="AutoShape 5">
            <a:extLst>
              <a:ext uri="{FF2B5EF4-FFF2-40B4-BE49-F238E27FC236}">
                <a16:creationId xmlns:a16="http://schemas.microsoft.com/office/drawing/2014/main" id="{34A386A3-8BC6-4ABE-A3F0-F62BFDB37D21}"/>
              </a:ext>
            </a:extLst>
          </p:cNvPr>
          <p:cNvSpPr/>
          <p:nvPr/>
        </p:nvSpPr>
        <p:spPr>
          <a:xfrm>
            <a:off x="1016000" y="2032000"/>
            <a:ext cx="889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DD4BF"/>
                </a:solidFill>
                <a:latin typeface="+mn-ea"/>
                <a:ea typeface="+mn-ea"/>
                <a:cs typeface="Noto Sans SC"/>
                <a:sym typeface="Noto Sans SC"/>
              </a:rPr>
              <a:t>01</a:t>
            </a:r>
            <a:endParaRPr lang="en-US" sz="1100">
              <a:latin typeface="+mn-ea"/>
              <a:ea typeface="+mn-ea"/>
            </a:endParaRPr>
          </a:p>
        </p:txBody>
      </p:sp>
      <p:sp>
        <p:nvSpPr>
          <p:cNvPr id="10" name="AutoShape 7">
            <a:extLst>
              <a:ext uri="{FF2B5EF4-FFF2-40B4-BE49-F238E27FC236}">
                <a16:creationId xmlns:a16="http://schemas.microsoft.com/office/drawing/2014/main" id="{5465C150-3D18-40BB-BD14-8ECE7CCD5E3A}"/>
              </a:ext>
            </a:extLst>
          </p:cNvPr>
          <p:cNvSpPr/>
          <p:nvPr/>
        </p:nvSpPr>
        <p:spPr>
          <a:xfrm>
            <a:off x="762000" y="3429000"/>
            <a:ext cx="5207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1" name="AutoShape 8">
            <a:extLst>
              <a:ext uri="{FF2B5EF4-FFF2-40B4-BE49-F238E27FC236}">
                <a16:creationId xmlns:a16="http://schemas.microsoft.com/office/drawing/2014/main" id="{F7BC6F0C-9EA6-448A-B610-BC4DA6F21BA3}"/>
              </a:ext>
            </a:extLst>
          </p:cNvPr>
          <p:cNvSpPr/>
          <p:nvPr/>
        </p:nvSpPr>
        <p:spPr>
          <a:xfrm>
            <a:off x="1016000" y="3683000"/>
            <a:ext cx="889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DD4BF"/>
                </a:solidFill>
                <a:latin typeface="+mn-ea"/>
                <a:ea typeface="+mn-ea"/>
                <a:cs typeface="Noto Sans SC"/>
                <a:sym typeface="Noto Sans SC"/>
              </a:rPr>
              <a:t>02</a:t>
            </a:r>
            <a:endParaRPr lang="en-US" sz="1100">
              <a:latin typeface="+mn-ea"/>
              <a:ea typeface="+mn-ea"/>
            </a:endParaRPr>
          </a:p>
        </p:txBody>
      </p:sp>
      <p:sp>
        <p:nvSpPr>
          <p:cNvPr id="12" name="AutoShape 10">
            <a:extLst>
              <a:ext uri="{FF2B5EF4-FFF2-40B4-BE49-F238E27FC236}">
                <a16:creationId xmlns:a16="http://schemas.microsoft.com/office/drawing/2014/main" id="{000AC0E2-6FAE-4659-AB4E-9DFCEEB411DE}"/>
              </a:ext>
            </a:extLst>
          </p:cNvPr>
          <p:cNvSpPr/>
          <p:nvPr/>
        </p:nvSpPr>
        <p:spPr>
          <a:xfrm>
            <a:off x="762000" y="5080000"/>
            <a:ext cx="5207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3" name="AutoShape 11">
            <a:extLst>
              <a:ext uri="{FF2B5EF4-FFF2-40B4-BE49-F238E27FC236}">
                <a16:creationId xmlns:a16="http://schemas.microsoft.com/office/drawing/2014/main" id="{6CA56908-1811-4A13-AD07-8FF50249692F}"/>
              </a:ext>
            </a:extLst>
          </p:cNvPr>
          <p:cNvSpPr/>
          <p:nvPr/>
        </p:nvSpPr>
        <p:spPr>
          <a:xfrm>
            <a:off x="1016000" y="5334000"/>
            <a:ext cx="889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DD4BF"/>
                </a:solidFill>
                <a:latin typeface="+mn-ea"/>
                <a:ea typeface="+mn-ea"/>
                <a:cs typeface="Noto Sans SC"/>
                <a:sym typeface="Noto Sans SC"/>
              </a:rPr>
              <a:t>03</a:t>
            </a:r>
            <a:endParaRPr lang="en-US" sz="1100">
              <a:latin typeface="+mn-ea"/>
              <a:ea typeface="+mn-ea"/>
            </a:endParaRPr>
          </a:p>
        </p:txBody>
      </p:sp>
      <p:sp>
        <p:nvSpPr>
          <p:cNvPr id="14" name="AutoShape 12">
            <a:extLst>
              <a:ext uri="{FF2B5EF4-FFF2-40B4-BE49-F238E27FC236}">
                <a16:creationId xmlns:a16="http://schemas.microsoft.com/office/drawing/2014/main" id="{4BB9BD32-7810-4569-9208-A2F68642F96F}"/>
              </a:ext>
            </a:extLst>
          </p:cNvPr>
          <p:cNvSpPr/>
          <p:nvPr/>
        </p:nvSpPr>
        <p:spPr>
          <a:xfrm>
            <a:off x="2032000" y="52705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800" b="1" i="0" u="none" strike="noStrike">
                <a:solidFill>
                  <a:srgbClr val="374151"/>
                </a:solidFill>
                <a:latin typeface="+mn-ea"/>
                <a:ea typeface="+mn-ea"/>
                <a:cs typeface="Noto Sans SC"/>
                <a:sym typeface="Noto Sans SC"/>
              </a:rPr>
              <a:t>核心业务流程与计算模型</a:t>
            </a:r>
            <a:endParaRPr lang="en-US" sz="1100">
              <a:latin typeface="+mn-ea"/>
              <a:ea typeface="+mn-ea"/>
            </a:endParaRPr>
          </a:p>
          <a:p>
            <a:pPr indent="0" algn="l">
              <a:lnSpc>
                <a:spcPct val="116666"/>
              </a:lnSpc>
              <a:spcBef>
                <a:spcPts val="800"/>
              </a:spcBef>
            </a:pPr>
            <a:r>
              <a:rPr lang="en-US" sz="1300" b="0" i="0" u="none" strike="noStrike">
                <a:solidFill>
                  <a:srgbClr val="6B7280"/>
                </a:solidFill>
                <a:latin typeface="+mn-ea"/>
                <a:ea typeface="+mn-ea"/>
                <a:cs typeface="Noto Sans SC"/>
                <a:sym typeface="Noto Sans SC"/>
              </a:rPr>
              <a:t>数据流转全景、四层权重计算模型</a:t>
            </a:r>
          </a:p>
        </p:txBody>
      </p:sp>
      <p:sp>
        <p:nvSpPr>
          <p:cNvPr id="15" name="AutoShape 13">
            <a:extLst>
              <a:ext uri="{FF2B5EF4-FFF2-40B4-BE49-F238E27FC236}">
                <a16:creationId xmlns:a16="http://schemas.microsoft.com/office/drawing/2014/main" id="{A540ACAE-31C6-4304-8DFE-0F91F633EE9B}"/>
              </a:ext>
            </a:extLst>
          </p:cNvPr>
          <p:cNvSpPr/>
          <p:nvPr/>
        </p:nvSpPr>
        <p:spPr>
          <a:xfrm>
            <a:off x="6223000" y="1778000"/>
            <a:ext cx="5207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6" name="AutoShape 14">
            <a:extLst>
              <a:ext uri="{FF2B5EF4-FFF2-40B4-BE49-F238E27FC236}">
                <a16:creationId xmlns:a16="http://schemas.microsoft.com/office/drawing/2014/main" id="{D2C344A9-A9B1-40AF-8DCC-F35CFDDDF8EE}"/>
              </a:ext>
            </a:extLst>
          </p:cNvPr>
          <p:cNvSpPr/>
          <p:nvPr/>
        </p:nvSpPr>
        <p:spPr>
          <a:xfrm>
            <a:off x="6477000" y="2032000"/>
            <a:ext cx="889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DD4BF"/>
                </a:solidFill>
                <a:latin typeface="+mn-ea"/>
                <a:ea typeface="+mn-ea"/>
                <a:cs typeface="Noto Sans SC"/>
                <a:sym typeface="Noto Sans SC"/>
              </a:rPr>
              <a:t>04</a:t>
            </a:r>
            <a:endParaRPr lang="en-US" sz="1100">
              <a:latin typeface="+mn-ea"/>
              <a:ea typeface="+mn-ea"/>
            </a:endParaRPr>
          </a:p>
        </p:txBody>
      </p:sp>
      <p:sp>
        <p:nvSpPr>
          <p:cNvPr id="17" name="AutoShape 15">
            <a:extLst>
              <a:ext uri="{FF2B5EF4-FFF2-40B4-BE49-F238E27FC236}">
                <a16:creationId xmlns:a16="http://schemas.microsoft.com/office/drawing/2014/main" id="{2A45C9DC-F417-4C41-899C-AEE1F4A7A0F3}"/>
              </a:ext>
            </a:extLst>
          </p:cNvPr>
          <p:cNvSpPr/>
          <p:nvPr/>
        </p:nvSpPr>
        <p:spPr>
          <a:xfrm>
            <a:off x="1905000" y="36195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800" b="1" i="0" u="none" strike="noStrike">
                <a:solidFill>
                  <a:srgbClr val="374151"/>
                </a:solidFill>
                <a:latin typeface="+mn-ea"/>
                <a:ea typeface="+mn-ea"/>
                <a:cs typeface="Noto Sans SC"/>
                <a:sym typeface="Noto Sans SC"/>
              </a:rPr>
              <a:t>技术架构与实现</a:t>
            </a:r>
            <a:endParaRPr lang="en-US" sz="1100">
              <a:latin typeface="+mn-ea"/>
              <a:ea typeface="+mn-ea"/>
            </a:endParaRPr>
          </a:p>
          <a:p>
            <a:pPr indent="0" algn="l">
              <a:lnSpc>
                <a:spcPct val="116666"/>
              </a:lnSpc>
              <a:spcBef>
                <a:spcPts val="800"/>
              </a:spcBef>
            </a:pPr>
            <a:r>
              <a:rPr lang="en-US" sz="1300" b="0" i="0" u="none" strike="noStrike">
                <a:solidFill>
                  <a:srgbClr val="6B7280"/>
                </a:solidFill>
                <a:latin typeface="+mn-ea"/>
                <a:ea typeface="+mn-ea"/>
                <a:cs typeface="Noto Sans SC"/>
                <a:sym typeface="Noto Sans SC"/>
              </a:rPr>
              <a:t>整体架构、分层设计、核心组件</a:t>
            </a:r>
          </a:p>
        </p:txBody>
      </p:sp>
      <p:sp>
        <p:nvSpPr>
          <p:cNvPr id="18" name="AutoShape 16">
            <a:extLst>
              <a:ext uri="{FF2B5EF4-FFF2-40B4-BE49-F238E27FC236}">
                <a16:creationId xmlns:a16="http://schemas.microsoft.com/office/drawing/2014/main" id="{24250EA1-B468-492C-A975-AA070DCD4E81}"/>
              </a:ext>
            </a:extLst>
          </p:cNvPr>
          <p:cNvSpPr/>
          <p:nvPr/>
        </p:nvSpPr>
        <p:spPr>
          <a:xfrm>
            <a:off x="6223000" y="3429000"/>
            <a:ext cx="5207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9" name="AutoShape 17">
            <a:extLst>
              <a:ext uri="{FF2B5EF4-FFF2-40B4-BE49-F238E27FC236}">
                <a16:creationId xmlns:a16="http://schemas.microsoft.com/office/drawing/2014/main" id="{A9A2E09C-3D30-439D-BE6C-315E13EC16E6}"/>
              </a:ext>
            </a:extLst>
          </p:cNvPr>
          <p:cNvSpPr/>
          <p:nvPr/>
        </p:nvSpPr>
        <p:spPr>
          <a:xfrm>
            <a:off x="6477000" y="3683000"/>
            <a:ext cx="889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DD4BF"/>
                </a:solidFill>
                <a:latin typeface="+mn-ea"/>
                <a:ea typeface="+mn-ea"/>
                <a:cs typeface="Noto Sans SC"/>
                <a:sym typeface="Noto Sans SC"/>
              </a:rPr>
              <a:t>05</a:t>
            </a:r>
            <a:endParaRPr lang="en-US" sz="1100">
              <a:latin typeface="+mn-ea"/>
              <a:ea typeface="+mn-ea"/>
            </a:endParaRPr>
          </a:p>
        </p:txBody>
      </p:sp>
      <p:sp>
        <p:nvSpPr>
          <p:cNvPr id="20" name="AutoShape 21">
            <a:extLst>
              <a:ext uri="{FF2B5EF4-FFF2-40B4-BE49-F238E27FC236}">
                <a16:creationId xmlns:a16="http://schemas.microsoft.com/office/drawing/2014/main" id="{632FC7A1-DE05-44F0-A28A-E6DABEE76EF9}"/>
              </a:ext>
            </a:extLst>
          </p:cNvPr>
          <p:cNvSpPr/>
          <p:nvPr/>
        </p:nvSpPr>
        <p:spPr>
          <a:xfrm>
            <a:off x="7366000" y="36195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800" b="1" i="0" u="none" strike="noStrike">
                <a:solidFill>
                  <a:srgbClr val="374151"/>
                </a:solidFill>
                <a:latin typeface="+mn-ea"/>
                <a:ea typeface="+mn-ea"/>
                <a:cs typeface="Noto Sans SC"/>
                <a:sym typeface="Noto Sans SC"/>
              </a:rPr>
              <a:t>实施路线与总结展望</a:t>
            </a:r>
            <a:endParaRPr lang="en-US" sz="1100">
              <a:latin typeface="+mn-ea"/>
              <a:ea typeface="+mn-ea"/>
            </a:endParaRPr>
          </a:p>
          <a:p>
            <a:pPr indent="0" algn="l">
              <a:lnSpc>
                <a:spcPct val="116666"/>
              </a:lnSpc>
              <a:spcBef>
                <a:spcPts val="800"/>
              </a:spcBef>
            </a:pPr>
            <a:r>
              <a:rPr lang="en-US" sz="1300" b="0" i="0" u="none" strike="noStrike">
                <a:solidFill>
                  <a:srgbClr val="6B7280"/>
                </a:solidFill>
                <a:latin typeface="+mn-ea"/>
                <a:ea typeface="+mn-ea"/>
                <a:cs typeface="Noto Sans SC"/>
                <a:sym typeface="Noto Sans SC"/>
              </a:rPr>
              <a:t>项目计划、总结与未来展望</a:t>
            </a:r>
          </a:p>
        </p:txBody>
      </p:sp>
      <p:sp>
        <p:nvSpPr>
          <p:cNvPr id="21" name="AutoShape 9">
            <a:extLst>
              <a:ext uri="{FF2B5EF4-FFF2-40B4-BE49-F238E27FC236}">
                <a16:creationId xmlns:a16="http://schemas.microsoft.com/office/drawing/2014/main" id="{81C03E68-DA1B-4458-BFA2-6B432064EF5A}"/>
              </a:ext>
            </a:extLst>
          </p:cNvPr>
          <p:cNvSpPr/>
          <p:nvPr/>
        </p:nvSpPr>
        <p:spPr>
          <a:xfrm>
            <a:off x="1968500" y="19685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800" b="1">
                <a:solidFill>
                  <a:srgbClr val="374151"/>
                </a:solidFill>
                <a:latin typeface="+mn-ea"/>
                <a:ea typeface="+mn-ea"/>
                <a:cs typeface="Noto Sans SC"/>
                <a:sym typeface="Noto Sans SC"/>
              </a:rPr>
              <a:t>系统功能与用户角色</a:t>
            </a:r>
            <a:endParaRPr lang="en-US" sz="1100">
              <a:latin typeface="+mn-ea"/>
              <a:ea typeface="+mn-ea"/>
            </a:endParaRPr>
          </a:p>
          <a:p>
            <a:pPr indent="0" algn="l">
              <a:lnSpc>
                <a:spcPct val="116666"/>
              </a:lnSpc>
              <a:spcBef>
                <a:spcPts val="800"/>
              </a:spcBef>
            </a:pPr>
            <a:r>
              <a:rPr lang="en-US" sz="1300" b="0" i="0" u="none" strike="noStrike">
                <a:solidFill>
                  <a:srgbClr val="6B7280"/>
                </a:solidFill>
                <a:latin typeface="+mn-ea"/>
                <a:ea typeface="+mn-ea"/>
                <a:cs typeface="Noto Sans SC"/>
                <a:sym typeface="Noto Sans SC"/>
              </a:rPr>
              <a:t>四大功能模块、精细化权限管理</a:t>
            </a:r>
          </a:p>
        </p:txBody>
      </p:sp>
      <p:sp>
        <p:nvSpPr>
          <p:cNvPr id="23" name="AutoShape 18">
            <a:extLst>
              <a:ext uri="{FF2B5EF4-FFF2-40B4-BE49-F238E27FC236}">
                <a16:creationId xmlns:a16="http://schemas.microsoft.com/office/drawing/2014/main" id="{88E7F73D-86EE-4F5B-8321-CD06A6B14CCF}"/>
              </a:ext>
            </a:extLst>
          </p:cNvPr>
          <p:cNvSpPr/>
          <p:nvPr/>
        </p:nvSpPr>
        <p:spPr>
          <a:xfrm>
            <a:off x="7366000" y="2025207"/>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800" b="1" i="0" u="none" strike="noStrike">
                <a:solidFill>
                  <a:srgbClr val="374151"/>
                </a:solidFill>
                <a:latin typeface="+mn-ea"/>
                <a:ea typeface="+mn-ea"/>
                <a:cs typeface="Noto Sans SC"/>
                <a:sym typeface="Noto Sans SC"/>
              </a:rPr>
              <a:t>数据库设计</a:t>
            </a:r>
            <a:endParaRPr lang="en-US" sz="1100">
              <a:latin typeface="+mn-ea"/>
              <a:ea typeface="+mn-ea"/>
            </a:endParaRPr>
          </a:p>
          <a:p>
            <a:pPr indent="0" algn="l">
              <a:lnSpc>
                <a:spcPct val="116666"/>
              </a:lnSpc>
              <a:spcBef>
                <a:spcPts val="800"/>
              </a:spcBef>
            </a:pPr>
            <a:r>
              <a:rPr lang="en-US" sz="1300" b="0" i="0" u="none" strike="noStrike">
                <a:solidFill>
                  <a:srgbClr val="6B7280"/>
                </a:solidFill>
                <a:latin typeface="+mn-ea"/>
                <a:ea typeface="+mn-ea"/>
                <a:cs typeface="Noto Sans SC"/>
                <a:sym typeface="Noto Sans SC"/>
              </a:rPr>
              <a:t>19</a:t>
            </a:r>
            <a:r>
              <a:rPr lang="zh-CN" altLang="en-US" sz="1300" b="0" i="0" u="none" strike="noStrike">
                <a:solidFill>
                  <a:srgbClr val="6B7280"/>
                </a:solidFill>
                <a:latin typeface="+mn-ea"/>
                <a:ea typeface="+mn-ea"/>
                <a:cs typeface="Noto Sans SC"/>
                <a:sym typeface="Noto Sans SC"/>
              </a:rPr>
              <a:t>张表</a:t>
            </a:r>
            <a:endParaRPr lang="en-US" sz="1300" b="0" i="0" u="none" strike="noStrike">
              <a:solidFill>
                <a:srgbClr val="6B7280"/>
              </a:solidFill>
              <a:latin typeface="+mn-ea"/>
              <a:ea typeface="+mn-ea"/>
              <a:cs typeface="Noto Sans SC"/>
              <a:sym typeface="Noto Sans SC"/>
            </a:endParaRPr>
          </a:p>
        </p:txBody>
      </p:sp>
      <p:pic>
        <p:nvPicPr>
          <p:cNvPr id="3" name="图片 2" descr="文本&#10;&#10;AI 生成的内容可能不正确。">
            <a:extLst>
              <a:ext uri="{FF2B5EF4-FFF2-40B4-BE49-F238E27FC236}">
                <a16:creationId xmlns:a16="http://schemas.microsoft.com/office/drawing/2014/main" id="{999FAD2E-CA76-4F94-8D40-2FAB182C712A}"/>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400168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2702442" y="2160770"/>
            <a:ext cx="6787116" cy="2198577"/>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5" name="AutoShape 5"/>
          <p:cNvSpPr/>
          <p:nvPr/>
        </p:nvSpPr>
        <p:spPr>
          <a:xfrm>
            <a:off x="3171016" y="2771551"/>
            <a:ext cx="1472019"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a:solidFill>
                  <a:srgbClr val="2DD4BF"/>
                </a:solidFill>
                <a:latin typeface="+mn-ea"/>
                <a:ea typeface="+mn-ea"/>
                <a:cs typeface="Noto Sans SC"/>
                <a:sym typeface="Noto Sans SC"/>
              </a:rPr>
              <a:t>01</a:t>
            </a:r>
            <a:endParaRPr lang="en-US" sz="2400">
              <a:latin typeface="+mn-ea"/>
              <a:ea typeface="+mn-ea"/>
            </a:endParaRPr>
          </a:p>
        </p:txBody>
      </p:sp>
      <p:sp>
        <p:nvSpPr>
          <p:cNvPr id="22" name="AutoShape 9">
            <a:extLst>
              <a:ext uri="{FF2B5EF4-FFF2-40B4-BE49-F238E27FC236}">
                <a16:creationId xmlns:a16="http://schemas.microsoft.com/office/drawing/2014/main" id="{1813EBCE-F925-4982-B8E4-B645FD720047}"/>
              </a:ext>
            </a:extLst>
          </p:cNvPr>
          <p:cNvSpPr/>
          <p:nvPr/>
        </p:nvSpPr>
        <p:spPr>
          <a:xfrm>
            <a:off x="5111609" y="2752058"/>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3200" b="1">
                <a:solidFill>
                  <a:srgbClr val="374151"/>
                </a:solidFill>
                <a:latin typeface="+mn-ea"/>
                <a:ea typeface="+mn-ea"/>
                <a:cs typeface="Noto Sans SC"/>
                <a:sym typeface="Noto Sans SC"/>
              </a:rPr>
              <a:t>系统功能与用户角色</a:t>
            </a:r>
            <a:endParaRPr lang="en-US" sz="1800">
              <a:latin typeface="+mn-ea"/>
              <a:ea typeface="+mn-ea"/>
            </a:endParaRPr>
          </a:p>
        </p:txBody>
      </p:sp>
      <p:pic>
        <p:nvPicPr>
          <p:cNvPr id="6" name="图片 5" descr="文本&#10;&#10;AI 生成的内容可能不正确。">
            <a:extLst>
              <a:ext uri="{FF2B5EF4-FFF2-40B4-BE49-F238E27FC236}">
                <a16:creationId xmlns:a16="http://schemas.microsoft.com/office/drawing/2014/main" id="{F097B020-B110-4D3F-B51C-F0B4225C392E}"/>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2861328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35BDF90C-E83C-440F-9F38-3740A12017EB}"/>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01 系统功能：四大核心功能模块</a:t>
            </a:r>
            <a:endParaRPr lang="en-US" sz="1100">
              <a:latin typeface="+mn-ea"/>
              <a:ea typeface="+mn-ea"/>
            </a:endParaRPr>
          </a:p>
        </p:txBody>
      </p:sp>
      <p:sp>
        <p:nvSpPr>
          <p:cNvPr id="8" name="AutoShape 4">
            <a:extLst>
              <a:ext uri="{FF2B5EF4-FFF2-40B4-BE49-F238E27FC236}">
                <a16:creationId xmlns:a16="http://schemas.microsoft.com/office/drawing/2014/main" id="{449EC7EB-D060-4E4F-8E05-D8F00A04A9AA}"/>
              </a:ext>
            </a:extLst>
          </p:cNvPr>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mn-ea"/>
                <a:ea typeface="+mn-ea"/>
                <a:cs typeface="Noto Sans SC"/>
                <a:sym typeface="Noto Sans SC"/>
              </a:rPr>
              <a:t>系统围绕毕业要求达成度计算的全生命周期，设计了四大功能模块，覆盖从数据准备到结果分析的全过程，确保管理流程闭环与数据价值最大化。</a:t>
            </a:r>
            <a:endParaRPr lang="en-US" sz="1100">
              <a:latin typeface="+mn-ea"/>
              <a:ea typeface="+mn-ea"/>
            </a:endParaRPr>
          </a:p>
        </p:txBody>
      </p:sp>
      <p:sp>
        <p:nvSpPr>
          <p:cNvPr id="9" name="AutoShape 5">
            <a:extLst>
              <a:ext uri="{FF2B5EF4-FFF2-40B4-BE49-F238E27FC236}">
                <a16:creationId xmlns:a16="http://schemas.microsoft.com/office/drawing/2014/main" id="{EBBEC8DD-4AD8-472F-B3EA-8CA627F07016}"/>
              </a:ext>
            </a:extLst>
          </p:cNvPr>
          <p:cNvSpPr/>
          <p:nvPr/>
        </p:nvSpPr>
        <p:spPr>
          <a:xfrm>
            <a:off x="762000" y="2413000"/>
            <a:ext cx="5207000" cy="1968500"/>
          </a:xfrm>
          <a:prstGeom prst="roundRect">
            <a:avLst>
              <a:gd name="adj" fmla="val 774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0" name="AutoShape 6">
            <a:extLst>
              <a:ext uri="{FF2B5EF4-FFF2-40B4-BE49-F238E27FC236}">
                <a16:creationId xmlns:a16="http://schemas.microsoft.com/office/drawing/2014/main" id="{B349002D-20F0-4573-BC46-348289FDA579}"/>
              </a:ext>
            </a:extLst>
          </p:cNvPr>
          <p:cNvSpPr/>
          <p:nvPr/>
        </p:nvSpPr>
        <p:spPr>
          <a:xfrm>
            <a:off x="762000" y="2413000"/>
            <a:ext cx="76200" cy="1968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1" name="Picture 7">
            <a:extLst>
              <a:ext uri="{FF2B5EF4-FFF2-40B4-BE49-F238E27FC236}">
                <a16:creationId xmlns:a16="http://schemas.microsoft.com/office/drawing/2014/main" id="{1FEAA3A2-D472-4183-B438-9011FDF224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667000"/>
            <a:ext cx="406400" cy="406400"/>
          </a:xfrm>
          <a:prstGeom prst="rect">
            <a:avLst/>
          </a:prstGeom>
        </p:spPr>
      </p:pic>
      <p:sp>
        <p:nvSpPr>
          <p:cNvPr id="12" name="AutoShape 8">
            <a:extLst>
              <a:ext uri="{FF2B5EF4-FFF2-40B4-BE49-F238E27FC236}">
                <a16:creationId xmlns:a16="http://schemas.microsoft.com/office/drawing/2014/main" id="{5A0538AD-9875-4856-BA5C-8F85F35E8394}"/>
              </a:ext>
            </a:extLst>
          </p:cNvPr>
          <p:cNvSpPr/>
          <p:nvPr/>
        </p:nvSpPr>
        <p:spPr>
          <a:xfrm>
            <a:off x="1714500" y="2641600"/>
            <a:ext cx="3937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mn-ea"/>
                <a:ea typeface="+mn-ea"/>
                <a:cs typeface="Noto Sans SC"/>
                <a:sym typeface="Noto Sans SC"/>
              </a:rPr>
              <a:t>模块A：基础与宏观数据管理</a:t>
            </a:r>
            <a:endParaRPr lang="en-US" sz="1100">
              <a:latin typeface="+mn-ea"/>
              <a:ea typeface="+mn-ea"/>
            </a:endParaRPr>
          </a:p>
          <a:p>
            <a:pPr indent="0" algn="l">
              <a:lnSpc>
                <a:spcPct val="116666"/>
              </a:lnSpc>
              <a:spcBef>
                <a:spcPts val="800"/>
              </a:spcBef>
            </a:pPr>
            <a:r>
              <a:rPr lang="en-US" sz="1200" b="1" i="0" u="none" strike="noStrike">
                <a:solidFill>
                  <a:srgbClr val="4B5563"/>
                </a:solidFill>
                <a:latin typeface="+mn-ea"/>
                <a:ea typeface="+mn-ea"/>
                <a:cs typeface="Noto Sans SC"/>
                <a:sym typeface="Noto Sans SC"/>
              </a:rPr>
              <a:t>功能：</a:t>
            </a:r>
            <a:r>
              <a:rPr lang="en-US" sz="1200" b="0" i="0" u="none" strike="noStrike">
                <a:solidFill>
                  <a:srgbClr val="4B5563"/>
                </a:solidFill>
                <a:latin typeface="+mn-ea"/>
                <a:ea typeface="+mn-ea"/>
                <a:cs typeface="Noto Sans SC"/>
                <a:sym typeface="Noto Sans SC"/>
              </a:rPr>
              <a:t>统一管理全局数据字典；精准定义毕业要求指标体系；批量导入课程与学生信息；灵活配置宏观支撑矩阵。</a:t>
            </a:r>
          </a:p>
          <a:p>
            <a:pPr indent="0" algn="l">
              <a:lnSpc>
                <a:spcPct val="116666"/>
              </a:lnSpc>
              <a:spcBef>
                <a:spcPts val="600"/>
              </a:spcBef>
            </a:pPr>
            <a:r>
              <a:rPr lang="en-US" sz="1200" b="1" i="0" u="none" strike="noStrike">
                <a:solidFill>
                  <a:srgbClr val="6B7280"/>
                </a:solidFill>
                <a:latin typeface="+mn-ea"/>
                <a:ea typeface="+mn-ea"/>
                <a:cs typeface="Noto Sans SC"/>
                <a:sym typeface="Noto Sans SC"/>
              </a:rPr>
              <a:t>面向角色：</a:t>
            </a:r>
            <a:r>
              <a:rPr lang="en-US" sz="1200" b="0" i="0" u="none" strike="noStrike">
                <a:solidFill>
                  <a:srgbClr val="6B7280"/>
                </a:solidFill>
                <a:latin typeface="+mn-ea"/>
                <a:ea typeface="+mn-ea"/>
                <a:cs typeface="Noto Sans SC"/>
                <a:sym typeface="Noto Sans SC"/>
              </a:rPr>
              <a:t>系统管理员、教务管理员、专业负责人</a:t>
            </a:r>
          </a:p>
        </p:txBody>
      </p:sp>
      <p:sp>
        <p:nvSpPr>
          <p:cNvPr id="13" name="AutoShape 9">
            <a:extLst>
              <a:ext uri="{FF2B5EF4-FFF2-40B4-BE49-F238E27FC236}">
                <a16:creationId xmlns:a16="http://schemas.microsoft.com/office/drawing/2014/main" id="{A6BFE966-A6AD-422E-9ADA-57E395DEE185}"/>
              </a:ext>
            </a:extLst>
          </p:cNvPr>
          <p:cNvSpPr/>
          <p:nvPr/>
        </p:nvSpPr>
        <p:spPr>
          <a:xfrm>
            <a:off x="6223000" y="2413000"/>
            <a:ext cx="5207000" cy="1968500"/>
          </a:xfrm>
          <a:prstGeom prst="roundRect">
            <a:avLst>
              <a:gd name="adj" fmla="val 774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4" name="AutoShape 10">
            <a:extLst>
              <a:ext uri="{FF2B5EF4-FFF2-40B4-BE49-F238E27FC236}">
                <a16:creationId xmlns:a16="http://schemas.microsoft.com/office/drawing/2014/main" id="{3F1B07C3-BACA-484C-A4B7-02B0D284D339}"/>
              </a:ext>
            </a:extLst>
          </p:cNvPr>
          <p:cNvSpPr/>
          <p:nvPr/>
        </p:nvSpPr>
        <p:spPr>
          <a:xfrm>
            <a:off x="6223000" y="2413000"/>
            <a:ext cx="76200" cy="1968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5" name="Picture 11">
            <a:extLst>
              <a:ext uri="{FF2B5EF4-FFF2-40B4-BE49-F238E27FC236}">
                <a16:creationId xmlns:a16="http://schemas.microsoft.com/office/drawing/2014/main" id="{881FAE2C-F4C0-48AE-B16F-4A8FAA1DF5B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667000"/>
            <a:ext cx="406400" cy="406400"/>
          </a:xfrm>
          <a:prstGeom prst="rect">
            <a:avLst/>
          </a:prstGeom>
        </p:spPr>
      </p:pic>
      <p:sp>
        <p:nvSpPr>
          <p:cNvPr id="16" name="AutoShape 12">
            <a:extLst>
              <a:ext uri="{FF2B5EF4-FFF2-40B4-BE49-F238E27FC236}">
                <a16:creationId xmlns:a16="http://schemas.microsoft.com/office/drawing/2014/main" id="{C8D326D8-BE91-4B44-AF96-0B1BD71B493B}"/>
              </a:ext>
            </a:extLst>
          </p:cNvPr>
          <p:cNvSpPr/>
          <p:nvPr/>
        </p:nvSpPr>
        <p:spPr>
          <a:xfrm>
            <a:off x="7175500" y="2641600"/>
            <a:ext cx="3937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mn-ea"/>
                <a:ea typeface="+mn-ea"/>
                <a:cs typeface="Noto Sans SC"/>
                <a:sym typeface="Noto Sans SC"/>
              </a:rPr>
              <a:t>模块B：课程大纲与微观映射</a:t>
            </a:r>
            <a:endParaRPr lang="en-US" sz="1100">
              <a:latin typeface="+mn-ea"/>
              <a:ea typeface="+mn-ea"/>
            </a:endParaRPr>
          </a:p>
          <a:p>
            <a:pPr indent="0" algn="l">
              <a:lnSpc>
                <a:spcPct val="116666"/>
              </a:lnSpc>
              <a:spcBef>
                <a:spcPts val="800"/>
              </a:spcBef>
            </a:pPr>
            <a:r>
              <a:rPr lang="en-US" sz="1200" b="1" i="0" u="none" strike="noStrike">
                <a:solidFill>
                  <a:srgbClr val="4B5563"/>
                </a:solidFill>
                <a:latin typeface="+mn-ea"/>
                <a:ea typeface="+mn-ea"/>
                <a:cs typeface="Noto Sans SC"/>
                <a:sym typeface="Noto Sans SC"/>
              </a:rPr>
              <a:t>功能：</a:t>
            </a:r>
            <a:r>
              <a:rPr lang="en-US" sz="1200" b="0" i="0" u="none" strike="noStrike">
                <a:solidFill>
                  <a:srgbClr val="4B5563"/>
                </a:solidFill>
                <a:latin typeface="+mn-ea"/>
                <a:ea typeface="+mn-ea"/>
                <a:cs typeface="Noto Sans SC"/>
                <a:sym typeface="Noto Sans SC"/>
              </a:rPr>
              <a:t>在线设定课程教学目标；为各目标分配合理内部权重；精细化拆分考核点并完成与毕业要求指标点的一一映射。</a:t>
            </a:r>
          </a:p>
          <a:p>
            <a:pPr indent="0" algn="l">
              <a:lnSpc>
                <a:spcPct val="116666"/>
              </a:lnSpc>
              <a:spcBef>
                <a:spcPts val="600"/>
              </a:spcBef>
            </a:pPr>
            <a:r>
              <a:rPr lang="en-US" sz="1200" b="1" i="0" u="none" strike="noStrike">
                <a:solidFill>
                  <a:srgbClr val="6B7280"/>
                </a:solidFill>
                <a:latin typeface="+mn-ea"/>
                <a:ea typeface="+mn-ea"/>
                <a:cs typeface="Noto Sans SC"/>
                <a:sym typeface="Noto Sans SC"/>
              </a:rPr>
              <a:t>面向角色：</a:t>
            </a:r>
            <a:r>
              <a:rPr lang="en-US" sz="1200" b="0" i="0" u="none" strike="noStrike">
                <a:solidFill>
                  <a:srgbClr val="6B7280"/>
                </a:solidFill>
                <a:latin typeface="+mn-ea"/>
                <a:ea typeface="+mn-ea"/>
                <a:cs typeface="Noto Sans SC"/>
                <a:sym typeface="Noto Sans SC"/>
              </a:rPr>
              <a:t>课程授课教师</a:t>
            </a:r>
          </a:p>
        </p:txBody>
      </p:sp>
      <p:sp>
        <p:nvSpPr>
          <p:cNvPr id="17" name="AutoShape 13">
            <a:extLst>
              <a:ext uri="{FF2B5EF4-FFF2-40B4-BE49-F238E27FC236}">
                <a16:creationId xmlns:a16="http://schemas.microsoft.com/office/drawing/2014/main" id="{F2512962-2369-4E31-8153-2A0EA1FB777C}"/>
              </a:ext>
            </a:extLst>
          </p:cNvPr>
          <p:cNvSpPr/>
          <p:nvPr/>
        </p:nvSpPr>
        <p:spPr>
          <a:xfrm>
            <a:off x="762000" y="4572000"/>
            <a:ext cx="5207000" cy="1968500"/>
          </a:xfrm>
          <a:prstGeom prst="roundRect">
            <a:avLst>
              <a:gd name="adj" fmla="val 774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8" name="AutoShape 14">
            <a:extLst>
              <a:ext uri="{FF2B5EF4-FFF2-40B4-BE49-F238E27FC236}">
                <a16:creationId xmlns:a16="http://schemas.microsoft.com/office/drawing/2014/main" id="{2B9F9438-F58A-472B-B06E-3D44640E269A}"/>
              </a:ext>
            </a:extLst>
          </p:cNvPr>
          <p:cNvSpPr/>
          <p:nvPr/>
        </p:nvSpPr>
        <p:spPr>
          <a:xfrm>
            <a:off x="762000" y="4572000"/>
            <a:ext cx="76200" cy="1968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9" name="Picture 15">
            <a:extLst>
              <a:ext uri="{FF2B5EF4-FFF2-40B4-BE49-F238E27FC236}">
                <a16:creationId xmlns:a16="http://schemas.microsoft.com/office/drawing/2014/main" id="{DA04D202-0B7F-4C40-AB94-3532D8E282B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9500" y="4826000"/>
            <a:ext cx="406400" cy="406400"/>
          </a:xfrm>
          <a:prstGeom prst="rect">
            <a:avLst/>
          </a:prstGeom>
        </p:spPr>
      </p:pic>
      <p:sp>
        <p:nvSpPr>
          <p:cNvPr id="20" name="AutoShape 16">
            <a:extLst>
              <a:ext uri="{FF2B5EF4-FFF2-40B4-BE49-F238E27FC236}">
                <a16:creationId xmlns:a16="http://schemas.microsoft.com/office/drawing/2014/main" id="{B8B02DF8-CF6A-4C1E-B503-1FC166D19A71}"/>
              </a:ext>
            </a:extLst>
          </p:cNvPr>
          <p:cNvSpPr/>
          <p:nvPr/>
        </p:nvSpPr>
        <p:spPr>
          <a:xfrm>
            <a:off x="1714500" y="4800600"/>
            <a:ext cx="3937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mn-ea"/>
                <a:ea typeface="+mn-ea"/>
                <a:cs typeface="Noto Sans SC"/>
                <a:sym typeface="Noto Sans SC"/>
              </a:rPr>
              <a:t>模块C：成绩录入与自动计算</a:t>
            </a:r>
            <a:endParaRPr lang="en-US" sz="1100">
              <a:latin typeface="+mn-ea"/>
              <a:ea typeface="+mn-ea"/>
            </a:endParaRPr>
          </a:p>
          <a:p>
            <a:pPr indent="0" algn="l">
              <a:lnSpc>
                <a:spcPct val="116666"/>
              </a:lnSpc>
              <a:spcBef>
                <a:spcPts val="800"/>
              </a:spcBef>
            </a:pPr>
            <a:r>
              <a:rPr lang="en-US" sz="1200" b="1" i="0" u="none" strike="noStrike">
                <a:solidFill>
                  <a:srgbClr val="4B5563"/>
                </a:solidFill>
                <a:latin typeface="+mn-ea"/>
                <a:ea typeface="+mn-ea"/>
                <a:cs typeface="Noto Sans SC"/>
                <a:sym typeface="Noto Sans SC"/>
              </a:rPr>
              <a:t>功能：</a:t>
            </a:r>
            <a:r>
              <a:rPr lang="en-US" sz="1200" b="0" i="0" u="none" strike="noStrike">
                <a:solidFill>
                  <a:srgbClr val="4B5563"/>
                </a:solidFill>
                <a:latin typeface="+mn-ea"/>
                <a:ea typeface="+mn-ea"/>
                <a:cs typeface="Noto Sans SC"/>
                <a:sym typeface="Noto Sans SC"/>
              </a:rPr>
              <a:t>自动生成标准化成绩模板；支持多维度批量导入成绩数据；一键触发算法，自动完成课程级与专业级达成度计算。</a:t>
            </a:r>
          </a:p>
          <a:p>
            <a:pPr indent="0" algn="l">
              <a:lnSpc>
                <a:spcPct val="116666"/>
              </a:lnSpc>
              <a:spcBef>
                <a:spcPts val="600"/>
              </a:spcBef>
            </a:pPr>
            <a:r>
              <a:rPr lang="en-US" sz="1200" b="1" i="0" u="none" strike="noStrike">
                <a:solidFill>
                  <a:srgbClr val="6B7280"/>
                </a:solidFill>
                <a:latin typeface="+mn-ea"/>
                <a:ea typeface="+mn-ea"/>
                <a:cs typeface="Noto Sans SC"/>
                <a:sym typeface="Noto Sans SC"/>
              </a:rPr>
              <a:t>面向角色：</a:t>
            </a:r>
            <a:r>
              <a:rPr lang="en-US" sz="1200" b="0" i="0" u="none" strike="noStrike">
                <a:solidFill>
                  <a:srgbClr val="6B7280"/>
                </a:solidFill>
                <a:latin typeface="+mn-ea"/>
                <a:ea typeface="+mn-ea"/>
                <a:cs typeface="Noto Sans SC"/>
                <a:sym typeface="Noto Sans SC"/>
              </a:rPr>
              <a:t>课程授课教师、教务管理员</a:t>
            </a:r>
          </a:p>
        </p:txBody>
      </p:sp>
      <p:sp>
        <p:nvSpPr>
          <p:cNvPr id="21" name="AutoShape 17">
            <a:extLst>
              <a:ext uri="{FF2B5EF4-FFF2-40B4-BE49-F238E27FC236}">
                <a16:creationId xmlns:a16="http://schemas.microsoft.com/office/drawing/2014/main" id="{4F5E0A29-EF5C-4D68-B35D-52D25BAA38A6}"/>
              </a:ext>
            </a:extLst>
          </p:cNvPr>
          <p:cNvSpPr/>
          <p:nvPr/>
        </p:nvSpPr>
        <p:spPr>
          <a:xfrm>
            <a:off x="6223000" y="4572000"/>
            <a:ext cx="5207000" cy="1968500"/>
          </a:xfrm>
          <a:prstGeom prst="roundRect">
            <a:avLst>
              <a:gd name="adj" fmla="val 774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23" name="AutoShape 18">
            <a:extLst>
              <a:ext uri="{FF2B5EF4-FFF2-40B4-BE49-F238E27FC236}">
                <a16:creationId xmlns:a16="http://schemas.microsoft.com/office/drawing/2014/main" id="{240B876B-D57A-4EDA-AECF-4322A28281F8}"/>
              </a:ext>
            </a:extLst>
          </p:cNvPr>
          <p:cNvSpPr/>
          <p:nvPr/>
        </p:nvSpPr>
        <p:spPr>
          <a:xfrm>
            <a:off x="6223000" y="4572000"/>
            <a:ext cx="76200" cy="1968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4" name="Picture 19">
            <a:extLst>
              <a:ext uri="{FF2B5EF4-FFF2-40B4-BE49-F238E27FC236}">
                <a16:creationId xmlns:a16="http://schemas.microsoft.com/office/drawing/2014/main" id="{8B699781-08CE-4693-8F49-580545D3B89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4826000"/>
            <a:ext cx="406400" cy="406400"/>
          </a:xfrm>
          <a:prstGeom prst="rect">
            <a:avLst/>
          </a:prstGeom>
        </p:spPr>
      </p:pic>
      <p:sp>
        <p:nvSpPr>
          <p:cNvPr id="25" name="AutoShape 20">
            <a:extLst>
              <a:ext uri="{FF2B5EF4-FFF2-40B4-BE49-F238E27FC236}">
                <a16:creationId xmlns:a16="http://schemas.microsoft.com/office/drawing/2014/main" id="{92427552-2EFB-41E8-A54D-F98D717CE3D4}"/>
              </a:ext>
            </a:extLst>
          </p:cNvPr>
          <p:cNvSpPr/>
          <p:nvPr/>
        </p:nvSpPr>
        <p:spPr>
          <a:xfrm>
            <a:off x="7175500" y="4800600"/>
            <a:ext cx="3937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mn-ea"/>
                <a:ea typeface="+mn-ea"/>
                <a:cs typeface="Noto Sans SC"/>
                <a:sym typeface="Noto Sans SC"/>
              </a:rPr>
              <a:t>模块D：报表生成与穿透分析</a:t>
            </a:r>
            <a:endParaRPr lang="en-US" sz="1100">
              <a:latin typeface="+mn-ea"/>
              <a:ea typeface="+mn-ea"/>
            </a:endParaRPr>
          </a:p>
          <a:p>
            <a:pPr indent="0" algn="l">
              <a:lnSpc>
                <a:spcPct val="116666"/>
              </a:lnSpc>
              <a:spcBef>
                <a:spcPts val="800"/>
              </a:spcBef>
            </a:pPr>
            <a:r>
              <a:rPr lang="en-US" sz="1200" b="1" i="0" u="none" strike="noStrike">
                <a:solidFill>
                  <a:srgbClr val="4B5563"/>
                </a:solidFill>
                <a:latin typeface="+mn-ea"/>
                <a:ea typeface="+mn-ea"/>
                <a:cs typeface="Noto Sans SC"/>
                <a:sym typeface="Noto Sans SC"/>
              </a:rPr>
              <a:t>功能：</a:t>
            </a:r>
            <a:r>
              <a:rPr lang="en-US" sz="1200" b="0" i="0" u="none" strike="noStrike">
                <a:solidFill>
                  <a:srgbClr val="4B5563"/>
                </a:solidFill>
                <a:latin typeface="+mn-ea"/>
                <a:ea typeface="+mn-ea"/>
                <a:cs typeface="Noto Sans SC"/>
                <a:sym typeface="Noto Sans SC"/>
              </a:rPr>
              <a:t>智能生成课程/专业级达成度分析报告；提供穿透式数据台账，支持多维度下钻查询，辅助教学质量持续改进。</a:t>
            </a:r>
          </a:p>
          <a:p>
            <a:pPr indent="0" algn="l">
              <a:lnSpc>
                <a:spcPct val="116666"/>
              </a:lnSpc>
              <a:spcBef>
                <a:spcPts val="600"/>
              </a:spcBef>
            </a:pPr>
            <a:r>
              <a:rPr lang="en-US" sz="1200" b="1" i="0" u="none" strike="noStrike">
                <a:solidFill>
                  <a:srgbClr val="6B7280"/>
                </a:solidFill>
                <a:latin typeface="+mn-ea"/>
                <a:ea typeface="+mn-ea"/>
                <a:cs typeface="Noto Sans SC"/>
                <a:sym typeface="Noto Sans SC"/>
              </a:rPr>
              <a:t>面向角色：</a:t>
            </a:r>
            <a:r>
              <a:rPr lang="en-US" sz="1200" b="0" i="0" u="none" strike="noStrike">
                <a:solidFill>
                  <a:srgbClr val="6B7280"/>
                </a:solidFill>
                <a:latin typeface="+mn-ea"/>
                <a:ea typeface="+mn-ea"/>
                <a:cs typeface="Noto Sans SC"/>
                <a:sym typeface="Noto Sans SC"/>
              </a:rPr>
              <a:t>专业负责人、教务管理员</a:t>
            </a:r>
          </a:p>
        </p:txBody>
      </p:sp>
      <p:pic>
        <p:nvPicPr>
          <p:cNvPr id="22" name="图片 21" descr="文本&#10;&#10;AI 生成的内容可能不正确。">
            <a:extLst>
              <a:ext uri="{FF2B5EF4-FFF2-40B4-BE49-F238E27FC236}">
                <a16:creationId xmlns:a16="http://schemas.microsoft.com/office/drawing/2014/main" id="{A5E8E2C9-414A-4234-B74D-65C01F62CF8B}"/>
              </a:ext>
            </a:extLst>
          </p:cNvPr>
          <p:cNvPicPr>
            <a:picLocks noChangeAspect="1"/>
          </p:cNvPicPr>
          <p:nvPr/>
        </p:nvPicPr>
        <p:blipFill>
          <a:blip r:embed="rId11"/>
          <a:stretch>
            <a:fillRect/>
          </a:stretch>
        </p:blipFill>
        <p:spPr>
          <a:xfrm>
            <a:off x="9326632" y="0"/>
            <a:ext cx="2865368" cy="541067"/>
          </a:xfrm>
          <a:prstGeom prst="rect">
            <a:avLst/>
          </a:prstGeom>
        </p:spPr>
      </p:pic>
    </p:spTree>
    <p:extLst>
      <p:ext uri="{BB962C8B-B14F-4D97-AF65-F5344CB8AC3E}">
        <p14:creationId xmlns:p14="http://schemas.microsoft.com/office/powerpoint/2010/main" val="998134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D6C8AD51-2C9C-4742-BBBC-C366B1D42A15}"/>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01 用户角色：精细化的权限管理</a:t>
            </a:r>
            <a:endParaRPr lang="en-US" sz="1100">
              <a:latin typeface="+mn-ea"/>
              <a:ea typeface="+mn-ea"/>
            </a:endParaRPr>
          </a:p>
        </p:txBody>
      </p:sp>
      <p:sp>
        <p:nvSpPr>
          <p:cNvPr id="8" name="AutoShape 4">
            <a:extLst>
              <a:ext uri="{FF2B5EF4-FFF2-40B4-BE49-F238E27FC236}">
                <a16:creationId xmlns:a16="http://schemas.microsoft.com/office/drawing/2014/main" id="{A5679D29-A623-4830-8E35-7D4A9DD850BA}"/>
              </a:ext>
            </a:extLst>
          </p:cNvPr>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mn-ea"/>
                <a:ea typeface="+mn-ea"/>
                <a:cs typeface="Noto Sans SC"/>
                <a:sym typeface="Noto Sans SC"/>
              </a:rPr>
              <a:t>系统基于RBAC（基于角色的访问控制）模型，为不同用户角色分配了清晰的权限范围和操作界面，确保数据安全与流程规范，实现高效协同。</a:t>
            </a:r>
            <a:endParaRPr lang="en-US" sz="1100">
              <a:latin typeface="+mn-ea"/>
              <a:ea typeface="+mn-ea"/>
            </a:endParaRPr>
          </a:p>
        </p:txBody>
      </p:sp>
      <p:sp>
        <p:nvSpPr>
          <p:cNvPr id="9" name="AutoShape 5">
            <a:extLst>
              <a:ext uri="{FF2B5EF4-FFF2-40B4-BE49-F238E27FC236}">
                <a16:creationId xmlns:a16="http://schemas.microsoft.com/office/drawing/2014/main" id="{C2F70FE5-5D33-45B7-BF27-F0FBDF868576}"/>
              </a:ext>
            </a:extLst>
          </p:cNvPr>
          <p:cNvSpPr/>
          <p:nvPr/>
        </p:nvSpPr>
        <p:spPr>
          <a:xfrm>
            <a:off x="762000" y="2540000"/>
            <a:ext cx="5207000" cy="1905000"/>
          </a:xfrm>
          <a:prstGeom prst="roundRect">
            <a:avLst>
              <a:gd name="adj" fmla="val 5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0" name="AutoShape 6">
            <a:extLst>
              <a:ext uri="{FF2B5EF4-FFF2-40B4-BE49-F238E27FC236}">
                <a16:creationId xmlns:a16="http://schemas.microsoft.com/office/drawing/2014/main" id="{4787C8CF-FFCD-488C-A2DB-5724E4DF13D1}"/>
              </a:ext>
            </a:extLst>
          </p:cNvPr>
          <p:cNvSpPr/>
          <p:nvPr/>
        </p:nvSpPr>
        <p:spPr>
          <a:xfrm>
            <a:off x="762000" y="2540000"/>
            <a:ext cx="762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1" name="Picture 7">
            <a:extLst>
              <a:ext uri="{FF2B5EF4-FFF2-40B4-BE49-F238E27FC236}">
                <a16:creationId xmlns:a16="http://schemas.microsoft.com/office/drawing/2014/main" id="{1BCF18C2-E7C4-4441-ADF0-75790CB60D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400" y="2794000"/>
            <a:ext cx="355600" cy="355600"/>
          </a:xfrm>
          <a:prstGeom prst="rect">
            <a:avLst/>
          </a:prstGeom>
        </p:spPr>
      </p:pic>
      <p:sp>
        <p:nvSpPr>
          <p:cNvPr id="12" name="AutoShape 8">
            <a:extLst>
              <a:ext uri="{FF2B5EF4-FFF2-40B4-BE49-F238E27FC236}">
                <a16:creationId xmlns:a16="http://schemas.microsoft.com/office/drawing/2014/main" id="{3021253F-3DC8-487E-A922-66139B6AA4DE}"/>
              </a:ext>
            </a:extLst>
          </p:cNvPr>
          <p:cNvSpPr/>
          <p:nvPr/>
        </p:nvSpPr>
        <p:spPr>
          <a:xfrm>
            <a:off x="1587500" y="27305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mn-ea"/>
                <a:ea typeface="+mn-ea"/>
                <a:cs typeface="Noto Sans SC"/>
                <a:sym typeface="Noto Sans SC"/>
              </a:rPr>
              <a:t>系统管理员</a:t>
            </a:r>
            <a:r>
              <a:rPr lang="en-US" sz="1200" b="0" i="0" u="none" strike="noStrike">
                <a:solidFill>
                  <a:srgbClr val="FFFFFF"/>
                </a:solidFill>
                <a:highlight>
                  <a:srgbClr val="2DD4BF">
                    <a:alpha val="100000"/>
                  </a:srgbClr>
                </a:highlight>
                <a:latin typeface="+mn-ea"/>
                <a:ea typeface="+mn-ea"/>
                <a:cs typeface="Noto Sans SC"/>
                <a:sym typeface="Noto Sans SC"/>
              </a:rPr>
              <a:t>权限范围：全局</a:t>
            </a:r>
            <a:endParaRPr lang="en-US" sz="1100">
              <a:latin typeface="+mn-ea"/>
              <a:ea typeface="+mn-ea"/>
            </a:endParaRPr>
          </a:p>
          <a:p>
            <a:pPr indent="0" algn="l">
              <a:lnSpc>
                <a:spcPct val="108333"/>
              </a:lnSpc>
              <a:spcBef>
                <a:spcPts val="1000"/>
              </a:spcBef>
            </a:pPr>
            <a:r>
              <a:rPr lang="en-US" sz="1300" b="0" i="0" u="none" strike="noStrike">
                <a:solidFill>
                  <a:srgbClr val="4B5563"/>
                </a:solidFill>
                <a:latin typeface="+mn-ea"/>
                <a:ea typeface="+mn-ea"/>
                <a:cs typeface="Noto Sans SC"/>
                <a:sym typeface="Noto Sans SC"/>
              </a:rPr>
              <a:t>负责平台整体的用户与角色管理、系统关键参数配置以及基础数据字典维护，保障系统底层逻辑正常运行。</a:t>
            </a:r>
          </a:p>
        </p:txBody>
      </p:sp>
      <p:sp>
        <p:nvSpPr>
          <p:cNvPr id="13" name="AutoShape 9">
            <a:extLst>
              <a:ext uri="{FF2B5EF4-FFF2-40B4-BE49-F238E27FC236}">
                <a16:creationId xmlns:a16="http://schemas.microsoft.com/office/drawing/2014/main" id="{66BDAFC7-FDCA-4FE0-A49C-55026D0D5A96}"/>
              </a:ext>
            </a:extLst>
          </p:cNvPr>
          <p:cNvSpPr/>
          <p:nvPr/>
        </p:nvSpPr>
        <p:spPr>
          <a:xfrm>
            <a:off x="6223000" y="2540000"/>
            <a:ext cx="5207000" cy="1905000"/>
          </a:xfrm>
          <a:prstGeom prst="roundRect">
            <a:avLst>
              <a:gd name="adj" fmla="val 5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4" name="AutoShape 10">
            <a:extLst>
              <a:ext uri="{FF2B5EF4-FFF2-40B4-BE49-F238E27FC236}">
                <a16:creationId xmlns:a16="http://schemas.microsoft.com/office/drawing/2014/main" id="{4A4D86B4-296F-4366-8889-423E3F80ABA0}"/>
              </a:ext>
            </a:extLst>
          </p:cNvPr>
          <p:cNvSpPr/>
          <p:nvPr/>
        </p:nvSpPr>
        <p:spPr>
          <a:xfrm>
            <a:off x="6223000" y="2540000"/>
            <a:ext cx="762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5" name="Picture 11">
            <a:extLst>
              <a:ext uri="{FF2B5EF4-FFF2-40B4-BE49-F238E27FC236}">
                <a16:creationId xmlns:a16="http://schemas.microsoft.com/office/drawing/2014/main" id="{B4DCDB15-59E5-4DFE-8E83-D8139A4D4E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02400" y="2794000"/>
            <a:ext cx="355600" cy="355600"/>
          </a:xfrm>
          <a:prstGeom prst="rect">
            <a:avLst/>
          </a:prstGeom>
        </p:spPr>
      </p:pic>
      <p:sp>
        <p:nvSpPr>
          <p:cNvPr id="16" name="AutoShape 12">
            <a:extLst>
              <a:ext uri="{FF2B5EF4-FFF2-40B4-BE49-F238E27FC236}">
                <a16:creationId xmlns:a16="http://schemas.microsoft.com/office/drawing/2014/main" id="{87E982D3-00C2-45F0-B35E-8E26ABC4F13A}"/>
              </a:ext>
            </a:extLst>
          </p:cNvPr>
          <p:cNvSpPr/>
          <p:nvPr/>
        </p:nvSpPr>
        <p:spPr>
          <a:xfrm>
            <a:off x="7048500" y="27305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mn-ea"/>
                <a:ea typeface="+mn-ea"/>
                <a:cs typeface="Noto Sans SC"/>
                <a:sym typeface="Noto Sans SC"/>
              </a:rPr>
              <a:t>教务管理员</a:t>
            </a:r>
            <a:r>
              <a:rPr lang="en-US" sz="1200" b="0" i="0" u="none" strike="noStrike">
                <a:solidFill>
                  <a:srgbClr val="FFFFFF"/>
                </a:solidFill>
                <a:highlight>
                  <a:srgbClr val="2DD4BF">
                    <a:alpha val="100000"/>
                  </a:srgbClr>
                </a:highlight>
                <a:latin typeface="+mn-ea"/>
                <a:ea typeface="+mn-ea"/>
                <a:cs typeface="Noto Sans SC"/>
                <a:sym typeface="Noto Sans SC"/>
              </a:rPr>
              <a:t>权限范围：专业/学年</a:t>
            </a:r>
            <a:endParaRPr lang="en-US" sz="1100">
              <a:latin typeface="+mn-ea"/>
              <a:ea typeface="+mn-ea"/>
            </a:endParaRPr>
          </a:p>
          <a:p>
            <a:pPr indent="0" algn="l">
              <a:lnSpc>
                <a:spcPct val="108333"/>
              </a:lnSpc>
              <a:spcBef>
                <a:spcPts val="1000"/>
              </a:spcBef>
            </a:pPr>
            <a:r>
              <a:rPr lang="en-US" sz="1300" b="0" i="0" u="none" strike="noStrike">
                <a:solidFill>
                  <a:srgbClr val="4B5563"/>
                </a:solidFill>
                <a:latin typeface="+mn-ea"/>
                <a:ea typeface="+mn-ea"/>
                <a:cs typeface="Noto Sans SC"/>
                <a:sym typeface="Noto Sans SC"/>
              </a:rPr>
              <a:t>执行学生与课程数据的批量导入与维护、触发全院或特定专业的毕业要求达成度全局计算及最终结果的导出管理。</a:t>
            </a:r>
          </a:p>
        </p:txBody>
      </p:sp>
      <p:sp>
        <p:nvSpPr>
          <p:cNvPr id="17" name="AutoShape 13">
            <a:extLst>
              <a:ext uri="{FF2B5EF4-FFF2-40B4-BE49-F238E27FC236}">
                <a16:creationId xmlns:a16="http://schemas.microsoft.com/office/drawing/2014/main" id="{2B6D02D1-0DBF-4580-9F7D-A82DF693C661}"/>
              </a:ext>
            </a:extLst>
          </p:cNvPr>
          <p:cNvSpPr/>
          <p:nvPr/>
        </p:nvSpPr>
        <p:spPr>
          <a:xfrm>
            <a:off x="762000" y="4699000"/>
            <a:ext cx="5207000" cy="1905000"/>
          </a:xfrm>
          <a:prstGeom prst="roundRect">
            <a:avLst>
              <a:gd name="adj" fmla="val 5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8" name="AutoShape 14">
            <a:extLst>
              <a:ext uri="{FF2B5EF4-FFF2-40B4-BE49-F238E27FC236}">
                <a16:creationId xmlns:a16="http://schemas.microsoft.com/office/drawing/2014/main" id="{2894F505-3D74-4D59-B06F-D891C2D61A9D}"/>
              </a:ext>
            </a:extLst>
          </p:cNvPr>
          <p:cNvSpPr/>
          <p:nvPr/>
        </p:nvSpPr>
        <p:spPr>
          <a:xfrm>
            <a:off x="762000" y="4699000"/>
            <a:ext cx="762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9" name="Picture 15">
            <a:extLst>
              <a:ext uri="{FF2B5EF4-FFF2-40B4-BE49-F238E27FC236}">
                <a16:creationId xmlns:a16="http://schemas.microsoft.com/office/drawing/2014/main" id="{4B83828A-26DC-4443-85B0-931A6323A0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400" y="4953000"/>
            <a:ext cx="355600" cy="355600"/>
          </a:xfrm>
          <a:prstGeom prst="rect">
            <a:avLst/>
          </a:prstGeom>
        </p:spPr>
      </p:pic>
      <p:sp>
        <p:nvSpPr>
          <p:cNvPr id="20" name="AutoShape 16">
            <a:extLst>
              <a:ext uri="{FF2B5EF4-FFF2-40B4-BE49-F238E27FC236}">
                <a16:creationId xmlns:a16="http://schemas.microsoft.com/office/drawing/2014/main" id="{37914CF7-58D4-4F02-87BA-74E49994FB98}"/>
              </a:ext>
            </a:extLst>
          </p:cNvPr>
          <p:cNvSpPr/>
          <p:nvPr/>
        </p:nvSpPr>
        <p:spPr>
          <a:xfrm>
            <a:off x="1587500" y="48895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mn-ea"/>
                <a:ea typeface="+mn-ea"/>
                <a:cs typeface="Noto Sans SC"/>
                <a:sym typeface="Noto Sans SC"/>
              </a:rPr>
              <a:t>专业负责人</a:t>
            </a:r>
            <a:r>
              <a:rPr lang="en-US" sz="1200" b="0" i="0" u="none" strike="noStrike">
                <a:solidFill>
                  <a:srgbClr val="FFFFFF"/>
                </a:solidFill>
                <a:highlight>
                  <a:srgbClr val="2DD4BF">
                    <a:alpha val="100000"/>
                  </a:srgbClr>
                </a:highlight>
                <a:latin typeface="+mn-ea"/>
                <a:ea typeface="+mn-ea"/>
                <a:cs typeface="Noto Sans SC"/>
                <a:sym typeface="Noto Sans SC"/>
              </a:rPr>
              <a:t>权限范围：所属专业</a:t>
            </a:r>
            <a:endParaRPr lang="en-US" sz="1100">
              <a:latin typeface="+mn-ea"/>
              <a:ea typeface="+mn-ea"/>
            </a:endParaRPr>
          </a:p>
          <a:p>
            <a:pPr indent="0" algn="l">
              <a:lnSpc>
                <a:spcPct val="108333"/>
              </a:lnSpc>
              <a:spcBef>
                <a:spcPts val="1000"/>
              </a:spcBef>
            </a:pPr>
            <a:r>
              <a:rPr lang="en-US" sz="1300" b="0" i="0" u="none" strike="noStrike">
                <a:solidFill>
                  <a:srgbClr val="4B5563"/>
                </a:solidFill>
                <a:latin typeface="+mn-ea"/>
                <a:ea typeface="+mn-ea"/>
                <a:cs typeface="Noto Sans SC"/>
                <a:sym typeface="Noto Sans SC"/>
              </a:rPr>
              <a:t>定义专业毕业要求体系、配置课程与毕业要求的宏观支撑矩阵及权重，并校验与深度分析专业级达成度报告。</a:t>
            </a:r>
          </a:p>
        </p:txBody>
      </p:sp>
      <p:sp>
        <p:nvSpPr>
          <p:cNvPr id="21" name="AutoShape 17">
            <a:extLst>
              <a:ext uri="{FF2B5EF4-FFF2-40B4-BE49-F238E27FC236}">
                <a16:creationId xmlns:a16="http://schemas.microsoft.com/office/drawing/2014/main" id="{B8E260E3-E958-46FE-B71E-7028CF106D2E}"/>
              </a:ext>
            </a:extLst>
          </p:cNvPr>
          <p:cNvSpPr/>
          <p:nvPr/>
        </p:nvSpPr>
        <p:spPr>
          <a:xfrm>
            <a:off x="6223000" y="4699000"/>
            <a:ext cx="5207000" cy="1905000"/>
          </a:xfrm>
          <a:prstGeom prst="roundRect">
            <a:avLst>
              <a:gd name="adj" fmla="val 5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23" name="AutoShape 18">
            <a:extLst>
              <a:ext uri="{FF2B5EF4-FFF2-40B4-BE49-F238E27FC236}">
                <a16:creationId xmlns:a16="http://schemas.microsoft.com/office/drawing/2014/main" id="{7DD0600D-35B4-48FB-AE36-5372980973F5}"/>
              </a:ext>
            </a:extLst>
          </p:cNvPr>
          <p:cNvSpPr/>
          <p:nvPr/>
        </p:nvSpPr>
        <p:spPr>
          <a:xfrm>
            <a:off x="6223000" y="4699000"/>
            <a:ext cx="762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4" name="Picture 19">
            <a:extLst>
              <a:ext uri="{FF2B5EF4-FFF2-40B4-BE49-F238E27FC236}">
                <a16:creationId xmlns:a16="http://schemas.microsoft.com/office/drawing/2014/main" id="{3263C348-8CB3-4323-9C51-42B75DB9E34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02400" y="4953000"/>
            <a:ext cx="355600" cy="355600"/>
          </a:xfrm>
          <a:prstGeom prst="rect">
            <a:avLst/>
          </a:prstGeom>
        </p:spPr>
      </p:pic>
      <p:sp>
        <p:nvSpPr>
          <p:cNvPr id="25" name="AutoShape 20">
            <a:extLst>
              <a:ext uri="{FF2B5EF4-FFF2-40B4-BE49-F238E27FC236}">
                <a16:creationId xmlns:a16="http://schemas.microsoft.com/office/drawing/2014/main" id="{EEAA3A2D-AAFC-41B4-A0EC-AAC0F1215B5C}"/>
              </a:ext>
            </a:extLst>
          </p:cNvPr>
          <p:cNvSpPr/>
          <p:nvPr/>
        </p:nvSpPr>
        <p:spPr>
          <a:xfrm>
            <a:off x="7048500" y="48895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11827"/>
                </a:solidFill>
                <a:latin typeface="+mn-ea"/>
                <a:ea typeface="+mn-ea"/>
                <a:cs typeface="Noto Sans SC"/>
                <a:sym typeface="Noto Sans SC"/>
              </a:rPr>
              <a:t>课程教师</a:t>
            </a:r>
            <a:r>
              <a:rPr lang="en-US" sz="1200" b="0" i="0" u="none" strike="noStrike">
                <a:solidFill>
                  <a:srgbClr val="FFFFFF"/>
                </a:solidFill>
                <a:highlight>
                  <a:srgbClr val="2DD4BF">
                    <a:alpha val="100000"/>
                  </a:srgbClr>
                </a:highlight>
                <a:latin typeface="+mn-ea"/>
                <a:ea typeface="+mn-ea"/>
                <a:cs typeface="Noto Sans SC"/>
                <a:sym typeface="Noto Sans SC"/>
              </a:rPr>
              <a:t>权限范围：所授课程/班级</a:t>
            </a:r>
            <a:endParaRPr lang="en-US" sz="1100">
              <a:latin typeface="+mn-ea"/>
              <a:ea typeface="+mn-ea"/>
            </a:endParaRPr>
          </a:p>
          <a:p>
            <a:pPr indent="0" algn="l">
              <a:lnSpc>
                <a:spcPct val="108333"/>
              </a:lnSpc>
              <a:spcBef>
                <a:spcPts val="1000"/>
              </a:spcBef>
            </a:pPr>
            <a:r>
              <a:rPr lang="en-US" sz="1300" b="0" i="0" u="none" strike="noStrike">
                <a:solidFill>
                  <a:srgbClr val="4B5563"/>
                </a:solidFill>
                <a:latin typeface="+mn-ea"/>
                <a:ea typeface="+mn-ea"/>
                <a:cs typeface="Noto Sans SC"/>
                <a:sym typeface="Noto Sans SC"/>
              </a:rPr>
              <a:t>设定单门课程的大纲与考核点、导入所授班级的学生成绩、触发该课程的达成度计算并查看分析课程级报告。</a:t>
            </a:r>
          </a:p>
        </p:txBody>
      </p:sp>
      <p:pic>
        <p:nvPicPr>
          <p:cNvPr id="22" name="图片 21" descr="文本&#10;&#10;AI 生成的内容可能不正确。">
            <a:extLst>
              <a:ext uri="{FF2B5EF4-FFF2-40B4-BE49-F238E27FC236}">
                <a16:creationId xmlns:a16="http://schemas.microsoft.com/office/drawing/2014/main" id="{44B8E121-CB5A-4456-88C4-75BD3A35F730}"/>
              </a:ext>
            </a:extLst>
          </p:cNvPr>
          <p:cNvPicPr>
            <a:picLocks noChangeAspect="1"/>
          </p:cNvPicPr>
          <p:nvPr/>
        </p:nvPicPr>
        <p:blipFill>
          <a:blip r:embed="rId11"/>
          <a:stretch>
            <a:fillRect/>
          </a:stretch>
        </p:blipFill>
        <p:spPr>
          <a:xfrm>
            <a:off x="9326632" y="0"/>
            <a:ext cx="2865368" cy="541067"/>
          </a:xfrm>
          <a:prstGeom prst="rect">
            <a:avLst/>
          </a:prstGeom>
        </p:spPr>
      </p:pic>
    </p:spTree>
    <p:extLst>
      <p:ext uri="{BB962C8B-B14F-4D97-AF65-F5344CB8AC3E}">
        <p14:creationId xmlns:p14="http://schemas.microsoft.com/office/powerpoint/2010/main" val="2512635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2702442" y="2160770"/>
            <a:ext cx="6787116" cy="2198577"/>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5" name="AutoShape 5"/>
          <p:cNvSpPr/>
          <p:nvPr/>
        </p:nvSpPr>
        <p:spPr>
          <a:xfrm>
            <a:off x="3171016" y="2771551"/>
            <a:ext cx="1472019"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a:solidFill>
                  <a:srgbClr val="2DD4BF"/>
                </a:solidFill>
                <a:latin typeface="+mn-ea"/>
                <a:ea typeface="+mn-ea"/>
                <a:cs typeface="Noto Sans SC"/>
                <a:sym typeface="Noto Sans SC"/>
              </a:rPr>
              <a:t>02</a:t>
            </a:r>
            <a:endParaRPr lang="en-US" sz="2400">
              <a:latin typeface="+mn-ea"/>
              <a:ea typeface="+mn-ea"/>
            </a:endParaRPr>
          </a:p>
        </p:txBody>
      </p:sp>
      <p:sp>
        <p:nvSpPr>
          <p:cNvPr id="22" name="AutoShape 9">
            <a:extLst>
              <a:ext uri="{FF2B5EF4-FFF2-40B4-BE49-F238E27FC236}">
                <a16:creationId xmlns:a16="http://schemas.microsoft.com/office/drawing/2014/main" id="{1813EBCE-F925-4982-B8E4-B645FD720047}"/>
              </a:ext>
            </a:extLst>
          </p:cNvPr>
          <p:cNvSpPr/>
          <p:nvPr/>
        </p:nvSpPr>
        <p:spPr>
          <a:xfrm>
            <a:off x="5111609" y="2752058"/>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3200" b="1">
                <a:solidFill>
                  <a:srgbClr val="374151"/>
                </a:solidFill>
                <a:latin typeface="+mn-ea"/>
                <a:ea typeface="+mn-ea"/>
                <a:cs typeface="Noto Sans SC"/>
                <a:sym typeface="Noto Sans SC"/>
              </a:rPr>
              <a:t>技术架构与实现</a:t>
            </a:r>
          </a:p>
        </p:txBody>
      </p:sp>
      <p:pic>
        <p:nvPicPr>
          <p:cNvPr id="6" name="图片 5" descr="文本&#10;&#10;AI 生成的内容可能不正确。">
            <a:extLst>
              <a:ext uri="{FF2B5EF4-FFF2-40B4-BE49-F238E27FC236}">
                <a16:creationId xmlns:a16="http://schemas.microsoft.com/office/drawing/2014/main" id="{3CB29CF0-F31C-40DF-9C3C-3760DD6EB50D}"/>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1394205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B55F695B-B5EF-4A0C-AD99-202E9D8A3C0A}"/>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02 技术架构：整体架构设计</a:t>
            </a:r>
            <a:endParaRPr lang="en-US" sz="1100">
              <a:latin typeface="+mn-ea"/>
              <a:ea typeface="+mn-ea"/>
            </a:endParaRPr>
          </a:p>
        </p:txBody>
      </p:sp>
      <p:sp>
        <p:nvSpPr>
          <p:cNvPr id="8" name="AutoShape 4">
            <a:extLst>
              <a:ext uri="{FF2B5EF4-FFF2-40B4-BE49-F238E27FC236}">
                <a16:creationId xmlns:a16="http://schemas.microsoft.com/office/drawing/2014/main" id="{39DE43FF-C532-427D-9BA9-A487794AA544}"/>
              </a:ext>
            </a:extLst>
          </p:cNvPr>
          <p:cNvSpPr/>
          <p:nvPr/>
        </p:nvSpPr>
        <p:spPr>
          <a:xfrm>
            <a:off x="762000" y="133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mn-ea"/>
                <a:ea typeface="+mn-ea"/>
                <a:cs typeface="Noto Sans SC"/>
                <a:sym typeface="Noto Sans SC"/>
              </a:rPr>
              <a:t>系统采用前后端分离的现代化架构，确保了系统的高内聚、低耦合和易于维护，为业务发展提供坚实的技术底座。</a:t>
            </a:r>
            <a:endParaRPr lang="en-US" sz="1100">
              <a:latin typeface="+mn-ea"/>
              <a:ea typeface="+mn-ea"/>
            </a:endParaRPr>
          </a:p>
        </p:txBody>
      </p:sp>
      <p:sp>
        <p:nvSpPr>
          <p:cNvPr id="9" name="AutoShape 5">
            <a:extLst>
              <a:ext uri="{FF2B5EF4-FFF2-40B4-BE49-F238E27FC236}">
                <a16:creationId xmlns:a16="http://schemas.microsoft.com/office/drawing/2014/main" id="{2001DEA8-9021-4C25-AA5E-4CA375AC3224}"/>
              </a:ext>
            </a:extLst>
          </p:cNvPr>
          <p:cNvSpPr/>
          <p:nvPr/>
        </p:nvSpPr>
        <p:spPr>
          <a:xfrm>
            <a:off x="762000" y="2032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0" name="AutoShape 6">
            <a:extLst>
              <a:ext uri="{FF2B5EF4-FFF2-40B4-BE49-F238E27FC236}">
                <a16:creationId xmlns:a16="http://schemas.microsoft.com/office/drawing/2014/main" id="{744D7922-111F-44E0-A723-3A26C4DD322C}"/>
              </a:ext>
            </a:extLst>
          </p:cNvPr>
          <p:cNvSpPr/>
          <p:nvPr/>
        </p:nvSpPr>
        <p:spPr>
          <a:xfrm>
            <a:off x="762000" y="2032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1" name="Picture 7">
            <a:extLst>
              <a:ext uri="{FF2B5EF4-FFF2-40B4-BE49-F238E27FC236}">
                <a16:creationId xmlns:a16="http://schemas.microsoft.com/office/drawing/2014/main" id="{57E0C3E2-D8C3-437C-BD5A-72DE8120AF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13000"/>
            <a:ext cx="508000" cy="508000"/>
          </a:xfrm>
          <a:prstGeom prst="rect">
            <a:avLst/>
          </a:prstGeom>
        </p:spPr>
      </p:pic>
      <p:sp>
        <p:nvSpPr>
          <p:cNvPr id="12" name="AutoShape 8">
            <a:extLst>
              <a:ext uri="{FF2B5EF4-FFF2-40B4-BE49-F238E27FC236}">
                <a16:creationId xmlns:a16="http://schemas.microsoft.com/office/drawing/2014/main" id="{947EA492-F31F-4852-89EF-4664A8380600}"/>
              </a:ext>
            </a:extLst>
          </p:cNvPr>
          <p:cNvSpPr/>
          <p:nvPr/>
        </p:nvSpPr>
        <p:spPr>
          <a:xfrm>
            <a:off x="1778000" y="2349500"/>
            <a:ext cx="3937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mn-ea"/>
                <a:ea typeface="+mn-ea"/>
                <a:cs typeface="Noto Sans SC"/>
                <a:sym typeface="Noto Sans SC"/>
              </a:rPr>
              <a:t>前端 Frontend</a:t>
            </a:r>
            <a:endParaRPr lang="en-US" sz="1100">
              <a:latin typeface="+mn-ea"/>
              <a:ea typeface="+mn-ea"/>
            </a:endParaRPr>
          </a:p>
          <a:p>
            <a:pPr indent="0" algn="l">
              <a:lnSpc>
                <a:spcPct val="108333"/>
              </a:lnSpc>
              <a:spcBef>
                <a:spcPts val="800"/>
              </a:spcBef>
            </a:pPr>
            <a:r>
              <a:rPr lang="en-US" sz="1300" b="1" i="0" u="none" strike="noStrike">
                <a:solidFill>
                  <a:srgbClr val="6B7280"/>
                </a:solidFill>
                <a:latin typeface="+mn-ea"/>
                <a:ea typeface="+mn-ea"/>
                <a:cs typeface="Noto Sans SC"/>
                <a:sym typeface="Noto Sans SC"/>
              </a:rPr>
              <a:t>技术栈：</a:t>
            </a:r>
            <a:r>
              <a:rPr lang="en-US" sz="1300" b="0" i="0" u="none" strike="noStrike">
                <a:solidFill>
                  <a:srgbClr val="6B7280"/>
                </a:solidFill>
                <a:latin typeface="+mn-ea"/>
                <a:ea typeface="+mn-ea"/>
                <a:cs typeface="Noto Sans SC"/>
                <a:sym typeface="Noto Sans SC"/>
              </a:rPr>
              <a:t>Vue 3 + Element Plus 组件库</a:t>
            </a:r>
          </a:p>
          <a:p>
            <a:pPr indent="0" algn="l">
              <a:lnSpc>
                <a:spcPct val="108333"/>
              </a:lnSpc>
            </a:pPr>
            <a:r>
              <a:rPr lang="en-US" sz="1300" b="1" i="0" u="none" strike="noStrike">
                <a:solidFill>
                  <a:srgbClr val="6B7280"/>
                </a:solidFill>
                <a:latin typeface="+mn-ea"/>
                <a:ea typeface="+mn-ea"/>
                <a:cs typeface="Noto Sans SC"/>
                <a:sym typeface="Noto Sans SC"/>
              </a:rPr>
              <a:t>特点：</a:t>
            </a:r>
            <a:r>
              <a:rPr lang="en-US" sz="1300" b="0" i="0" u="none" strike="noStrike">
                <a:solidFill>
                  <a:srgbClr val="6B7280"/>
                </a:solidFill>
                <a:latin typeface="+mn-ea"/>
                <a:ea typeface="+mn-ea"/>
                <a:cs typeface="Noto Sans SC"/>
                <a:sym typeface="Noto Sans SC"/>
              </a:rPr>
              <a:t>构建流畅、响应迅速的用户界面，提供现代化的专业交互体验。</a:t>
            </a:r>
          </a:p>
        </p:txBody>
      </p:sp>
      <p:sp>
        <p:nvSpPr>
          <p:cNvPr id="13" name="AutoShape 9">
            <a:extLst>
              <a:ext uri="{FF2B5EF4-FFF2-40B4-BE49-F238E27FC236}">
                <a16:creationId xmlns:a16="http://schemas.microsoft.com/office/drawing/2014/main" id="{79C3E627-658D-4FD3-851E-C7DD5DD4D9BE}"/>
              </a:ext>
            </a:extLst>
          </p:cNvPr>
          <p:cNvSpPr/>
          <p:nvPr/>
        </p:nvSpPr>
        <p:spPr>
          <a:xfrm>
            <a:off x="6223000" y="2032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4" name="AutoShape 10">
            <a:extLst>
              <a:ext uri="{FF2B5EF4-FFF2-40B4-BE49-F238E27FC236}">
                <a16:creationId xmlns:a16="http://schemas.microsoft.com/office/drawing/2014/main" id="{2757BD98-3354-4379-B316-1074EE5586A0}"/>
              </a:ext>
            </a:extLst>
          </p:cNvPr>
          <p:cNvSpPr/>
          <p:nvPr/>
        </p:nvSpPr>
        <p:spPr>
          <a:xfrm>
            <a:off x="6223000" y="2032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5" name="Picture 11">
            <a:extLst>
              <a:ext uri="{FF2B5EF4-FFF2-40B4-BE49-F238E27FC236}">
                <a16:creationId xmlns:a16="http://schemas.microsoft.com/office/drawing/2014/main" id="{6A2523B7-45A4-40D6-8257-44C9C5566E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413000"/>
            <a:ext cx="508000" cy="508000"/>
          </a:xfrm>
          <a:prstGeom prst="rect">
            <a:avLst/>
          </a:prstGeom>
        </p:spPr>
      </p:pic>
      <p:sp>
        <p:nvSpPr>
          <p:cNvPr id="16" name="AutoShape 12">
            <a:extLst>
              <a:ext uri="{FF2B5EF4-FFF2-40B4-BE49-F238E27FC236}">
                <a16:creationId xmlns:a16="http://schemas.microsoft.com/office/drawing/2014/main" id="{9DDA46E8-C6D5-4358-B25B-0FB1EC92D085}"/>
              </a:ext>
            </a:extLst>
          </p:cNvPr>
          <p:cNvSpPr/>
          <p:nvPr/>
        </p:nvSpPr>
        <p:spPr>
          <a:xfrm>
            <a:off x="7239000" y="2349500"/>
            <a:ext cx="3937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mn-ea"/>
                <a:ea typeface="+mn-ea"/>
                <a:cs typeface="Noto Sans SC"/>
                <a:sym typeface="Noto Sans SC"/>
              </a:rPr>
              <a:t>后端 Backend</a:t>
            </a:r>
            <a:endParaRPr lang="en-US" sz="1100">
              <a:latin typeface="+mn-ea"/>
              <a:ea typeface="+mn-ea"/>
            </a:endParaRPr>
          </a:p>
          <a:p>
            <a:pPr indent="0" algn="l">
              <a:lnSpc>
                <a:spcPct val="108333"/>
              </a:lnSpc>
              <a:spcBef>
                <a:spcPts val="800"/>
              </a:spcBef>
            </a:pPr>
            <a:r>
              <a:rPr lang="en-US" sz="1300" b="1" i="0" u="none" strike="noStrike">
                <a:solidFill>
                  <a:srgbClr val="6B7280"/>
                </a:solidFill>
                <a:latin typeface="+mn-ea"/>
                <a:ea typeface="+mn-ea"/>
                <a:cs typeface="Noto Sans SC"/>
                <a:sym typeface="Noto Sans SC"/>
              </a:rPr>
              <a:t>技术栈：</a:t>
            </a:r>
            <a:r>
              <a:rPr lang="en-US" sz="1300" b="0" i="0" u="none" strike="noStrike">
                <a:solidFill>
                  <a:srgbClr val="6B7280"/>
                </a:solidFill>
                <a:latin typeface="+mn-ea"/>
                <a:ea typeface="+mn-ea"/>
                <a:cs typeface="Noto Sans SC"/>
                <a:sym typeface="Noto Sans SC"/>
              </a:rPr>
              <a:t>Spring Boot 框架体系</a:t>
            </a:r>
          </a:p>
          <a:p>
            <a:pPr indent="0" algn="l">
              <a:lnSpc>
                <a:spcPct val="108333"/>
              </a:lnSpc>
            </a:pPr>
            <a:r>
              <a:rPr lang="en-US" sz="1300" b="1" i="0" u="none" strike="noStrike">
                <a:solidFill>
                  <a:srgbClr val="6B7280"/>
                </a:solidFill>
                <a:latin typeface="+mn-ea"/>
                <a:ea typeface="+mn-ea"/>
                <a:cs typeface="Noto Sans SC"/>
                <a:sym typeface="Noto Sans SC"/>
              </a:rPr>
              <a:t>特点：</a:t>
            </a:r>
            <a:r>
              <a:rPr lang="en-US" sz="1300" b="0" i="0" u="none" strike="noStrike">
                <a:solidFill>
                  <a:srgbClr val="6B7280"/>
                </a:solidFill>
                <a:latin typeface="+mn-ea"/>
                <a:ea typeface="+mn-ea"/>
                <a:cs typeface="Noto Sans SC"/>
                <a:sym typeface="Noto Sans SC"/>
              </a:rPr>
              <a:t>提供稳定、高性能的 RESTful API 服务，确保业务逻辑的高内聚与扩展性。</a:t>
            </a:r>
          </a:p>
        </p:txBody>
      </p:sp>
      <p:sp>
        <p:nvSpPr>
          <p:cNvPr id="17" name="AutoShape 13">
            <a:extLst>
              <a:ext uri="{FF2B5EF4-FFF2-40B4-BE49-F238E27FC236}">
                <a16:creationId xmlns:a16="http://schemas.microsoft.com/office/drawing/2014/main" id="{338DA528-DE18-48E9-ACAF-48980CD57B2F}"/>
              </a:ext>
            </a:extLst>
          </p:cNvPr>
          <p:cNvSpPr/>
          <p:nvPr/>
        </p:nvSpPr>
        <p:spPr>
          <a:xfrm>
            <a:off x="762000" y="4318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8" name="AutoShape 14">
            <a:extLst>
              <a:ext uri="{FF2B5EF4-FFF2-40B4-BE49-F238E27FC236}">
                <a16:creationId xmlns:a16="http://schemas.microsoft.com/office/drawing/2014/main" id="{14C9056C-40EA-423A-8119-3430ABF33861}"/>
              </a:ext>
            </a:extLst>
          </p:cNvPr>
          <p:cNvSpPr/>
          <p:nvPr/>
        </p:nvSpPr>
        <p:spPr>
          <a:xfrm>
            <a:off x="762000" y="4318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9" name="Picture 15">
            <a:extLst>
              <a:ext uri="{FF2B5EF4-FFF2-40B4-BE49-F238E27FC236}">
                <a16:creationId xmlns:a16="http://schemas.microsoft.com/office/drawing/2014/main" id="{E3B1A98F-5A4B-4A8E-8079-E79B7CB093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699000"/>
            <a:ext cx="508000" cy="508000"/>
          </a:xfrm>
          <a:prstGeom prst="rect">
            <a:avLst/>
          </a:prstGeom>
        </p:spPr>
      </p:pic>
      <p:sp>
        <p:nvSpPr>
          <p:cNvPr id="20" name="AutoShape 16">
            <a:extLst>
              <a:ext uri="{FF2B5EF4-FFF2-40B4-BE49-F238E27FC236}">
                <a16:creationId xmlns:a16="http://schemas.microsoft.com/office/drawing/2014/main" id="{6C65F408-2392-4490-9EE5-6A25C4E11FD9}"/>
              </a:ext>
            </a:extLst>
          </p:cNvPr>
          <p:cNvSpPr/>
          <p:nvPr/>
        </p:nvSpPr>
        <p:spPr>
          <a:xfrm>
            <a:off x="1778000" y="4635500"/>
            <a:ext cx="3937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mn-ea"/>
                <a:ea typeface="+mn-ea"/>
                <a:cs typeface="Noto Sans SC"/>
                <a:sym typeface="Noto Sans SC"/>
              </a:rPr>
              <a:t>数据库 Database</a:t>
            </a:r>
            <a:endParaRPr lang="en-US" sz="1100">
              <a:latin typeface="+mn-ea"/>
              <a:ea typeface="+mn-ea"/>
            </a:endParaRPr>
          </a:p>
          <a:p>
            <a:pPr indent="0" algn="l">
              <a:lnSpc>
                <a:spcPct val="108333"/>
              </a:lnSpc>
              <a:spcBef>
                <a:spcPts val="800"/>
              </a:spcBef>
            </a:pPr>
            <a:r>
              <a:rPr lang="en-US" sz="1300" b="1" i="0" u="none" strike="noStrike">
                <a:solidFill>
                  <a:srgbClr val="6B7280"/>
                </a:solidFill>
                <a:latin typeface="+mn-ea"/>
                <a:ea typeface="+mn-ea"/>
                <a:cs typeface="Noto Sans SC"/>
                <a:sym typeface="Noto Sans SC"/>
              </a:rPr>
              <a:t>技术栈：</a:t>
            </a:r>
            <a:r>
              <a:rPr lang="en-US" sz="1300" b="0" i="0" u="none" strike="noStrike">
                <a:solidFill>
                  <a:srgbClr val="6B7280"/>
                </a:solidFill>
                <a:latin typeface="+mn-ea"/>
                <a:ea typeface="+mn-ea"/>
                <a:cs typeface="Noto Sans SC"/>
                <a:sym typeface="Noto Sans SC"/>
              </a:rPr>
              <a:t>MySQL 8.0 关系型数据库</a:t>
            </a:r>
          </a:p>
          <a:p>
            <a:pPr indent="0" algn="l">
              <a:lnSpc>
                <a:spcPct val="108333"/>
              </a:lnSpc>
            </a:pPr>
            <a:r>
              <a:rPr lang="en-US" sz="1300" b="1" i="0" u="none" strike="noStrike">
                <a:solidFill>
                  <a:srgbClr val="6B7280"/>
                </a:solidFill>
                <a:latin typeface="+mn-ea"/>
                <a:ea typeface="+mn-ea"/>
                <a:cs typeface="Noto Sans SC"/>
                <a:sym typeface="Noto Sans SC"/>
              </a:rPr>
              <a:t>特点：</a:t>
            </a:r>
            <a:r>
              <a:rPr lang="en-US" sz="1300" b="0" i="0" u="none" strike="noStrike">
                <a:solidFill>
                  <a:srgbClr val="6B7280"/>
                </a:solidFill>
                <a:latin typeface="+mn-ea"/>
                <a:ea typeface="+mn-ea"/>
                <a:cs typeface="Noto Sans SC"/>
                <a:sym typeface="Noto Sans SC"/>
              </a:rPr>
              <a:t>强大的事务支持与对 JSONB 的兼容，在保证数据一致性的同时兼顾存储的灵活性。</a:t>
            </a:r>
          </a:p>
        </p:txBody>
      </p:sp>
      <p:sp>
        <p:nvSpPr>
          <p:cNvPr id="21" name="AutoShape 17">
            <a:extLst>
              <a:ext uri="{FF2B5EF4-FFF2-40B4-BE49-F238E27FC236}">
                <a16:creationId xmlns:a16="http://schemas.microsoft.com/office/drawing/2014/main" id="{AC416309-0717-4DCB-AB8E-BEF84A02FCD0}"/>
              </a:ext>
            </a:extLst>
          </p:cNvPr>
          <p:cNvSpPr/>
          <p:nvPr/>
        </p:nvSpPr>
        <p:spPr>
          <a:xfrm>
            <a:off x="6223000" y="4318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23" name="AutoShape 18">
            <a:extLst>
              <a:ext uri="{FF2B5EF4-FFF2-40B4-BE49-F238E27FC236}">
                <a16:creationId xmlns:a16="http://schemas.microsoft.com/office/drawing/2014/main" id="{CBFE7904-B8EC-4CEC-964D-3A080AC71601}"/>
              </a:ext>
            </a:extLst>
          </p:cNvPr>
          <p:cNvSpPr/>
          <p:nvPr/>
        </p:nvSpPr>
        <p:spPr>
          <a:xfrm>
            <a:off x="6223000" y="4318000"/>
            <a:ext cx="5207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4" name="Picture 19">
            <a:extLst>
              <a:ext uri="{FF2B5EF4-FFF2-40B4-BE49-F238E27FC236}">
                <a16:creationId xmlns:a16="http://schemas.microsoft.com/office/drawing/2014/main" id="{FDF39102-48B4-481C-97B0-D1CBDADCF0B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699000"/>
            <a:ext cx="508000" cy="508000"/>
          </a:xfrm>
          <a:prstGeom prst="rect">
            <a:avLst/>
          </a:prstGeom>
        </p:spPr>
      </p:pic>
      <p:sp>
        <p:nvSpPr>
          <p:cNvPr id="25" name="AutoShape 20">
            <a:extLst>
              <a:ext uri="{FF2B5EF4-FFF2-40B4-BE49-F238E27FC236}">
                <a16:creationId xmlns:a16="http://schemas.microsoft.com/office/drawing/2014/main" id="{4E0A68DD-CBE7-4844-9FCC-6DB89DF8FA07}"/>
              </a:ext>
            </a:extLst>
          </p:cNvPr>
          <p:cNvSpPr/>
          <p:nvPr/>
        </p:nvSpPr>
        <p:spPr>
          <a:xfrm>
            <a:off x="7239000" y="4635500"/>
            <a:ext cx="3937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mn-ea"/>
                <a:ea typeface="+mn-ea"/>
                <a:cs typeface="Noto Sans SC"/>
                <a:sym typeface="Noto Sans SC"/>
              </a:rPr>
              <a:t>核心组件 Core Modules</a:t>
            </a:r>
            <a:endParaRPr lang="en-US" sz="1100">
              <a:latin typeface="+mn-ea"/>
              <a:ea typeface="+mn-ea"/>
            </a:endParaRPr>
          </a:p>
          <a:p>
            <a:pPr indent="0" algn="l">
              <a:lnSpc>
                <a:spcPct val="116666"/>
              </a:lnSpc>
              <a:spcBef>
                <a:spcPts val="800"/>
              </a:spcBef>
            </a:pPr>
            <a:r>
              <a:rPr lang="en-US" sz="1200" b="0" i="0" u="none" strike="noStrike">
                <a:solidFill>
                  <a:srgbClr val="6B7280"/>
                </a:solidFill>
                <a:latin typeface="+mn-ea"/>
                <a:ea typeface="+mn-ea"/>
                <a:cs typeface="Noto Sans SC"/>
                <a:sym typeface="Noto Sans SC"/>
              </a:rPr>
              <a:t>•</a:t>
            </a:r>
            <a:r>
              <a:rPr lang="en-US" sz="1200" b="1" i="0" u="none" strike="noStrike">
                <a:solidFill>
                  <a:srgbClr val="6B7280"/>
                </a:solidFill>
                <a:latin typeface="+mn-ea"/>
                <a:ea typeface="+mn-ea"/>
                <a:cs typeface="Noto Sans SC"/>
                <a:sym typeface="Noto Sans SC"/>
              </a:rPr>
              <a:t>计算引擎：</a:t>
            </a:r>
            <a:r>
              <a:rPr lang="en-US" sz="1200" b="0" i="0" u="none" strike="noStrike">
                <a:solidFill>
                  <a:srgbClr val="6B7280"/>
                </a:solidFill>
                <a:latin typeface="+mn-ea"/>
                <a:ea typeface="+mn-ea"/>
                <a:cs typeface="Noto Sans SC"/>
                <a:sym typeface="Noto Sans SC"/>
              </a:rPr>
              <a:t>封装复杂加权逻辑，独立解耦，易于维护。</a:t>
            </a:r>
            <a:br>
              <a:rPr lang="en-US" sz="1600" b="0" i="0" u="none" strike="noStrike">
                <a:solidFill>
                  <a:srgbClr val="1F2329"/>
                </a:solidFill>
                <a:latin typeface="+mn-ea"/>
                <a:ea typeface="+mn-ea"/>
                <a:cs typeface="Noto Sans SC"/>
                <a:sym typeface="Noto Sans SC"/>
              </a:rPr>
            </a:br>
            <a:r>
              <a:rPr lang="en-US" sz="1200" b="0" i="0" u="none" strike="noStrike">
                <a:solidFill>
                  <a:srgbClr val="6B7280"/>
                </a:solidFill>
                <a:latin typeface="+mn-ea"/>
                <a:ea typeface="+mn-ea"/>
                <a:cs typeface="Noto Sans SC"/>
                <a:sym typeface="Noto Sans SC"/>
              </a:rPr>
              <a:t>•</a:t>
            </a:r>
            <a:r>
              <a:rPr lang="en-US" sz="1200" b="1" i="0" u="none" strike="noStrike">
                <a:solidFill>
                  <a:srgbClr val="6B7280"/>
                </a:solidFill>
                <a:latin typeface="+mn-ea"/>
                <a:ea typeface="+mn-ea"/>
                <a:cs typeface="Noto Sans SC"/>
                <a:sym typeface="Noto Sans SC"/>
              </a:rPr>
              <a:t>数据导入：</a:t>
            </a:r>
            <a:r>
              <a:rPr lang="en-US" sz="1200" b="0" i="0" u="none" strike="noStrike">
                <a:solidFill>
                  <a:srgbClr val="6B7280"/>
                </a:solidFill>
                <a:latin typeface="+mn-ea"/>
                <a:ea typeface="+mn-ea"/>
                <a:cs typeface="Noto Sans SC"/>
                <a:sym typeface="Noto Sans SC"/>
              </a:rPr>
              <a:t>基于 EasyExcel，实现高性能、高容错的批量数据处理。</a:t>
            </a:r>
            <a:br>
              <a:rPr lang="en-US" sz="1600" b="0" i="0" u="none" strike="noStrike">
                <a:solidFill>
                  <a:srgbClr val="1F2329"/>
                </a:solidFill>
                <a:latin typeface="+mn-ea"/>
                <a:ea typeface="+mn-ea"/>
                <a:cs typeface="Noto Sans SC"/>
                <a:sym typeface="Noto Sans SC"/>
              </a:rPr>
            </a:br>
            <a:r>
              <a:rPr lang="en-US" sz="1200" b="0" i="0" u="none" strike="noStrike">
                <a:solidFill>
                  <a:srgbClr val="6B7280"/>
                </a:solidFill>
                <a:latin typeface="+mn-ea"/>
                <a:ea typeface="+mn-ea"/>
                <a:cs typeface="Noto Sans SC"/>
                <a:sym typeface="Noto Sans SC"/>
              </a:rPr>
              <a:t>•</a:t>
            </a:r>
            <a:r>
              <a:rPr lang="en-US" sz="1200" b="1" i="0" u="none" strike="noStrike">
                <a:solidFill>
                  <a:srgbClr val="6B7280"/>
                </a:solidFill>
                <a:latin typeface="+mn-ea"/>
                <a:ea typeface="+mn-ea"/>
                <a:cs typeface="Noto Sans SC"/>
                <a:sym typeface="Noto Sans SC"/>
              </a:rPr>
              <a:t>安全认证：</a:t>
            </a:r>
            <a:r>
              <a:rPr lang="en-US" sz="1200" b="0" i="0" u="none" strike="noStrike">
                <a:solidFill>
                  <a:srgbClr val="6B7280"/>
                </a:solidFill>
                <a:latin typeface="+mn-ea"/>
                <a:ea typeface="+mn-ea"/>
                <a:cs typeface="Noto Sans SC"/>
                <a:sym typeface="Noto Sans SC"/>
              </a:rPr>
              <a:t>Spring Security + JWT 实现无状态的安全认证。</a:t>
            </a:r>
          </a:p>
        </p:txBody>
      </p:sp>
      <p:pic>
        <p:nvPicPr>
          <p:cNvPr id="22" name="图片 21" descr="文本&#10;&#10;AI 生成的内容可能不正确。">
            <a:extLst>
              <a:ext uri="{FF2B5EF4-FFF2-40B4-BE49-F238E27FC236}">
                <a16:creationId xmlns:a16="http://schemas.microsoft.com/office/drawing/2014/main" id="{9F669573-B112-4272-8FB7-4F9B7FD75A65}"/>
              </a:ext>
            </a:extLst>
          </p:cNvPr>
          <p:cNvPicPr>
            <a:picLocks noChangeAspect="1"/>
          </p:cNvPicPr>
          <p:nvPr/>
        </p:nvPicPr>
        <p:blipFill>
          <a:blip r:embed="rId11"/>
          <a:stretch>
            <a:fillRect/>
          </a:stretch>
        </p:blipFill>
        <p:spPr>
          <a:xfrm>
            <a:off x="9326632" y="0"/>
            <a:ext cx="2865368" cy="541067"/>
          </a:xfrm>
          <a:prstGeom prst="rect">
            <a:avLst/>
          </a:prstGeom>
        </p:spPr>
      </p:pic>
    </p:spTree>
    <p:extLst>
      <p:ext uri="{BB962C8B-B14F-4D97-AF65-F5344CB8AC3E}">
        <p14:creationId xmlns:p14="http://schemas.microsoft.com/office/powerpoint/2010/main" val="3343584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DB77811-5572-4DE0-937B-F3B004936E01}"/>
              </a:ext>
            </a:extLst>
          </p:cNvPr>
          <p:cNvPicPr>
            <a:picLocks noChangeAspect="1"/>
          </p:cNvPicPr>
          <p:nvPr/>
        </p:nvPicPr>
        <p:blipFill>
          <a:blip r:embed="rId3"/>
          <a:stretch>
            <a:fillRect/>
          </a:stretch>
        </p:blipFill>
        <p:spPr>
          <a:xfrm>
            <a:off x="4287238" y="317500"/>
            <a:ext cx="7904762" cy="6476190"/>
          </a:xfrm>
          <a:prstGeom prst="rect">
            <a:avLst/>
          </a:prstGeom>
        </p:spPr>
      </p:pic>
      <p:sp>
        <p:nvSpPr>
          <p:cNvPr id="5" name="AutoShape 3">
            <a:extLst>
              <a:ext uri="{FF2B5EF4-FFF2-40B4-BE49-F238E27FC236}">
                <a16:creationId xmlns:a16="http://schemas.microsoft.com/office/drawing/2014/main" id="{A4217087-D772-4A95-B4A1-E02E5C1E908A}"/>
              </a:ext>
            </a:extLst>
          </p:cNvPr>
          <p:cNvSpPr/>
          <p:nvPr/>
        </p:nvSpPr>
        <p:spPr>
          <a:xfrm>
            <a:off x="304800" y="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02 技术架构：分层架构设计</a:t>
            </a:r>
            <a:endParaRPr lang="en-US" sz="1100">
              <a:latin typeface="+mn-ea"/>
              <a:ea typeface="+mn-ea"/>
            </a:endParaRPr>
          </a:p>
        </p:txBody>
      </p:sp>
      <p:sp>
        <p:nvSpPr>
          <p:cNvPr id="32" name="AutoShape 6">
            <a:extLst>
              <a:ext uri="{FF2B5EF4-FFF2-40B4-BE49-F238E27FC236}">
                <a16:creationId xmlns:a16="http://schemas.microsoft.com/office/drawing/2014/main" id="{F4CB25E6-4ED2-4366-B756-9D8F4E035E3D}"/>
              </a:ext>
            </a:extLst>
          </p:cNvPr>
          <p:cNvSpPr/>
          <p:nvPr/>
        </p:nvSpPr>
        <p:spPr>
          <a:xfrm>
            <a:off x="1134021" y="609600"/>
            <a:ext cx="2032000" cy="1143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33" name="Picture 7">
            <a:extLst>
              <a:ext uri="{FF2B5EF4-FFF2-40B4-BE49-F238E27FC236}">
                <a16:creationId xmlns:a16="http://schemas.microsoft.com/office/drawing/2014/main" id="{5A997792-C82E-4EC6-9E5A-BB20758925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4521" y="863600"/>
            <a:ext cx="406400" cy="406400"/>
          </a:xfrm>
          <a:prstGeom prst="rect">
            <a:avLst/>
          </a:prstGeom>
        </p:spPr>
      </p:pic>
      <p:sp>
        <p:nvSpPr>
          <p:cNvPr id="34" name="AutoShape 8">
            <a:extLst>
              <a:ext uri="{FF2B5EF4-FFF2-40B4-BE49-F238E27FC236}">
                <a16:creationId xmlns:a16="http://schemas.microsoft.com/office/drawing/2014/main" id="{686974D3-1061-47D1-A88E-17F5B97BAF94}"/>
              </a:ext>
            </a:extLst>
          </p:cNvPr>
          <p:cNvSpPr/>
          <p:nvPr/>
        </p:nvSpPr>
        <p:spPr>
          <a:xfrm>
            <a:off x="1832521" y="838200"/>
            <a:ext cx="120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mn-ea"/>
                <a:ea typeface="+mn-ea"/>
                <a:cs typeface="Noto Sans SC"/>
                <a:sym typeface="Noto Sans SC"/>
              </a:rPr>
              <a:t>表现层</a:t>
            </a:r>
            <a:endParaRPr lang="en-US" sz="1100">
              <a:latin typeface="+mn-ea"/>
              <a:ea typeface="+mn-ea"/>
            </a:endParaRPr>
          </a:p>
          <a:p>
            <a:pPr indent="0" algn="l">
              <a:lnSpc>
                <a:spcPct val="125000"/>
              </a:lnSpc>
            </a:pPr>
            <a:r>
              <a:rPr lang="en-US" sz="1000" b="0" i="0" u="none" strike="noStrike">
                <a:solidFill>
                  <a:srgbClr val="F0FDFA">
                    <a:alpha val="90196"/>
                  </a:srgbClr>
                </a:solidFill>
                <a:latin typeface="+mn-ea"/>
                <a:ea typeface="+mn-ea"/>
                <a:cs typeface="Noto Sans SC"/>
                <a:sym typeface="Noto Sans SC"/>
              </a:rPr>
              <a:t>Presentation Layer</a:t>
            </a:r>
          </a:p>
        </p:txBody>
      </p:sp>
      <p:sp>
        <p:nvSpPr>
          <p:cNvPr id="35" name="AutoShape 11">
            <a:extLst>
              <a:ext uri="{FF2B5EF4-FFF2-40B4-BE49-F238E27FC236}">
                <a16:creationId xmlns:a16="http://schemas.microsoft.com/office/drawing/2014/main" id="{EB199431-2D13-4E0D-A95C-1BD23EEF8825}"/>
              </a:ext>
            </a:extLst>
          </p:cNvPr>
          <p:cNvSpPr/>
          <p:nvPr/>
        </p:nvSpPr>
        <p:spPr>
          <a:xfrm>
            <a:off x="1140666" y="1854200"/>
            <a:ext cx="2032000" cy="11430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36" name="Picture 12">
            <a:extLst>
              <a:ext uri="{FF2B5EF4-FFF2-40B4-BE49-F238E27FC236}">
                <a16:creationId xmlns:a16="http://schemas.microsoft.com/office/drawing/2014/main" id="{59480FA4-779A-4526-9F1A-142295AFB6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1166" y="2108200"/>
            <a:ext cx="406400" cy="406400"/>
          </a:xfrm>
          <a:prstGeom prst="rect">
            <a:avLst/>
          </a:prstGeom>
        </p:spPr>
      </p:pic>
      <p:sp>
        <p:nvSpPr>
          <p:cNvPr id="37" name="AutoShape 13">
            <a:extLst>
              <a:ext uri="{FF2B5EF4-FFF2-40B4-BE49-F238E27FC236}">
                <a16:creationId xmlns:a16="http://schemas.microsoft.com/office/drawing/2014/main" id="{A040FC6F-D290-43DD-A317-1773BE95F565}"/>
              </a:ext>
            </a:extLst>
          </p:cNvPr>
          <p:cNvSpPr/>
          <p:nvPr/>
        </p:nvSpPr>
        <p:spPr>
          <a:xfrm>
            <a:off x="1839166" y="2082800"/>
            <a:ext cx="120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mn-ea"/>
                <a:ea typeface="+mn-ea"/>
                <a:cs typeface="Noto Sans SC"/>
                <a:sym typeface="Noto Sans SC"/>
              </a:rPr>
              <a:t>API 层</a:t>
            </a:r>
            <a:endParaRPr lang="en-US" sz="1100">
              <a:latin typeface="+mn-ea"/>
              <a:ea typeface="+mn-ea"/>
            </a:endParaRPr>
          </a:p>
          <a:p>
            <a:pPr indent="0" algn="l">
              <a:lnSpc>
                <a:spcPct val="125000"/>
              </a:lnSpc>
            </a:pPr>
            <a:r>
              <a:rPr lang="en-US" sz="1000" b="0" i="0" u="none" strike="noStrike">
                <a:solidFill>
                  <a:srgbClr val="F0FDFA">
                    <a:alpha val="90196"/>
                  </a:srgbClr>
                </a:solidFill>
                <a:latin typeface="+mn-ea"/>
                <a:ea typeface="+mn-ea"/>
                <a:cs typeface="Noto Sans SC"/>
                <a:sym typeface="Noto Sans SC"/>
              </a:rPr>
              <a:t>API Layer</a:t>
            </a:r>
          </a:p>
        </p:txBody>
      </p:sp>
      <p:sp>
        <p:nvSpPr>
          <p:cNvPr id="38" name="AutoShape 16">
            <a:extLst>
              <a:ext uri="{FF2B5EF4-FFF2-40B4-BE49-F238E27FC236}">
                <a16:creationId xmlns:a16="http://schemas.microsoft.com/office/drawing/2014/main" id="{2E3C3099-110D-479B-A1EC-E7511F33B66F}"/>
              </a:ext>
            </a:extLst>
          </p:cNvPr>
          <p:cNvSpPr/>
          <p:nvPr/>
        </p:nvSpPr>
        <p:spPr>
          <a:xfrm>
            <a:off x="1134021" y="3098800"/>
            <a:ext cx="2032000" cy="1143000"/>
          </a:xfrm>
          <a:prstGeom prst="roundRect">
            <a:avLst>
              <a:gd name="adj" fmla="val 0"/>
            </a:avLst>
          </a:prstGeom>
          <a:solidFill>
            <a:srgbClr val="0D9488">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39" name="Picture 17">
            <a:extLst>
              <a:ext uri="{FF2B5EF4-FFF2-40B4-BE49-F238E27FC236}">
                <a16:creationId xmlns:a16="http://schemas.microsoft.com/office/drawing/2014/main" id="{8D5C5CE6-B33A-425D-8A61-1741745CBE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24521" y="3352800"/>
            <a:ext cx="406400" cy="406400"/>
          </a:xfrm>
          <a:prstGeom prst="rect">
            <a:avLst/>
          </a:prstGeom>
        </p:spPr>
      </p:pic>
      <p:sp>
        <p:nvSpPr>
          <p:cNvPr id="40" name="AutoShape 18">
            <a:extLst>
              <a:ext uri="{FF2B5EF4-FFF2-40B4-BE49-F238E27FC236}">
                <a16:creationId xmlns:a16="http://schemas.microsoft.com/office/drawing/2014/main" id="{FDA980B2-311D-421D-9BA4-834373668AC8}"/>
              </a:ext>
            </a:extLst>
          </p:cNvPr>
          <p:cNvSpPr/>
          <p:nvPr/>
        </p:nvSpPr>
        <p:spPr>
          <a:xfrm>
            <a:off x="1832521" y="3327400"/>
            <a:ext cx="120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mn-ea"/>
                <a:ea typeface="+mn-ea"/>
                <a:cs typeface="Noto Sans SC"/>
                <a:sym typeface="Noto Sans SC"/>
              </a:rPr>
              <a:t>业务逻辑层</a:t>
            </a:r>
            <a:endParaRPr lang="en-US" sz="1100">
              <a:latin typeface="+mn-ea"/>
              <a:ea typeface="+mn-ea"/>
            </a:endParaRPr>
          </a:p>
          <a:p>
            <a:pPr indent="0" algn="l">
              <a:lnSpc>
                <a:spcPct val="125000"/>
              </a:lnSpc>
            </a:pPr>
            <a:r>
              <a:rPr lang="en-US" sz="1000" b="0" i="0" u="none" strike="noStrike">
                <a:solidFill>
                  <a:srgbClr val="F0FDFA">
                    <a:alpha val="90196"/>
                  </a:srgbClr>
                </a:solidFill>
                <a:latin typeface="+mn-ea"/>
                <a:ea typeface="+mn-ea"/>
                <a:cs typeface="Noto Sans SC"/>
                <a:sym typeface="Noto Sans SC"/>
              </a:rPr>
              <a:t>Business Logic Layer</a:t>
            </a:r>
          </a:p>
        </p:txBody>
      </p:sp>
      <p:sp>
        <p:nvSpPr>
          <p:cNvPr id="41" name="AutoShape 21">
            <a:extLst>
              <a:ext uri="{FF2B5EF4-FFF2-40B4-BE49-F238E27FC236}">
                <a16:creationId xmlns:a16="http://schemas.microsoft.com/office/drawing/2014/main" id="{DD220C50-7609-4846-B85A-1AF99FE35D51}"/>
              </a:ext>
            </a:extLst>
          </p:cNvPr>
          <p:cNvSpPr/>
          <p:nvPr/>
        </p:nvSpPr>
        <p:spPr>
          <a:xfrm>
            <a:off x="1134021" y="4343400"/>
            <a:ext cx="2032000" cy="1143000"/>
          </a:xfrm>
          <a:prstGeom prst="roundRect">
            <a:avLst>
              <a:gd name="adj" fmla="val 0"/>
            </a:avLst>
          </a:prstGeom>
          <a:solidFill>
            <a:srgbClr val="0F766E">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42" name="Picture 22">
            <a:extLst>
              <a:ext uri="{FF2B5EF4-FFF2-40B4-BE49-F238E27FC236}">
                <a16:creationId xmlns:a16="http://schemas.microsoft.com/office/drawing/2014/main" id="{920C58BE-07E7-405E-9E58-D9618B77C72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24521" y="4597400"/>
            <a:ext cx="406400" cy="406400"/>
          </a:xfrm>
          <a:prstGeom prst="rect">
            <a:avLst/>
          </a:prstGeom>
        </p:spPr>
      </p:pic>
      <p:sp>
        <p:nvSpPr>
          <p:cNvPr id="43" name="AutoShape 23">
            <a:extLst>
              <a:ext uri="{FF2B5EF4-FFF2-40B4-BE49-F238E27FC236}">
                <a16:creationId xmlns:a16="http://schemas.microsoft.com/office/drawing/2014/main" id="{0C46EFE7-9E5D-4DD2-8C9E-1CC156687021}"/>
              </a:ext>
            </a:extLst>
          </p:cNvPr>
          <p:cNvSpPr/>
          <p:nvPr/>
        </p:nvSpPr>
        <p:spPr>
          <a:xfrm>
            <a:off x="1832521" y="4572000"/>
            <a:ext cx="120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mn-ea"/>
                <a:ea typeface="+mn-ea"/>
                <a:cs typeface="Noto Sans SC"/>
                <a:sym typeface="Noto Sans SC"/>
              </a:rPr>
              <a:t>数据访问层</a:t>
            </a:r>
            <a:endParaRPr lang="en-US" sz="1100">
              <a:latin typeface="+mn-ea"/>
              <a:ea typeface="+mn-ea"/>
            </a:endParaRPr>
          </a:p>
          <a:p>
            <a:pPr indent="0" algn="l">
              <a:lnSpc>
                <a:spcPct val="125000"/>
              </a:lnSpc>
            </a:pPr>
            <a:r>
              <a:rPr lang="en-US" sz="1000" b="0" i="0" u="none" strike="noStrike">
                <a:solidFill>
                  <a:srgbClr val="F0FDFA">
                    <a:alpha val="90196"/>
                  </a:srgbClr>
                </a:solidFill>
                <a:latin typeface="+mn-ea"/>
                <a:ea typeface="+mn-ea"/>
                <a:cs typeface="Noto Sans SC"/>
                <a:sym typeface="Noto Sans SC"/>
              </a:rPr>
              <a:t>Data Access Layer</a:t>
            </a:r>
          </a:p>
        </p:txBody>
      </p:sp>
      <p:sp>
        <p:nvSpPr>
          <p:cNvPr id="44" name="AutoShape 26">
            <a:extLst>
              <a:ext uri="{FF2B5EF4-FFF2-40B4-BE49-F238E27FC236}">
                <a16:creationId xmlns:a16="http://schemas.microsoft.com/office/drawing/2014/main" id="{7A3E7ACA-CA7C-4205-B8CE-7B9F1E7285C8}"/>
              </a:ext>
            </a:extLst>
          </p:cNvPr>
          <p:cNvSpPr/>
          <p:nvPr/>
        </p:nvSpPr>
        <p:spPr>
          <a:xfrm>
            <a:off x="1140666" y="5588000"/>
            <a:ext cx="2032000" cy="1143000"/>
          </a:xfrm>
          <a:prstGeom prst="roundRect">
            <a:avLst>
              <a:gd name="adj" fmla="val 0"/>
            </a:avLst>
          </a:prstGeom>
          <a:solidFill>
            <a:srgbClr val="115E59">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45" name="Picture 27">
            <a:extLst>
              <a:ext uri="{FF2B5EF4-FFF2-40B4-BE49-F238E27FC236}">
                <a16:creationId xmlns:a16="http://schemas.microsoft.com/office/drawing/2014/main" id="{1F44B942-7A2D-4398-80D8-1D7986F311B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331166" y="5842000"/>
            <a:ext cx="406400" cy="406400"/>
          </a:xfrm>
          <a:prstGeom prst="rect">
            <a:avLst/>
          </a:prstGeom>
        </p:spPr>
      </p:pic>
      <p:sp>
        <p:nvSpPr>
          <p:cNvPr id="46" name="AutoShape 28">
            <a:extLst>
              <a:ext uri="{FF2B5EF4-FFF2-40B4-BE49-F238E27FC236}">
                <a16:creationId xmlns:a16="http://schemas.microsoft.com/office/drawing/2014/main" id="{A396493E-BEE6-486A-9434-19756499C36C}"/>
              </a:ext>
            </a:extLst>
          </p:cNvPr>
          <p:cNvSpPr/>
          <p:nvPr/>
        </p:nvSpPr>
        <p:spPr>
          <a:xfrm>
            <a:off x="1839166" y="5816600"/>
            <a:ext cx="120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mn-ea"/>
                <a:ea typeface="+mn-ea"/>
                <a:cs typeface="Noto Sans SC"/>
                <a:sym typeface="Noto Sans SC"/>
              </a:rPr>
              <a:t>数据库层</a:t>
            </a:r>
            <a:endParaRPr lang="en-US" sz="1100">
              <a:latin typeface="+mn-ea"/>
              <a:ea typeface="+mn-ea"/>
            </a:endParaRPr>
          </a:p>
          <a:p>
            <a:pPr indent="0" algn="l">
              <a:lnSpc>
                <a:spcPct val="125000"/>
              </a:lnSpc>
            </a:pPr>
            <a:r>
              <a:rPr lang="en-US" sz="1000" b="0" i="0" u="none" strike="noStrike">
                <a:solidFill>
                  <a:srgbClr val="F0FDFA">
                    <a:alpha val="90196"/>
                  </a:srgbClr>
                </a:solidFill>
                <a:latin typeface="+mn-ea"/>
                <a:ea typeface="+mn-ea"/>
                <a:cs typeface="Noto Sans SC"/>
                <a:sym typeface="Noto Sans SC"/>
              </a:rPr>
              <a:t>Database Layer</a:t>
            </a:r>
          </a:p>
        </p:txBody>
      </p:sp>
    </p:spTree>
    <p:extLst>
      <p:ext uri="{BB962C8B-B14F-4D97-AF65-F5344CB8AC3E}">
        <p14:creationId xmlns:p14="http://schemas.microsoft.com/office/powerpoint/2010/main" val="3048569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2702442" y="2160770"/>
            <a:ext cx="6787116" cy="2198577"/>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5" name="AutoShape 5"/>
          <p:cNvSpPr/>
          <p:nvPr/>
        </p:nvSpPr>
        <p:spPr>
          <a:xfrm>
            <a:off x="3171016" y="2771551"/>
            <a:ext cx="1472019"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a:solidFill>
                  <a:srgbClr val="2DD4BF"/>
                </a:solidFill>
                <a:latin typeface="+mn-ea"/>
                <a:ea typeface="+mn-ea"/>
                <a:cs typeface="Noto Sans SC"/>
                <a:sym typeface="Noto Sans SC"/>
              </a:rPr>
              <a:t>03</a:t>
            </a:r>
            <a:endParaRPr lang="en-US" sz="2400">
              <a:latin typeface="+mn-ea"/>
              <a:ea typeface="+mn-ea"/>
            </a:endParaRPr>
          </a:p>
        </p:txBody>
      </p:sp>
      <p:sp>
        <p:nvSpPr>
          <p:cNvPr id="22" name="AutoShape 9">
            <a:extLst>
              <a:ext uri="{FF2B5EF4-FFF2-40B4-BE49-F238E27FC236}">
                <a16:creationId xmlns:a16="http://schemas.microsoft.com/office/drawing/2014/main" id="{1813EBCE-F925-4982-B8E4-B645FD720047}"/>
              </a:ext>
            </a:extLst>
          </p:cNvPr>
          <p:cNvSpPr/>
          <p:nvPr/>
        </p:nvSpPr>
        <p:spPr>
          <a:xfrm>
            <a:off x="4750101" y="2771551"/>
            <a:ext cx="4846523"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3200" b="1">
                <a:solidFill>
                  <a:srgbClr val="374151"/>
                </a:solidFill>
                <a:latin typeface="+mn-ea"/>
                <a:ea typeface="+mn-ea"/>
                <a:cs typeface="Noto Sans SC"/>
                <a:sym typeface="Noto Sans SC"/>
              </a:rPr>
              <a:t>核心业务流程与计算模型</a:t>
            </a:r>
          </a:p>
        </p:txBody>
      </p:sp>
      <p:pic>
        <p:nvPicPr>
          <p:cNvPr id="6" name="图片 5" descr="文本&#10;&#10;AI 生成的内容可能不正确。">
            <a:extLst>
              <a:ext uri="{FF2B5EF4-FFF2-40B4-BE49-F238E27FC236}">
                <a16:creationId xmlns:a16="http://schemas.microsoft.com/office/drawing/2014/main" id="{9D0D7E8A-5162-421E-9812-7D3CA61316CE}"/>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2281877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56E3A102-EC63-4288-A30B-E7CBEA93EA9C}"/>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核心业务流程：数据流转全景图</a:t>
            </a:r>
            <a:endParaRPr lang="en-US" sz="1100">
              <a:latin typeface="+mn-ea"/>
              <a:ea typeface="+mn-ea"/>
            </a:endParaRPr>
          </a:p>
        </p:txBody>
      </p:sp>
      <p:sp>
        <p:nvSpPr>
          <p:cNvPr id="8" name="AutoShape 4">
            <a:extLst>
              <a:ext uri="{FF2B5EF4-FFF2-40B4-BE49-F238E27FC236}">
                <a16:creationId xmlns:a16="http://schemas.microsoft.com/office/drawing/2014/main" id="{60BFFDF6-5F7E-4FB6-BC86-01BCBE0BBDCE}"/>
              </a:ext>
            </a:extLst>
          </p:cNvPr>
          <p:cNvSpPr/>
          <p:nvPr/>
        </p:nvSpPr>
        <p:spPr>
          <a:xfrm>
            <a:off x="762000" y="1905000"/>
            <a:ext cx="2032000" cy="419100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9" name="AutoShape 5">
            <a:extLst>
              <a:ext uri="{FF2B5EF4-FFF2-40B4-BE49-F238E27FC236}">
                <a16:creationId xmlns:a16="http://schemas.microsoft.com/office/drawing/2014/main" id="{36820C57-60BE-414E-AB31-1ED14328561D}"/>
              </a:ext>
            </a:extLst>
          </p:cNvPr>
          <p:cNvSpPr/>
          <p:nvPr/>
        </p:nvSpPr>
        <p:spPr>
          <a:xfrm>
            <a:off x="762000" y="1905000"/>
            <a:ext cx="203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0" name="Picture 6">
            <a:extLst>
              <a:ext uri="{FF2B5EF4-FFF2-40B4-BE49-F238E27FC236}">
                <a16:creationId xmlns:a16="http://schemas.microsoft.com/office/drawing/2014/main" id="{31C81B20-2AF2-44C9-A0AD-428796CF4B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0800" y="2286000"/>
            <a:ext cx="914400" cy="914400"/>
          </a:xfrm>
          <a:prstGeom prst="rect">
            <a:avLst/>
          </a:prstGeom>
        </p:spPr>
      </p:pic>
      <p:sp>
        <p:nvSpPr>
          <p:cNvPr id="11" name="AutoShape 7">
            <a:extLst>
              <a:ext uri="{FF2B5EF4-FFF2-40B4-BE49-F238E27FC236}">
                <a16:creationId xmlns:a16="http://schemas.microsoft.com/office/drawing/2014/main" id="{209A20F3-C2BF-4A10-B479-02B760C0AF41}"/>
              </a:ext>
            </a:extLst>
          </p:cNvPr>
          <p:cNvSpPr/>
          <p:nvPr/>
        </p:nvSpPr>
        <p:spPr>
          <a:xfrm>
            <a:off x="889000" y="3429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mn-ea"/>
                <a:ea typeface="+mn-ea"/>
                <a:cs typeface="Noto Sans SC"/>
                <a:sym typeface="Noto Sans SC"/>
              </a:rPr>
              <a:t>基础数据准备</a:t>
            </a:r>
            <a:endParaRPr lang="en-US" sz="1100">
              <a:latin typeface="+mn-ea"/>
              <a:ea typeface="+mn-ea"/>
            </a:endParaRPr>
          </a:p>
        </p:txBody>
      </p:sp>
      <p:sp>
        <p:nvSpPr>
          <p:cNvPr id="12" name="AutoShape 8">
            <a:extLst>
              <a:ext uri="{FF2B5EF4-FFF2-40B4-BE49-F238E27FC236}">
                <a16:creationId xmlns:a16="http://schemas.microsoft.com/office/drawing/2014/main" id="{4F1AD26E-CE3A-4EA9-9DF3-5D2D7931DA28}"/>
              </a:ext>
            </a:extLst>
          </p:cNvPr>
          <p:cNvSpPr/>
          <p:nvPr/>
        </p:nvSpPr>
        <p:spPr>
          <a:xfrm>
            <a:off x="889000" y="4318000"/>
            <a:ext cx="1778000" cy="1524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0" i="0" u="none" strike="noStrike">
                <a:solidFill>
                  <a:srgbClr val="6B7280"/>
                </a:solidFill>
                <a:latin typeface="+mn-ea"/>
                <a:ea typeface="+mn-ea"/>
                <a:cs typeface="Noto Sans SC"/>
                <a:sym typeface="Noto Sans SC"/>
              </a:rPr>
              <a:t>系统管理员和教务管理员完成基础数据的初始化和导入，为全流程奠定基石。</a:t>
            </a:r>
            <a:endParaRPr lang="en-US" sz="1100">
              <a:latin typeface="+mn-ea"/>
              <a:ea typeface="+mn-ea"/>
            </a:endParaRPr>
          </a:p>
        </p:txBody>
      </p:sp>
      <p:sp>
        <p:nvSpPr>
          <p:cNvPr id="13" name="AutoShape 9">
            <a:extLst>
              <a:ext uri="{FF2B5EF4-FFF2-40B4-BE49-F238E27FC236}">
                <a16:creationId xmlns:a16="http://schemas.microsoft.com/office/drawing/2014/main" id="{0A41DB1C-4AE5-4483-8C99-D415A15BEABC}"/>
              </a:ext>
            </a:extLst>
          </p:cNvPr>
          <p:cNvSpPr/>
          <p:nvPr/>
        </p:nvSpPr>
        <p:spPr>
          <a:xfrm>
            <a:off x="3048000" y="1905000"/>
            <a:ext cx="2032000" cy="419100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4" name="AutoShape 10">
            <a:extLst>
              <a:ext uri="{FF2B5EF4-FFF2-40B4-BE49-F238E27FC236}">
                <a16:creationId xmlns:a16="http://schemas.microsoft.com/office/drawing/2014/main" id="{4C1B1FC3-3A41-49AC-9508-5AEEF79C3796}"/>
              </a:ext>
            </a:extLst>
          </p:cNvPr>
          <p:cNvSpPr/>
          <p:nvPr/>
        </p:nvSpPr>
        <p:spPr>
          <a:xfrm>
            <a:off x="3048000" y="1905000"/>
            <a:ext cx="203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5" name="Picture 11">
            <a:extLst>
              <a:ext uri="{FF2B5EF4-FFF2-40B4-BE49-F238E27FC236}">
                <a16:creationId xmlns:a16="http://schemas.microsoft.com/office/drawing/2014/main" id="{CBD4F1EE-2E46-41F8-BC52-47653FCDFBA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6800" y="2286000"/>
            <a:ext cx="914400" cy="914400"/>
          </a:xfrm>
          <a:prstGeom prst="rect">
            <a:avLst/>
          </a:prstGeom>
        </p:spPr>
      </p:pic>
      <p:sp>
        <p:nvSpPr>
          <p:cNvPr id="16" name="AutoShape 12">
            <a:extLst>
              <a:ext uri="{FF2B5EF4-FFF2-40B4-BE49-F238E27FC236}">
                <a16:creationId xmlns:a16="http://schemas.microsoft.com/office/drawing/2014/main" id="{050F4B5D-7CAA-42A3-8D41-5DC2608AAE2B}"/>
              </a:ext>
            </a:extLst>
          </p:cNvPr>
          <p:cNvSpPr/>
          <p:nvPr/>
        </p:nvSpPr>
        <p:spPr>
          <a:xfrm>
            <a:off x="3175000" y="3429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mn-ea"/>
                <a:ea typeface="+mn-ea"/>
                <a:cs typeface="Noto Sans SC"/>
                <a:sym typeface="Noto Sans SC"/>
              </a:rPr>
              <a:t>培养体系定义</a:t>
            </a:r>
            <a:endParaRPr lang="en-US" sz="1100">
              <a:latin typeface="+mn-ea"/>
              <a:ea typeface="+mn-ea"/>
            </a:endParaRPr>
          </a:p>
        </p:txBody>
      </p:sp>
      <p:sp>
        <p:nvSpPr>
          <p:cNvPr id="17" name="AutoShape 13">
            <a:extLst>
              <a:ext uri="{FF2B5EF4-FFF2-40B4-BE49-F238E27FC236}">
                <a16:creationId xmlns:a16="http://schemas.microsoft.com/office/drawing/2014/main" id="{4B6C1B52-D34A-42A0-9ECB-97A729A53139}"/>
              </a:ext>
            </a:extLst>
          </p:cNvPr>
          <p:cNvSpPr/>
          <p:nvPr/>
        </p:nvSpPr>
        <p:spPr>
          <a:xfrm>
            <a:off x="3175000" y="4318000"/>
            <a:ext cx="1778000" cy="1524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0" i="0" u="none" strike="noStrike">
                <a:solidFill>
                  <a:srgbClr val="6B7280"/>
                </a:solidFill>
                <a:latin typeface="+mn-ea"/>
                <a:ea typeface="+mn-ea"/>
                <a:cs typeface="Noto Sans SC"/>
                <a:sym typeface="Noto Sans SC"/>
              </a:rPr>
              <a:t>专业负责人定义毕业要求，课程教师定义课程目标与考核方式，构建标准体系。</a:t>
            </a:r>
            <a:endParaRPr lang="en-US" sz="1100">
              <a:latin typeface="+mn-ea"/>
              <a:ea typeface="+mn-ea"/>
            </a:endParaRPr>
          </a:p>
        </p:txBody>
      </p:sp>
      <p:sp>
        <p:nvSpPr>
          <p:cNvPr id="18" name="AutoShape 14">
            <a:extLst>
              <a:ext uri="{FF2B5EF4-FFF2-40B4-BE49-F238E27FC236}">
                <a16:creationId xmlns:a16="http://schemas.microsoft.com/office/drawing/2014/main" id="{0A5DF4D8-B98B-41C7-9173-4EEAC271BCF7}"/>
              </a:ext>
            </a:extLst>
          </p:cNvPr>
          <p:cNvSpPr/>
          <p:nvPr/>
        </p:nvSpPr>
        <p:spPr>
          <a:xfrm>
            <a:off x="5334000" y="1905000"/>
            <a:ext cx="2032000" cy="419100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9" name="AutoShape 15">
            <a:extLst>
              <a:ext uri="{FF2B5EF4-FFF2-40B4-BE49-F238E27FC236}">
                <a16:creationId xmlns:a16="http://schemas.microsoft.com/office/drawing/2014/main" id="{1E4C6CF4-D38F-4292-B304-A8DD183F4174}"/>
              </a:ext>
            </a:extLst>
          </p:cNvPr>
          <p:cNvSpPr/>
          <p:nvPr/>
        </p:nvSpPr>
        <p:spPr>
          <a:xfrm>
            <a:off x="5334000" y="1905000"/>
            <a:ext cx="203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0" name="Picture 16">
            <a:extLst>
              <a:ext uri="{FF2B5EF4-FFF2-40B4-BE49-F238E27FC236}">
                <a16:creationId xmlns:a16="http://schemas.microsoft.com/office/drawing/2014/main" id="{67E7D633-294F-474F-AAF0-14BED0B22A4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92800" y="2286000"/>
            <a:ext cx="914400" cy="914400"/>
          </a:xfrm>
          <a:prstGeom prst="rect">
            <a:avLst/>
          </a:prstGeom>
        </p:spPr>
      </p:pic>
      <p:sp>
        <p:nvSpPr>
          <p:cNvPr id="21" name="AutoShape 17">
            <a:extLst>
              <a:ext uri="{FF2B5EF4-FFF2-40B4-BE49-F238E27FC236}">
                <a16:creationId xmlns:a16="http://schemas.microsoft.com/office/drawing/2014/main" id="{89D13252-8623-49F5-B8E1-FC2F82C983B2}"/>
              </a:ext>
            </a:extLst>
          </p:cNvPr>
          <p:cNvSpPr/>
          <p:nvPr/>
        </p:nvSpPr>
        <p:spPr>
          <a:xfrm>
            <a:off x="5461000" y="3429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mn-ea"/>
                <a:ea typeface="+mn-ea"/>
                <a:cs typeface="Noto Sans SC"/>
                <a:sym typeface="Noto Sans SC"/>
              </a:rPr>
              <a:t>权重配置与校验</a:t>
            </a:r>
            <a:endParaRPr lang="en-US" sz="1100">
              <a:latin typeface="+mn-ea"/>
              <a:ea typeface="+mn-ea"/>
            </a:endParaRPr>
          </a:p>
        </p:txBody>
      </p:sp>
      <p:sp>
        <p:nvSpPr>
          <p:cNvPr id="23" name="AutoShape 18">
            <a:extLst>
              <a:ext uri="{FF2B5EF4-FFF2-40B4-BE49-F238E27FC236}">
                <a16:creationId xmlns:a16="http://schemas.microsoft.com/office/drawing/2014/main" id="{BAF9136D-CE80-4FFF-9019-1413F4D9C82C}"/>
              </a:ext>
            </a:extLst>
          </p:cNvPr>
          <p:cNvSpPr/>
          <p:nvPr/>
        </p:nvSpPr>
        <p:spPr>
          <a:xfrm>
            <a:off x="5461000" y="4318000"/>
            <a:ext cx="1778000" cy="1524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0" i="0" u="none" strike="noStrike">
                <a:solidFill>
                  <a:srgbClr val="6B7280"/>
                </a:solidFill>
                <a:latin typeface="+mn-ea"/>
                <a:ea typeface="+mn-ea"/>
                <a:cs typeface="Noto Sans SC"/>
                <a:sym typeface="Noto Sans SC"/>
              </a:rPr>
              <a:t>专业负责人配置支撑矩阵，系统实时校验权重和为1.0，确保逻辑严谨无偏差。</a:t>
            </a:r>
            <a:endParaRPr lang="en-US" sz="1100">
              <a:latin typeface="+mn-ea"/>
              <a:ea typeface="+mn-ea"/>
            </a:endParaRPr>
          </a:p>
        </p:txBody>
      </p:sp>
      <p:sp>
        <p:nvSpPr>
          <p:cNvPr id="24" name="AutoShape 19">
            <a:extLst>
              <a:ext uri="{FF2B5EF4-FFF2-40B4-BE49-F238E27FC236}">
                <a16:creationId xmlns:a16="http://schemas.microsoft.com/office/drawing/2014/main" id="{36D04736-FB3C-4259-80EA-8E903859BEAB}"/>
              </a:ext>
            </a:extLst>
          </p:cNvPr>
          <p:cNvSpPr/>
          <p:nvPr/>
        </p:nvSpPr>
        <p:spPr>
          <a:xfrm>
            <a:off x="7620000" y="1905000"/>
            <a:ext cx="2032000" cy="419100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25" name="AutoShape 20">
            <a:extLst>
              <a:ext uri="{FF2B5EF4-FFF2-40B4-BE49-F238E27FC236}">
                <a16:creationId xmlns:a16="http://schemas.microsoft.com/office/drawing/2014/main" id="{7A715B9D-8767-4ECC-997D-8891EF80E575}"/>
              </a:ext>
            </a:extLst>
          </p:cNvPr>
          <p:cNvSpPr/>
          <p:nvPr/>
        </p:nvSpPr>
        <p:spPr>
          <a:xfrm>
            <a:off x="7620000" y="1905000"/>
            <a:ext cx="203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6" name="Picture 21">
            <a:extLst>
              <a:ext uri="{FF2B5EF4-FFF2-40B4-BE49-F238E27FC236}">
                <a16:creationId xmlns:a16="http://schemas.microsoft.com/office/drawing/2014/main" id="{E62FE7B9-89E7-4FC7-BDA3-08E4C588F9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78800" y="2286000"/>
            <a:ext cx="914400" cy="914400"/>
          </a:xfrm>
          <a:prstGeom prst="rect">
            <a:avLst/>
          </a:prstGeom>
        </p:spPr>
      </p:pic>
      <p:sp>
        <p:nvSpPr>
          <p:cNvPr id="27" name="AutoShape 22">
            <a:extLst>
              <a:ext uri="{FF2B5EF4-FFF2-40B4-BE49-F238E27FC236}">
                <a16:creationId xmlns:a16="http://schemas.microsoft.com/office/drawing/2014/main" id="{1EA834EF-194E-44A2-B305-B4041EABAEE5}"/>
              </a:ext>
            </a:extLst>
          </p:cNvPr>
          <p:cNvSpPr/>
          <p:nvPr/>
        </p:nvSpPr>
        <p:spPr>
          <a:xfrm>
            <a:off x="7747000" y="3429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mn-ea"/>
                <a:ea typeface="+mn-ea"/>
                <a:cs typeface="Noto Sans SC"/>
                <a:sym typeface="Noto Sans SC"/>
              </a:rPr>
              <a:t>成绩录入与计算</a:t>
            </a:r>
            <a:endParaRPr lang="en-US" sz="1100">
              <a:latin typeface="+mn-ea"/>
              <a:ea typeface="+mn-ea"/>
            </a:endParaRPr>
          </a:p>
        </p:txBody>
      </p:sp>
      <p:sp>
        <p:nvSpPr>
          <p:cNvPr id="28" name="AutoShape 23">
            <a:extLst>
              <a:ext uri="{FF2B5EF4-FFF2-40B4-BE49-F238E27FC236}">
                <a16:creationId xmlns:a16="http://schemas.microsoft.com/office/drawing/2014/main" id="{8443325B-E619-44F5-90BB-C52F0CE3F82B}"/>
              </a:ext>
            </a:extLst>
          </p:cNvPr>
          <p:cNvSpPr/>
          <p:nvPr/>
        </p:nvSpPr>
        <p:spPr>
          <a:xfrm>
            <a:off x="7747000" y="4318000"/>
            <a:ext cx="1778000" cy="1524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0" i="0" u="none" strike="noStrike">
                <a:solidFill>
                  <a:srgbClr val="6B7280"/>
                </a:solidFill>
                <a:latin typeface="+mn-ea"/>
                <a:ea typeface="+mn-ea"/>
                <a:cs typeface="Noto Sans SC"/>
                <a:sym typeface="Noto Sans SC"/>
              </a:rPr>
              <a:t>课程教师录入成绩并计算课程级结果，教务管理员最终汇总计算专业级达成度。</a:t>
            </a:r>
            <a:endParaRPr lang="en-US" sz="1100">
              <a:latin typeface="+mn-ea"/>
              <a:ea typeface="+mn-ea"/>
            </a:endParaRPr>
          </a:p>
        </p:txBody>
      </p:sp>
      <p:sp>
        <p:nvSpPr>
          <p:cNvPr id="29" name="AutoShape 24">
            <a:extLst>
              <a:ext uri="{FF2B5EF4-FFF2-40B4-BE49-F238E27FC236}">
                <a16:creationId xmlns:a16="http://schemas.microsoft.com/office/drawing/2014/main" id="{35336D96-8E04-4AA0-BC3E-6BCE2D5C190F}"/>
              </a:ext>
            </a:extLst>
          </p:cNvPr>
          <p:cNvSpPr/>
          <p:nvPr/>
        </p:nvSpPr>
        <p:spPr>
          <a:xfrm>
            <a:off x="9779000" y="1905000"/>
            <a:ext cx="2032000" cy="419100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30" name="AutoShape 25">
            <a:extLst>
              <a:ext uri="{FF2B5EF4-FFF2-40B4-BE49-F238E27FC236}">
                <a16:creationId xmlns:a16="http://schemas.microsoft.com/office/drawing/2014/main" id="{5D99082E-12B5-45A6-8EED-868C193523C7}"/>
              </a:ext>
            </a:extLst>
          </p:cNvPr>
          <p:cNvSpPr/>
          <p:nvPr/>
        </p:nvSpPr>
        <p:spPr>
          <a:xfrm>
            <a:off x="9779000" y="1905000"/>
            <a:ext cx="203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31" name="Picture 26">
            <a:extLst>
              <a:ext uri="{FF2B5EF4-FFF2-40B4-BE49-F238E27FC236}">
                <a16:creationId xmlns:a16="http://schemas.microsoft.com/office/drawing/2014/main" id="{6860CF5F-15C5-4A46-9522-4C24F636AD7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37800" y="2286000"/>
            <a:ext cx="914400" cy="914400"/>
          </a:xfrm>
          <a:prstGeom prst="rect">
            <a:avLst/>
          </a:prstGeom>
        </p:spPr>
      </p:pic>
      <p:sp>
        <p:nvSpPr>
          <p:cNvPr id="32" name="AutoShape 27">
            <a:extLst>
              <a:ext uri="{FF2B5EF4-FFF2-40B4-BE49-F238E27FC236}">
                <a16:creationId xmlns:a16="http://schemas.microsoft.com/office/drawing/2014/main" id="{3F6AD465-C779-4C09-888F-96D2D0357E82}"/>
              </a:ext>
            </a:extLst>
          </p:cNvPr>
          <p:cNvSpPr/>
          <p:nvPr/>
        </p:nvSpPr>
        <p:spPr>
          <a:xfrm>
            <a:off x="9906000" y="3429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74151"/>
                </a:solidFill>
                <a:latin typeface="+mn-ea"/>
                <a:ea typeface="+mn-ea"/>
                <a:cs typeface="Noto Sans SC"/>
                <a:sym typeface="Noto Sans SC"/>
              </a:rPr>
              <a:t>数据分析与优化</a:t>
            </a:r>
            <a:endParaRPr lang="en-US" sz="1100">
              <a:latin typeface="+mn-ea"/>
              <a:ea typeface="+mn-ea"/>
            </a:endParaRPr>
          </a:p>
        </p:txBody>
      </p:sp>
      <p:sp>
        <p:nvSpPr>
          <p:cNvPr id="33" name="AutoShape 28">
            <a:extLst>
              <a:ext uri="{FF2B5EF4-FFF2-40B4-BE49-F238E27FC236}">
                <a16:creationId xmlns:a16="http://schemas.microsoft.com/office/drawing/2014/main" id="{24E7BB8C-462E-4010-A762-5CAA267F3B67}"/>
              </a:ext>
            </a:extLst>
          </p:cNvPr>
          <p:cNvSpPr/>
          <p:nvPr/>
        </p:nvSpPr>
        <p:spPr>
          <a:xfrm>
            <a:off x="9906000" y="4318000"/>
            <a:ext cx="1778000" cy="1524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0" i="0" u="none" strike="noStrike">
                <a:solidFill>
                  <a:srgbClr val="6B7280"/>
                </a:solidFill>
                <a:latin typeface="+mn-ea"/>
                <a:ea typeface="+mn-ea"/>
                <a:cs typeface="Noto Sans SC"/>
                <a:sym typeface="Noto Sans SC"/>
              </a:rPr>
              <a:t>管理者通过报表和穿透式查询深度分析数据，精准定位问题，制定教学改进计划。</a:t>
            </a:r>
            <a:endParaRPr lang="en-US" sz="1100">
              <a:latin typeface="+mn-ea"/>
              <a:ea typeface="+mn-ea"/>
            </a:endParaRPr>
          </a:p>
        </p:txBody>
      </p:sp>
      <p:pic>
        <p:nvPicPr>
          <p:cNvPr id="34" name="图片 33" descr="文本&#10;&#10;AI 生成的内容可能不正确。">
            <a:extLst>
              <a:ext uri="{FF2B5EF4-FFF2-40B4-BE49-F238E27FC236}">
                <a16:creationId xmlns:a16="http://schemas.microsoft.com/office/drawing/2014/main" id="{2CB0033E-B374-4053-A091-FFB44C21F8CF}"/>
              </a:ext>
            </a:extLst>
          </p:cNvPr>
          <p:cNvPicPr>
            <a:picLocks noChangeAspect="1"/>
          </p:cNvPicPr>
          <p:nvPr/>
        </p:nvPicPr>
        <p:blipFill>
          <a:blip r:embed="rId13"/>
          <a:stretch>
            <a:fillRect/>
          </a:stretch>
        </p:blipFill>
        <p:spPr>
          <a:xfrm>
            <a:off x="9326632" y="0"/>
            <a:ext cx="2865368" cy="541067"/>
          </a:xfrm>
          <a:prstGeom prst="rect">
            <a:avLst/>
          </a:prstGeom>
        </p:spPr>
      </p:pic>
    </p:spTree>
    <p:extLst>
      <p:ext uri="{BB962C8B-B14F-4D97-AF65-F5344CB8AC3E}">
        <p14:creationId xmlns:p14="http://schemas.microsoft.com/office/powerpoint/2010/main" val="2103268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2BF6493B-875B-4BC5-BC7B-D3B8403720E4}"/>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核心业务流程：数据流转全景图</a:t>
            </a:r>
            <a:endParaRPr lang="en-US" sz="1100">
              <a:latin typeface="+mn-ea"/>
              <a:ea typeface="+mn-ea"/>
            </a:endParaRPr>
          </a:p>
        </p:txBody>
      </p:sp>
      <p:sp>
        <p:nvSpPr>
          <p:cNvPr id="2" name="矩形 1">
            <a:extLst>
              <a:ext uri="{FF2B5EF4-FFF2-40B4-BE49-F238E27FC236}">
                <a16:creationId xmlns:a16="http://schemas.microsoft.com/office/drawing/2014/main" id="{550819DE-E408-46E4-9478-3A1B99999961}"/>
              </a:ext>
            </a:extLst>
          </p:cNvPr>
          <p:cNvSpPr/>
          <p:nvPr/>
        </p:nvSpPr>
        <p:spPr>
          <a:xfrm>
            <a:off x="1651623" y="2562446"/>
            <a:ext cx="2095095" cy="63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考核点</a:t>
            </a:r>
          </a:p>
        </p:txBody>
      </p:sp>
      <p:cxnSp>
        <p:nvCxnSpPr>
          <p:cNvPr id="4" name="直接箭头连接符 3">
            <a:extLst>
              <a:ext uri="{FF2B5EF4-FFF2-40B4-BE49-F238E27FC236}">
                <a16:creationId xmlns:a16="http://schemas.microsoft.com/office/drawing/2014/main" id="{CEFDDCA0-B36C-4485-9DA5-2E29CE40D14B}"/>
              </a:ext>
            </a:extLst>
          </p:cNvPr>
          <p:cNvCxnSpPr>
            <a:cxnSpLocks/>
            <a:stCxn id="2" idx="3"/>
            <a:endCxn id="41" idx="1"/>
          </p:cNvCxnSpPr>
          <p:nvPr/>
        </p:nvCxnSpPr>
        <p:spPr>
          <a:xfrm>
            <a:off x="3746718" y="2879946"/>
            <a:ext cx="1110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34739ABA-2AF5-4C81-BB7F-776233A7C227}"/>
              </a:ext>
            </a:extLst>
          </p:cNvPr>
          <p:cNvSpPr/>
          <p:nvPr/>
        </p:nvSpPr>
        <p:spPr>
          <a:xfrm>
            <a:off x="4857221" y="2562446"/>
            <a:ext cx="2095095" cy="63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学生成绩</a:t>
            </a:r>
          </a:p>
        </p:txBody>
      </p:sp>
      <p:sp>
        <p:nvSpPr>
          <p:cNvPr id="42" name="矩形 41">
            <a:extLst>
              <a:ext uri="{FF2B5EF4-FFF2-40B4-BE49-F238E27FC236}">
                <a16:creationId xmlns:a16="http://schemas.microsoft.com/office/drawing/2014/main" id="{31CB513E-744E-44CD-BCCB-9FECE448A20A}"/>
              </a:ext>
            </a:extLst>
          </p:cNvPr>
          <p:cNvSpPr/>
          <p:nvPr/>
        </p:nvSpPr>
        <p:spPr>
          <a:xfrm>
            <a:off x="7935432" y="2562446"/>
            <a:ext cx="2095095" cy="63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目标级达成度</a:t>
            </a:r>
          </a:p>
        </p:txBody>
      </p:sp>
      <p:sp>
        <p:nvSpPr>
          <p:cNvPr id="46" name="矩形 45">
            <a:extLst>
              <a:ext uri="{FF2B5EF4-FFF2-40B4-BE49-F238E27FC236}">
                <a16:creationId xmlns:a16="http://schemas.microsoft.com/office/drawing/2014/main" id="{1968EF1E-9D8E-46D9-A923-04D765BB4ACF}"/>
              </a:ext>
            </a:extLst>
          </p:cNvPr>
          <p:cNvSpPr/>
          <p:nvPr/>
        </p:nvSpPr>
        <p:spPr>
          <a:xfrm>
            <a:off x="7935432" y="3978701"/>
            <a:ext cx="2095095" cy="63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课程级达成度</a:t>
            </a:r>
          </a:p>
        </p:txBody>
      </p:sp>
      <p:sp>
        <p:nvSpPr>
          <p:cNvPr id="47" name="矩形 46">
            <a:extLst>
              <a:ext uri="{FF2B5EF4-FFF2-40B4-BE49-F238E27FC236}">
                <a16:creationId xmlns:a16="http://schemas.microsoft.com/office/drawing/2014/main" id="{76995465-0D01-4952-A66F-98DB2A27E1BA}"/>
              </a:ext>
            </a:extLst>
          </p:cNvPr>
          <p:cNvSpPr/>
          <p:nvPr/>
        </p:nvSpPr>
        <p:spPr>
          <a:xfrm>
            <a:off x="3902146" y="3978701"/>
            <a:ext cx="2095095" cy="63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专业级达成度</a:t>
            </a:r>
          </a:p>
        </p:txBody>
      </p:sp>
      <p:cxnSp>
        <p:nvCxnSpPr>
          <p:cNvPr id="48" name="直接箭头连接符 47">
            <a:extLst>
              <a:ext uri="{FF2B5EF4-FFF2-40B4-BE49-F238E27FC236}">
                <a16:creationId xmlns:a16="http://schemas.microsoft.com/office/drawing/2014/main" id="{9013F56F-3EA4-4DCE-AEE7-13429CC3095E}"/>
              </a:ext>
            </a:extLst>
          </p:cNvPr>
          <p:cNvCxnSpPr>
            <a:cxnSpLocks/>
          </p:cNvCxnSpPr>
          <p:nvPr/>
        </p:nvCxnSpPr>
        <p:spPr>
          <a:xfrm flipV="1">
            <a:off x="6893443" y="2857058"/>
            <a:ext cx="1368794" cy="13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F4EC08A5-336D-436B-91A4-E09E51715935}"/>
              </a:ext>
            </a:extLst>
          </p:cNvPr>
          <p:cNvSpPr txBox="1"/>
          <p:nvPr/>
        </p:nvSpPr>
        <p:spPr>
          <a:xfrm>
            <a:off x="4054916" y="2451202"/>
            <a:ext cx="1014959" cy="400110"/>
          </a:xfrm>
          <a:prstGeom prst="rect">
            <a:avLst/>
          </a:prstGeom>
          <a:noFill/>
        </p:spPr>
        <p:txBody>
          <a:bodyPr wrap="square" rtlCol="0">
            <a:spAutoFit/>
          </a:bodyPr>
          <a:lstStyle/>
          <a:p>
            <a:r>
              <a:rPr lang="zh-CN" altLang="en-US" sz="2000"/>
              <a:t>得分</a:t>
            </a:r>
          </a:p>
        </p:txBody>
      </p:sp>
      <p:sp>
        <p:nvSpPr>
          <p:cNvPr id="51" name="文本框 50">
            <a:extLst>
              <a:ext uri="{FF2B5EF4-FFF2-40B4-BE49-F238E27FC236}">
                <a16:creationId xmlns:a16="http://schemas.microsoft.com/office/drawing/2014/main" id="{777DAA02-C059-454B-A8E2-4DF6ADD5EE68}"/>
              </a:ext>
            </a:extLst>
          </p:cNvPr>
          <p:cNvSpPr txBox="1"/>
          <p:nvPr/>
        </p:nvSpPr>
        <p:spPr>
          <a:xfrm>
            <a:off x="7162798" y="2471183"/>
            <a:ext cx="1014959" cy="400110"/>
          </a:xfrm>
          <a:prstGeom prst="rect">
            <a:avLst/>
          </a:prstGeom>
          <a:noFill/>
        </p:spPr>
        <p:txBody>
          <a:bodyPr wrap="square" rtlCol="0">
            <a:spAutoFit/>
          </a:bodyPr>
          <a:lstStyle/>
          <a:p>
            <a:r>
              <a:rPr lang="zh-CN" altLang="en-US" sz="2000"/>
              <a:t>汇总</a:t>
            </a:r>
          </a:p>
        </p:txBody>
      </p:sp>
      <p:cxnSp>
        <p:nvCxnSpPr>
          <p:cNvPr id="53" name="直接箭头连接符 52">
            <a:extLst>
              <a:ext uri="{FF2B5EF4-FFF2-40B4-BE49-F238E27FC236}">
                <a16:creationId xmlns:a16="http://schemas.microsoft.com/office/drawing/2014/main" id="{D9B9DA7C-88A3-45C9-9E60-F5D76A89AEA2}"/>
              </a:ext>
            </a:extLst>
          </p:cNvPr>
          <p:cNvCxnSpPr>
            <a:stCxn id="42" idx="2"/>
            <a:endCxn id="46" idx="0"/>
          </p:cNvCxnSpPr>
          <p:nvPr/>
        </p:nvCxnSpPr>
        <p:spPr>
          <a:xfrm>
            <a:off x="8982980" y="3197446"/>
            <a:ext cx="0" cy="781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DC60CFF1-D064-43D0-8E13-F8D781EE9074}"/>
              </a:ext>
            </a:extLst>
          </p:cNvPr>
          <p:cNvSpPr txBox="1"/>
          <p:nvPr/>
        </p:nvSpPr>
        <p:spPr>
          <a:xfrm>
            <a:off x="8982979" y="3388018"/>
            <a:ext cx="2239418" cy="400110"/>
          </a:xfrm>
          <a:prstGeom prst="rect">
            <a:avLst/>
          </a:prstGeom>
          <a:noFill/>
        </p:spPr>
        <p:txBody>
          <a:bodyPr wrap="square">
            <a:spAutoFit/>
          </a:bodyPr>
          <a:lstStyle/>
          <a:p>
            <a:r>
              <a:rPr lang="zh-CN" altLang="en-US" sz="2000"/>
              <a:t>内部权重</a:t>
            </a:r>
          </a:p>
        </p:txBody>
      </p:sp>
      <p:cxnSp>
        <p:nvCxnSpPr>
          <p:cNvPr id="67" name="直接箭头连接符 66">
            <a:extLst>
              <a:ext uri="{FF2B5EF4-FFF2-40B4-BE49-F238E27FC236}">
                <a16:creationId xmlns:a16="http://schemas.microsoft.com/office/drawing/2014/main" id="{012683D5-92A2-4CE9-9C0D-9F2B216D6E25}"/>
              </a:ext>
            </a:extLst>
          </p:cNvPr>
          <p:cNvCxnSpPr>
            <a:stCxn id="46" idx="1"/>
            <a:endCxn id="47" idx="3"/>
          </p:cNvCxnSpPr>
          <p:nvPr/>
        </p:nvCxnSpPr>
        <p:spPr>
          <a:xfrm flipH="1">
            <a:off x="5997241" y="4296201"/>
            <a:ext cx="19381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F56E4FC3-8AFD-41E9-9819-3B20014CCEA7}"/>
              </a:ext>
            </a:extLst>
          </p:cNvPr>
          <p:cNvSpPr txBox="1"/>
          <p:nvPr/>
        </p:nvSpPr>
        <p:spPr>
          <a:xfrm>
            <a:off x="6294483" y="3896832"/>
            <a:ext cx="1339696" cy="400110"/>
          </a:xfrm>
          <a:prstGeom prst="rect">
            <a:avLst/>
          </a:prstGeom>
          <a:noFill/>
        </p:spPr>
        <p:txBody>
          <a:bodyPr wrap="square">
            <a:spAutoFit/>
          </a:bodyPr>
          <a:lstStyle/>
          <a:p>
            <a:r>
              <a:rPr lang="zh-CN" altLang="en-US" sz="2000"/>
              <a:t>支撑矩阵</a:t>
            </a:r>
          </a:p>
        </p:txBody>
      </p:sp>
      <p:pic>
        <p:nvPicPr>
          <p:cNvPr id="16" name="图片 15" descr="文本&#10;&#10;AI 生成的内容可能不正确。">
            <a:extLst>
              <a:ext uri="{FF2B5EF4-FFF2-40B4-BE49-F238E27FC236}">
                <a16:creationId xmlns:a16="http://schemas.microsoft.com/office/drawing/2014/main" id="{21A2AC17-DF03-4988-90CE-361A7B60648A}"/>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37945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9" name="Picture 7">
            <a:extLst>
              <a:ext uri="{FF2B5EF4-FFF2-40B4-BE49-F238E27FC236}">
                <a16:creationId xmlns:a16="http://schemas.microsoft.com/office/drawing/2014/main" id="{A23949CC-576B-4D93-8A8C-D24CBBA607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409" y="1761386"/>
            <a:ext cx="406400" cy="406400"/>
          </a:xfrm>
          <a:prstGeom prst="rect">
            <a:avLst/>
          </a:prstGeom>
        </p:spPr>
      </p:pic>
      <p:sp>
        <p:nvSpPr>
          <p:cNvPr id="10" name="AutoShape 8">
            <a:extLst>
              <a:ext uri="{FF2B5EF4-FFF2-40B4-BE49-F238E27FC236}">
                <a16:creationId xmlns:a16="http://schemas.microsoft.com/office/drawing/2014/main" id="{7D78ECDE-B6C0-4C32-9962-F97EC857BFFA}"/>
              </a:ext>
            </a:extLst>
          </p:cNvPr>
          <p:cNvSpPr/>
          <p:nvPr/>
        </p:nvSpPr>
        <p:spPr>
          <a:xfrm>
            <a:off x="1332909" y="1710586"/>
            <a:ext cx="3058338"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课程目标级达成度</a:t>
            </a:r>
            <a:endParaRPr lang="en-US" sz="1100">
              <a:latin typeface="+mn-ea"/>
              <a:ea typeface="+mn-ea"/>
            </a:endParaRPr>
          </a:p>
        </p:txBody>
      </p:sp>
      <p:pic>
        <p:nvPicPr>
          <p:cNvPr id="11" name="图片 10" descr="文本&#10;&#10;AI 生成的内容可能不正确。">
            <a:extLst>
              <a:ext uri="{FF2B5EF4-FFF2-40B4-BE49-F238E27FC236}">
                <a16:creationId xmlns:a16="http://schemas.microsoft.com/office/drawing/2014/main" id="{3AA56757-FECA-45A0-9992-5463BA185D5A}"/>
              </a:ext>
            </a:extLst>
          </p:cNvPr>
          <p:cNvPicPr>
            <a:picLocks noChangeAspect="1"/>
          </p:cNvPicPr>
          <p:nvPr/>
        </p:nvPicPr>
        <p:blipFill>
          <a:blip r:embed="rId5"/>
          <a:stretch>
            <a:fillRect/>
          </a:stretch>
        </p:blipFill>
        <p:spPr>
          <a:xfrm>
            <a:off x="1061483" y="2687784"/>
            <a:ext cx="9188724" cy="2506015"/>
          </a:xfrm>
          <a:prstGeom prst="rect">
            <a:avLst/>
          </a:prstGeom>
        </p:spPr>
      </p:pic>
      <p:sp>
        <p:nvSpPr>
          <p:cNvPr id="12" name="文本框 11">
            <a:extLst>
              <a:ext uri="{FF2B5EF4-FFF2-40B4-BE49-F238E27FC236}">
                <a16:creationId xmlns:a16="http://schemas.microsoft.com/office/drawing/2014/main" id="{726EA04B-42BC-46B9-ACC7-3CE65826EAAC}"/>
              </a:ext>
            </a:extLst>
          </p:cNvPr>
          <p:cNvSpPr txBox="1"/>
          <p:nvPr/>
        </p:nvSpPr>
        <p:spPr>
          <a:xfrm>
            <a:off x="1254050" y="2331816"/>
            <a:ext cx="6099545" cy="369332"/>
          </a:xfrm>
          <a:prstGeom prst="rect">
            <a:avLst/>
          </a:prstGeom>
          <a:noFill/>
        </p:spPr>
        <p:txBody>
          <a:bodyPr wrap="square" rtlCol="0">
            <a:spAutoFit/>
          </a:bodyPr>
          <a:lstStyle/>
          <a:p>
            <a:r>
              <a:rPr lang="zh-CN" altLang="en-US" sz="1800">
                <a:latin typeface="+mn-ea"/>
                <a:ea typeface="+mn-ea"/>
              </a:rPr>
              <a:t>学生群体在相关考核点上的平均得分率。</a:t>
            </a:r>
          </a:p>
        </p:txBody>
      </p:sp>
      <p:sp>
        <p:nvSpPr>
          <p:cNvPr id="14" name="文本框 13">
            <a:extLst>
              <a:ext uri="{FF2B5EF4-FFF2-40B4-BE49-F238E27FC236}">
                <a16:creationId xmlns:a16="http://schemas.microsoft.com/office/drawing/2014/main" id="{C6376313-40DC-4137-A215-597616EECBEA}"/>
              </a:ext>
            </a:extLst>
          </p:cNvPr>
          <p:cNvSpPr txBox="1"/>
          <p:nvPr/>
        </p:nvSpPr>
        <p:spPr>
          <a:xfrm>
            <a:off x="1332909" y="5402373"/>
            <a:ext cx="7525858" cy="400110"/>
          </a:xfrm>
          <a:prstGeom prst="rect">
            <a:avLst/>
          </a:prstGeom>
          <a:noFill/>
        </p:spPr>
        <p:txBody>
          <a:bodyPr wrap="square">
            <a:spAutoFit/>
          </a:bodyPr>
          <a:lstStyle/>
          <a:p>
            <a:r>
              <a:rPr lang="zh-CN" altLang="en-US" sz="2000">
                <a:latin typeface="+mn-ea"/>
                <a:ea typeface="+mn-ea"/>
              </a:rPr>
              <a:t>比值含义：该学生对目标 所涉及知识</a:t>
            </a:r>
            <a:r>
              <a:rPr lang="en-US" altLang="zh-CN" sz="2000">
                <a:latin typeface="+mn-ea"/>
                <a:ea typeface="+mn-ea"/>
              </a:rPr>
              <a:t>/</a:t>
            </a:r>
            <a:r>
              <a:rPr lang="zh-CN" altLang="en-US" sz="2000">
                <a:latin typeface="+mn-ea"/>
                <a:ea typeface="+mn-ea"/>
              </a:rPr>
              <a:t>能力的掌握比例</a:t>
            </a:r>
          </a:p>
        </p:txBody>
      </p:sp>
      <p:pic>
        <p:nvPicPr>
          <p:cNvPr id="13" name="图片 12" descr="文本&#10;&#10;AI 生成的内容可能不正确。">
            <a:extLst>
              <a:ext uri="{FF2B5EF4-FFF2-40B4-BE49-F238E27FC236}">
                <a16:creationId xmlns:a16="http://schemas.microsoft.com/office/drawing/2014/main" id="{4DA1D0F4-65D0-4E76-8763-CF5A2F2E82AC}"/>
              </a:ext>
            </a:extLst>
          </p:cNvPr>
          <p:cNvPicPr>
            <a:picLocks noChangeAspect="1"/>
          </p:cNvPicPr>
          <p:nvPr/>
        </p:nvPicPr>
        <p:blipFill>
          <a:blip r:embed="rId6"/>
          <a:stretch>
            <a:fillRect/>
          </a:stretch>
        </p:blipFill>
        <p:spPr>
          <a:xfrm>
            <a:off x="9326632" y="0"/>
            <a:ext cx="2865368" cy="541067"/>
          </a:xfrm>
          <a:prstGeom prst="rect">
            <a:avLst/>
          </a:prstGeom>
        </p:spPr>
      </p:pic>
    </p:spTree>
    <p:extLst>
      <p:ext uri="{BB962C8B-B14F-4D97-AF65-F5344CB8AC3E}">
        <p14:creationId xmlns:p14="http://schemas.microsoft.com/office/powerpoint/2010/main" val="3923875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9" name="Picture 7">
            <a:extLst>
              <a:ext uri="{FF2B5EF4-FFF2-40B4-BE49-F238E27FC236}">
                <a16:creationId xmlns:a16="http://schemas.microsoft.com/office/drawing/2014/main" id="{A23949CC-576B-4D93-8A8C-D24CBBA607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409" y="1761386"/>
            <a:ext cx="406400" cy="406400"/>
          </a:xfrm>
          <a:prstGeom prst="rect">
            <a:avLst/>
          </a:prstGeom>
        </p:spPr>
      </p:pic>
      <p:sp>
        <p:nvSpPr>
          <p:cNvPr id="10" name="AutoShape 8">
            <a:extLst>
              <a:ext uri="{FF2B5EF4-FFF2-40B4-BE49-F238E27FC236}">
                <a16:creationId xmlns:a16="http://schemas.microsoft.com/office/drawing/2014/main" id="{7D78ECDE-B6C0-4C32-9962-F97EC857BFFA}"/>
              </a:ext>
            </a:extLst>
          </p:cNvPr>
          <p:cNvSpPr/>
          <p:nvPr/>
        </p:nvSpPr>
        <p:spPr>
          <a:xfrm>
            <a:off x="1332908" y="1710586"/>
            <a:ext cx="309023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课程目标级达成度</a:t>
            </a:r>
            <a:endParaRPr lang="en-US" sz="1100">
              <a:latin typeface="+mn-ea"/>
              <a:ea typeface="+mn-ea"/>
            </a:endParaRPr>
          </a:p>
        </p:txBody>
      </p:sp>
      <p:pic>
        <p:nvPicPr>
          <p:cNvPr id="3" name="图片 2">
            <a:extLst>
              <a:ext uri="{FF2B5EF4-FFF2-40B4-BE49-F238E27FC236}">
                <a16:creationId xmlns:a16="http://schemas.microsoft.com/office/drawing/2014/main" id="{42502635-9BDC-4B17-AB69-C6EA6F7ED022}"/>
              </a:ext>
            </a:extLst>
          </p:cNvPr>
          <p:cNvPicPr>
            <a:picLocks noChangeAspect="1"/>
          </p:cNvPicPr>
          <p:nvPr/>
        </p:nvPicPr>
        <p:blipFill>
          <a:blip r:embed="rId5"/>
          <a:stretch>
            <a:fillRect/>
          </a:stretch>
        </p:blipFill>
        <p:spPr>
          <a:xfrm>
            <a:off x="4284921" y="1633795"/>
            <a:ext cx="7745236" cy="2321516"/>
          </a:xfrm>
          <a:prstGeom prst="rect">
            <a:avLst/>
          </a:prstGeom>
        </p:spPr>
      </p:pic>
      <p:pic>
        <p:nvPicPr>
          <p:cNvPr id="5" name="图片 4" descr="表格&#10;&#10;AI 生成的内容可能不正确。">
            <a:extLst>
              <a:ext uri="{FF2B5EF4-FFF2-40B4-BE49-F238E27FC236}">
                <a16:creationId xmlns:a16="http://schemas.microsoft.com/office/drawing/2014/main" id="{E0CB0746-87BB-4A87-A548-1EABB400B58C}"/>
              </a:ext>
            </a:extLst>
          </p:cNvPr>
          <p:cNvPicPr>
            <a:picLocks noChangeAspect="1"/>
          </p:cNvPicPr>
          <p:nvPr/>
        </p:nvPicPr>
        <p:blipFill>
          <a:blip r:embed="rId6"/>
          <a:stretch>
            <a:fillRect/>
          </a:stretch>
        </p:blipFill>
        <p:spPr>
          <a:xfrm>
            <a:off x="4284921" y="4178208"/>
            <a:ext cx="7745236" cy="2351417"/>
          </a:xfrm>
          <a:prstGeom prst="rect">
            <a:avLst/>
          </a:prstGeom>
        </p:spPr>
      </p:pic>
      <p:sp>
        <p:nvSpPr>
          <p:cNvPr id="15" name="文本框 14">
            <a:extLst>
              <a:ext uri="{FF2B5EF4-FFF2-40B4-BE49-F238E27FC236}">
                <a16:creationId xmlns:a16="http://schemas.microsoft.com/office/drawing/2014/main" id="{B072EC93-467C-4792-8900-34BF161CD0FE}"/>
              </a:ext>
            </a:extLst>
          </p:cNvPr>
          <p:cNvSpPr txBox="1"/>
          <p:nvPr/>
        </p:nvSpPr>
        <p:spPr>
          <a:xfrm>
            <a:off x="761409" y="2572355"/>
            <a:ext cx="3523512" cy="707886"/>
          </a:xfrm>
          <a:prstGeom prst="rect">
            <a:avLst/>
          </a:prstGeom>
          <a:noFill/>
        </p:spPr>
        <p:txBody>
          <a:bodyPr wrap="square">
            <a:spAutoFit/>
          </a:bodyPr>
          <a:lstStyle/>
          <a:p>
            <a:r>
              <a:rPr lang="zh-CN" altLang="en-US" sz="2000">
                <a:latin typeface="+mn-ea"/>
                <a:ea typeface="+mn-ea"/>
              </a:rPr>
              <a:t>根据</a:t>
            </a:r>
            <a:r>
              <a:rPr lang="en-US" altLang="zh-CN" sz="2000">
                <a:latin typeface="+mn-ea"/>
                <a:ea typeface="+mn-ea"/>
              </a:rPr>
              <a:t>《</a:t>
            </a:r>
            <a:r>
              <a:rPr lang="zh-CN" altLang="en-US" sz="2000">
                <a:latin typeface="+mn-ea"/>
                <a:ea typeface="+mn-ea"/>
              </a:rPr>
              <a:t>数据结构</a:t>
            </a:r>
            <a:r>
              <a:rPr lang="en-US" altLang="zh-CN" sz="2000">
                <a:latin typeface="+mn-ea"/>
                <a:ea typeface="+mn-ea"/>
              </a:rPr>
              <a:t>》</a:t>
            </a:r>
            <a:r>
              <a:rPr lang="zh-CN" altLang="en-US" sz="2000">
                <a:latin typeface="+mn-ea"/>
                <a:ea typeface="+mn-ea"/>
              </a:rPr>
              <a:t>课程大纲，共定义</a:t>
            </a:r>
            <a:r>
              <a:rPr lang="en-US" altLang="zh-CN" sz="2000">
                <a:latin typeface="+mn-ea"/>
                <a:ea typeface="+mn-ea"/>
              </a:rPr>
              <a:t>4</a:t>
            </a:r>
            <a:r>
              <a:rPr lang="zh-CN" altLang="en-US" sz="2000">
                <a:latin typeface="+mn-ea"/>
                <a:ea typeface="+mn-ea"/>
              </a:rPr>
              <a:t>个课程目标：</a:t>
            </a:r>
          </a:p>
        </p:txBody>
      </p:sp>
      <p:sp>
        <p:nvSpPr>
          <p:cNvPr id="16" name="文本框 15">
            <a:extLst>
              <a:ext uri="{FF2B5EF4-FFF2-40B4-BE49-F238E27FC236}">
                <a16:creationId xmlns:a16="http://schemas.microsoft.com/office/drawing/2014/main" id="{8F8CD17D-CD79-4E60-A596-442FA744969C}"/>
              </a:ext>
            </a:extLst>
          </p:cNvPr>
          <p:cNvSpPr txBox="1"/>
          <p:nvPr/>
        </p:nvSpPr>
        <p:spPr>
          <a:xfrm>
            <a:off x="761409" y="5048430"/>
            <a:ext cx="3523512" cy="707886"/>
          </a:xfrm>
          <a:prstGeom prst="rect">
            <a:avLst/>
          </a:prstGeom>
          <a:noFill/>
        </p:spPr>
        <p:txBody>
          <a:bodyPr wrap="square">
            <a:spAutoFit/>
          </a:bodyPr>
          <a:lstStyle/>
          <a:p>
            <a:r>
              <a:rPr lang="zh-CN" altLang="en-US" sz="2000">
                <a:latin typeface="+mn-ea"/>
                <a:ea typeface="+mn-ea"/>
              </a:rPr>
              <a:t>根据大纲表</a:t>
            </a:r>
            <a:r>
              <a:rPr lang="en-US" altLang="zh-CN" sz="2000">
                <a:latin typeface="+mn-ea"/>
                <a:ea typeface="+mn-ea"/>
              </a:rPr>
              <a:t>4-1</a:t>
            </a:r>
            <a:r>
              <a:rPr lang="zh-CN" altLang="en-US" sz="2000">
                <a:latin typeface="+mn-ea"/>
                <a:ea typeface="+mn-ea"/>
              </a:rPr>
              <a:t>的成绩构成，考核点体系如下：</a:t>
            </a:r>
          </a:p>
        </p:txBody>
      </p:sp>
      <p:pic>
        <p:nvPicPr>
          <p:cNvPr id="11" name="图片 10" descr="文本&#10;&#10;AI 生成的内容可能不正确。">
            <a:extLst>
              <a:ext uri="{FF2B5EF4-FFF2-40B4-BE49-F238E27FC236}">
                <a16:creationId xmlns:a16="http://schemas.microsoft.com/office/drawing/2014/main" id="{688F93A0-83E8-4F63-98DC-3F04A5DCDCEE}"/>
              </a:ext>
            </a:extLst>
          </p:cNvPr>
          <p:cNvPicPr>
            <a:picLocks noChangeAspect="1"/>
          </p:cNvPicPr>
          <p:nvPr/>
        </p:nvPicPr>
        <p:blipFill>
          <a:blip r:embed="rId7"/>
          <a:stretch>
            <a:fillRect/>
          </a:stretch>
        </p:blipFill>
        <p:spPr>
          <a:xfrm>
            <a:off x="9326632" y="0"/>
            <a:ext cx="2865368" cy="541067"/>
          </a:xfrm>
          <a:prstGeom prst="rect">
            <a:avLst/>
          </a:prstGeom>
        </p:spPr>
      </p:pic>
    </p:spTree>
    <p:extLst>
      <p:ext uri="{BB962C8B-B14F-4D97-AF65-F5344CB8AC3E}">
        <p14:creationId xmlns:p14="http://schemas.microsoft.com/office/powerpoint/2010/main" val="212698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9" name="Picture 7">
            <a:extLst>
              <a:ext uri="{FF2B5EF4-FFF2-40B4-BE49-F238E27FC236}">
                <a16:creationId xmlns:a16="http://schemas.microsoft.com/office/drawing/2014/main" id="{A23949CC-576B-4D93-8A8C-D24CBBA607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409" y="1761386"/>
            <a:ext cx="406400" cy="406400"/>
          </a:xfrm>
          <a:prstGeom prst="rect">
            <a:avLst/>
          </a:prstGeom>
        </p:spPr>
      </p:pic>
      <p:sp>
        <p:nvSpPr>
          <p:cNvPr id="10" name="AutoShape 8">
            <a:extLst>
              <a:ext uri="{FF2B5EF4-FFF2-40B4-BE49-F238E27FC236}">
                <a16:creationId xmlns:a16="http://schemas.microsoft.com/office/drawing/2014/main" id="{7D78ECDE-B6C0-4C32-9962-F97EC857BFFA}"/>
              </a:ext>
            </a:extLst>
          </p:cNvPr>
          <p:cNvSpPr/>
          <p:nvPr/>
        </p:nvSpPr>
        <p:spPr>
          <a:xfrm>
            <a:off x="1332908" y="1710586"/>
            <a:ext cx="3079603"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课程目标级达成度</a:t>
            </a:r>
            <a:endParaRPr lang="en-US">
              <a:latin typeface="+mn-ea"/>
              <a:ea typeface="+mn-ea"/>
            </a:endParaRPr>
          </a:p>
        </p:txBody>
      </p:sp>
      <p:pic>
        <p:nvPicPr>
          <p:cNvPr id="4" name="图片 3" descr="图形用户界面, 文本, 应用程序, 信件, 电子邮件&#10;&#10;AI 生成的内容可能不正确。">
            <a:extLst>
              <a:ext uri="{FF2B5EF4-FFF2-40B4-BE49-F238E27FC236}">
                <a16:creationId xmlns:a16="http://schemas.microsoft.com/office/drawing/2014/main" id="{045F0577-4FA1-4199-B320-1244231DDE33}"/>
              </a:ext>
            </a:extLst>
          </p:cNvPr>
          <p:cNvPicPr>
            <a:picLocks noChangeAspect="1"/>
          </p:cNvPicPr>
          <p:nvPr/>
        </p:nvPicPr>
        <p:blipFill>
          <a:blip r:embed="rId5"/>
          <a:stretch>
            <a:fillRect/>
          </a:stretch>
        </p:blipFill>
        <p:spPr>
          <a:xfrm>
            <a:off x="1167809" y="2397345"/>
            <a:ext cx="8336975" cy="4076111"/>
          </a:xfrm>
          <a:prstGeom prst="rect">
            <a:avLst/>
          </a:prstGeom>
        </p:spPr>
      </p:pic>
      <p:pic>
        <p:nvPicPr>
          <p:cNvPr id="11" name="图片 10" descr="文本&#10;&#10;AI 生成的内容可能不正确。">
            <a:extLst>
              <a:ext uri="{FF2B5EF4-FFF2-40B4-BE49-F238E27FC236}">
                <a16:creationId xmlns:a16="http://schemas.microsoft.com/office/drawing/2014/main" id="{AC6FAA27-AEBC-4D95-A6C9-95034ADAF0A1}"/>
              </a:ext>
            </a:extLst>
          </p:cNvPr>
          <p:cNvPicPr>
            <a:picLocks noChangeAspect="1"/>
          </p:cNvPicPr>
          <p:nvPr/>
        </p:nvPicPr>
        <p:blipFill>
          <a:blip r:embed="rId6"/>
          <a:stretch>
            <a:fillRect/>
          </a:stretch>
        </p:blipFill>
        <p:spPr>
          <a:xfrm>
            <a:off x="9326632" y="0"/>
            <a:ext cx="2865368" cy="541067"/>
          </a:xfrm>
          <a:prstGeom prst="rect">
            <a:avLst/>
          </a:prstGeom>
        </p:spPr>
      </p:pic>
    </p:spTree>
    <p:extLst>
      <p:ext uri="{BB962C8B-B14F-4D97-AF65-F5344CB8AC3E}">
        <p14:creationId xmlns:p14="http://schemas.microsoft.com/office/powerpoint/2010/main" val="1191860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3" name="Picture 14">
            <a:extLst>
              <a:ext uri="{FF2B5EF4-FFF2-40B4-BE49-F238E27FC236}">
                <a16:creationId xmlns:a16="http://schemas.microsoft.com/office/drawing/2014/main" id="{89402E65-9B33-4345-A569-F036BD9DB2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6809" y="1831754"/>
            <a:ext cx="406400" cy="406400"/>
          </a:xfrm>
          <a:prstGeom prst="rect">
            <a:avLst/>
          </a:prstGeom>
        </p:spPr>
      </p:pic>
      <p:sp>
        <p:nvSpPr>
          <p:cNvPr id="14" name="AutoShape 15">
            <a:extLst>
              <a:ext uri="{FF2B5EF4-FFF2-40B4-BE49-F238E27FC236}">
                <a16:creationId xmlns:a16="http://schemas.microsoft.com/office/drawing/2014/main" id="{FF23DCA2-CBAD-4D15-B00C-2DD540ED9B4B}"/>
              </a:ext>
            </a:extLst>
          </p:cNvPr>
          <p:cNvSpPr/>
          <p:nvPr/>
        </p:nvSpPr>
        <p:spPr>
          <a:xfrm>
            <a:off x="1358309" y="1780954"/>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课程级达成度</a:t>
            </a:r>
            <a:endParaRPr lang="en-US">
              <a:latin typeface="+mn-ea"/>
              <a:ea typeface="+mn-ea"/>
            </a:endParaRPr>
          </a:p>
        </p:txBody>
      </p:sp>
      <p:pic>
        <p:nvPicPr>
          <p:cNvPr id="3" name="图片 2" descr="图示, 文本, 信件&#10;&#10;AI 生成的内容可能不正确。">
            <a:extLst>
              <a:ext uri="{FF2B5EF4-FFF2-40B4-BE49-F238E27FC236}">
                <a16:creationId xmlns:a16="http://schemas.microsoft.com/office/drawing/2014/main" id="{E76DC816-936C-4B1A-A308-7B32C8258646}"/>
              </a:ext>
            </a:extLst>
          </p:cNvPr>
          <p:cNvPicPr>
            <a:picLocks noChangeAspect="1"/>
          </p:cNvPicPr>
          <p:nvPr/>
        </p:nvPicPr>
        <p:blipFill>
          <a:blip r:embed="rId5"/>
          <a:stretch>
            <a:fillRect/>
          </a:stretch>
        </p:blipFill>
        <p:spPr>
          <a:xfrm>
            <a:off x="1358308" y="3092409"/>
            <a:ext cx="6168080" cy="1734772"/>
          </a:xfrm>
          <a:prstGeom prst="rect">
            <a:avLst/>
          </a:prstGeom>
        </p:spPr>
      </p:pic>
      <p:sp>
        <p:nvSpPr>
          <p:cNvPr id="15" name="文本框 14">
            <a:extLst>
              <a:ext uri="{FF2B5EF4-FFF2-40B4-BE49-F238E27FC236}">
                <a16:creationId xmlns:a16="http://schemas.microsoft.com/office/drawing/2014/main" id="{FC793E37-81FF-4424-907D-EEFFFC4C408A}"/>
              </a:ext>
            </a:extLst>
          </p:cNvPr>
          <p:cNvSpPr txBox="1"/>
          <p:nvPr/>
        </p:nvSpPr>
        <p:spPr>
          <a:xfrm>
            <a:off x="1283880" y="2490626"/>
            <a:ext cx="6097772" cy="400110"/>
          </a:xfrm>
          <a:prstGeom prst="rect">
            <a:avLst/>
          </a:prstGeom>
          <a:noFill/>
        </p:spPr>
        <p:txBody>
          <a:bodyPr wrap="square">
            <a:spAutoFit/>
          </a:bodyPr>
          <a:lstStyle/>
          <a:p>
            <a:r>
              <a:rPr lang="zh-CN" altLang="en-US" sz="2000">
                <a:latin typeface="+mn-ea"/>
                <a:ea typeface="+mn-ea"/>
              </a:rPr>
              <a:t>该课程对某一毕业要求指标点的综合贡献度</a:t>
            </a:r>
          </a:p>
        </p:txBody>
      </p:sp>
      <p:sp>
        <p:nvSpPr>
          <p:cNvPr id="16" name="文本框 15">
            <a:extLst>
              <a:ext uri="{FF2B5EF4-FFF2-40B4-BE49-F238E27FC236}">
                <a16:creationId xmlns:a16="http://schemas.microsoft.com/office/drawing/2014/main" id="{E9AFD6AD-4AAD-4A0E-99F7-212CD1F5ECF2}"/>
              </a:ext>
            </a:extLst>
          </p:cNvPr>
          <p:cNvSpPr txBox="1"/>
          <p:nvPr/>
        </p:nvSpPr>
        <p:spPr>
          <a:xfrm>
            <a:off x="1283880" y="5002263"/>
            <a:ext cx="10305608" cy="400110"/>
          </a:xfrm>
          <a:prstGeom prst="rect">
            <a:avLst/>
          </a:prstGeom>
          <a:noFill/>
        </p:spPr>
        <p:txBody>
          <a:bodyPr wrap="square">
            <a:spAutoFit/>
          </a:bodyPr>
          <a:lstStyle/>
          <a:p>
            <a:r>
              <a:rPr lang="zh-CN" altLang="en-US" sz="2000">
                <a:latin typeface="+mn-ea"/>
                <a:ea typeface="+mn-ea"/>
              </a:rPr>
              <a:t>由各课程目标的达成度加权求和得到。权重</a:t>
            </a:r>
            <a:r>
              <a:rPr lang="el-GR" altLang="zh-CN" sz="2000">
                <a:latin typeface="黑体" panose="02010609060101010101" pitchFamily="49" charset="-122"/>
                <a:ea typeface="黑体" panose="02010609060101010101" pitchFamily="49" charset="-122"/>
              </a:rPr>
              <a:t>ω</a:t>
            </a:r>
            <a:r>
              <a:rPr lang="en-US" altLang="zh-CN" sz="2000" baseline="-25000">
                <a:latin typeface="黑体" panose="02010609060101010101" pitchFamily="49" charset="-122"/>
                <a:ea typeface="黑体" panose="02010609060101010101" pitchFamily="49" charset="-122"/>
              </a:rPr>
              <a:t>jk</a:t>
            </a:r>
            <a:r>
              <a:rPr lang="zh-CN" altLang="en-US" sz="2000">
                <a:latin typeface="+mn-ea"/>
                <a:ea typeface="+mn-ea"/>
              </a:rPr>
              <a:t> 代表课程目标</a:t>
            </a:r>
            <a:r>
              <a:rPr lang="en-US" altLang="zh-CN" sz="2000">
                <a:latin typeface="+mn-ea"/>
                <a:ea typeface="+mn-ea"/>
              </a:rPr>
              <a:t>j</a:t>
            </a:r>
            <a:r>
              <a:rPr lang="zh-CN" altLang="en-US" sz="2000">
                <a:latin typeface="+mn-ea"/>
                <a:ea typeface="+mn-ea"/>
              </a:rPr>
              <a:t>对指标点</a:t>
            </a:r>
            <a:r>
              <a:rPr lang="en-US" altLang="zh-CN" sz="2000">
                <a:latin typeface="+mn-ea"/>
                <a:ea typeface="+mn-ea"/>
              </a:rPr>
              <a:t>k</a:t>
            </a:r>
            <a:r>
              <a:rPr lang="zh-CN" altLang="en-US" sz="2000">
                <a:latin typeface="+mn-ea"/>
                <a:ea typeface="+mn-ea"/>
              </a:rPr>
              <a:t>的贡献比例。</a:t>
            </a:r>
          </a:p>
        </p:txBody>
      </p:sp>
      <p:sp>
        <p:nvSpPr>
          <p:cNvPr id="17" name="文本框 16">
            <a:extLst>
              <a:ext uri="{FF2B5EF4-FFF2-40B4-BE49-F238E27FC236}">
                <a16:creationId xmlns:a16="http://schemas.microsoft.com/office/drawing/2014/main" id="{C02DDF5F-BF63-4E37-8E8C-F24EA53B58B6}"/>
              </a:ext>
            </a:extLst>
          </p:cNvPr>
          <p:cNvSpPr txBox="1"/>
          <p:nvPr/>
        </p:nvSpPr>
        <p:spPr>
          <a:xfrm>
            <a:off x="1283879" y="5776940"/>
            <a:ext cx="9327413" cy="400110"/>
          </a:xfrm>
          <a:prstGeom prst="rect">
            <a:avLst/>
          </a:prstGeom>
          <a:noFill/>
        </p:spPr>
        <p:txBody>
          <a:bodyPr wrap="square">
            <a:spAutoFit/>
          </a:bodyPr>
          <a:lstStyle/>
          <a:p>
            <a:r>
              <a:rPr lang="zh-CN" altLang="en-US" sz="2000">
                <a:latin typeface="+mn-ea"/>
                <a:ea typeface="+mn-ea"/>
              </a:rPr>
              <a:t>这一级实现了从</a:t>
            </a:r>
            <a:r>
              <a:rPr lang="en-US" altLang="zh-CN" sz="2000">
                <a:latin typeface="+mn-ea"/>
                <a:ea typeface="+mn-ea"/>
              </a:rPr>
              <a:t>"</a:t>
            </a:r>
            <a:r>
              <a:rPr lang="zh-CN" altLang="en-US" sz="2000">
                <a:latin typeface="+mn-ea"/>
                <a:ea typeface="+mn-ea"/>
              </a:rPr>
              <a:t>课程内部教学效果</a:t>
            </a:r>
            <a:r>
              <a:rPr lang="en-US" altLang="zh-CN" sz="2000">
                <a:latin typeface="+mn-ea"/>
                <a:ea typeface="+mn-ea"/>
              </a:rPr>
              <a:t>"</a:t>
            </a:r>
            <a:r>
              <a:rPr lang="zh-CN" altLang="en-US" sz="2000">
                <a:latin typeface="+mn-ea"/>
                <a:ea typeface="+mn-ea"/>
              </a:rPr>
              <a:t>到</a:t>
            </a:r>
            <a:r>
              <a:rPr lang="en-US" altLang="zh-CN" sz="2000">
                <a:latin typeface="+mn-ea"/>
                <a:ea typeface="+mn-ea"/>
              </a:rPr>
              <a:t>"</a:t>
            </a:r>
            <a:r>
              <a:rPr lang="zh-CN" altLang="en-US" sz="2000">
                <a:latin typeface="+mn-ea"/>
                <a:ea typeface="+mn-ea"/>
              </a:rPr>
              <a:t>毕业要求指标支撑</a:t>
            </a:r>
            <a:r>
              <a:rPr lang="en-US" altLang="zh-CN" sz="2000">
                <a:latin typeface="+mn-ea"/>
                <a:ea typeface="+mn-ea"/>
              </a:rPr>
              <a:t>"</a:t>
            </a:r>
            <a:r>
              <a:rPr lang="zh-CN" altLang="en-US" sz="2000">
                <a:latin typeface="+mn-ea"/>
                <a:ea typeface="+mn-ea"/>
              </a:rPr>
              <a:t>的语义转换。</a:t>
            </a:r>
          </a:p>
        </p:txBody>
      </p:sp>
      <p:pic>
        <p:nvPicPr>
          <p:cNvPr id="10" name="图片 9" descr="文本&#10;&#10;AI 生成的内容可能不正确。">
            <a:extLst>
              <a:ext uri="{FF2B5EF4-FFF2-40B4-BE49-F238E27FC236}">
                <a16:creationId xmlns:a16="http://schemas.microsoft.com/office/drawing/2014/main" id="{5BE8FF96-0ECF-4318-A0BD-1F552B8705C3}"/>
              </a:ext>
            </a:extLst>
          </p:cNvPr>
          <p:cNvPicPr>
            <a:picLocks noChangeAspect="1"/>
          </p:cNvPicPr>
          <p:nvPr/>
        </p:nvPicPr>
        <p:blipFill>
          <a:blip r:embed="rId6"/>
          <a:stretch>
            <a:fillRect/>
          </a:stretch>
        </p:blipFill>
        <p:spPr>
          <a:xfrm>
            <a:off x="9326632" y="0"/>
            <a:ext cx="2865368" cy="541067"/>
          </a:xfrm>
          <a:prstGeom prst="rect">
            <a:avLst/>
          </a:prstGeom>
        </p:spPr>
      </p:pic>
    </p:spTree>
    <p:extLst>
      <p:ext uri="{BB962C8B-B14F-4D97-AF65-F5344CB8AC3E}">
        <p14:creationId xmlns:p14="http://schemas.microsoft.com/office/powerpoint/2010/main" val="2516053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3" name="Picture 14">
            <a:extLst>
              <a:ext uri="{FF2B5EF4-FFF2-40B4-BE49-F238E27FC236}">
                <a16:creationId xmlns:a16="http://schemas.microsoft.com/office/drawing/2014/main" id="{89402E65-9B33-4345-A569-F036BD9DB2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6809" y="1831754"/>
            <a:ext cx="406400" cy="406400"/>
          </a:xfrm>
          <a:prstGeom prst="rect">
            <a:avLst/>
          </a:prstGeom>
        </p:spPr>
      </p:pic>
      <p:sp>
        <p:nvSpPr>
          <p:cNvPr id="14" name="AutoShape 15">
            <a:extLst>
              <a:ext uri="{FF2B5EF4-FFF2-40B4-BE49-F238E27FC236}">
                <a16:creationId xmlns:a16="http://schemas.microsoft.com/office/drawing/2014/main" id="{FF23DCA2-CBAD-4D15-B00C-2DD540ED9B4B}"/>
              </a:ext>
            </a:extLst>
          </p:cNvPr>
          <p:cNvSpPr/>
          <p:nvPr/>
        </p:nvSpPr>
        <p:spPr>
          <a:xfrm>
            <a:off x="1358309" y="1780954"/>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课程级达成度</a:t>
            </a:r>
            <a:endParaRPr lang="en-US">
              <a:latin typeface="+mn-ea"/>
              <a:ea typeface="+mn-ea"/>
            </a:endParaRPr>
          </a:p>
        </p:txBody>
      </p:sp>
      <p:sp>
        <p:nvSpPr>
          <p:cNvPr id="18" name="文本框 17">
            <a:extLst>
              <a:ext uri="{FF2B5EF4-FFF2-40B4-BE49-F238E27FC236}">
                <a16:creationId xmlns:a16="http://schemas.microsoft.com/office/drawing/2014/main" id="{5991E753-2CD8-47B5-8845-EDD48030F6D1}"/>
              </a:ext>
            </a:extLst>
          </p:cNvPr>
          <p:cNvSpPr txBox="1"/>
          <p:nvPr/>
        </p:nvSpPr>
        <p:spPr>
          <a:xfrm>
            <a:off x="761409" y="2572355"/>
            <a:ext cx="3714898" cy="707886"/>
          </a:xfrm>
          <a:prstGeom prst="rect">
            <a:avLst/>
          </a:prstGeom>
          <a:noFill/>
        </p:spPr>
        <p:txBody>
          <a:bodyPr wrap="square">
            <a:spAutoFit/>
          </a:bodyPr>
          <a:lstStyle/>
          <a:p>
            <a:r>
              <a:rPr lang="zh-CN" altLang="en-US" sz="2000">
                <a:latin typeface="+mn-ea"/>
                <a:ea typeface="+mn-ea"/>
              </a:rPr>
              <a:t>根据大纲表</a:t>
            </a:r>
            <a:r>
              <a:rPr lang="en-US" altLang="zh-CN" sz="2000">
                <a:latin typeface="+mn-ea"/>
                <a:ea typeface="+mn-ea"/>
              </a:rPr>
              <a:t>1-1"</a:t>
            </a:r>
            <a:r>
              <a:rPr lang="zh-CN" altLang="en-US" sz="2000">
                <a:latin typeface="+mn-ea"/>
                <a:ea typeface="+mn-ea"/>
              </a:rPr>
              <a:t>课程目标与毕业要求指标点对应的矩阵关系</a:t>
            </a:r>
            <a:r>
              <a:rPr lang="en-US" altLang="zh-CN" sz="2000">
                <a:latin typeface="+mn-ea"/>
                <a:ea typeface="+mn-ea"/>
              </a:rPr>
              <a:t>"</a:t>
            </a:r>
            <a:r>
              <a:rPr lang="zh-CN" altLang="en-US" sz="2000">
                <a:latin typeface="+mn-ea"/>
                <a:ea typeface="+mn-ea"/>
              </a:rPr>
              <a:t>：</a:t>
            </a:r>
          </a:p>
        </p:txBody>
      </p:sp>
      <p:sp>
        <p:nvSpPr>
          <p:cNvPr id="19" name="文本框 18">
            <a:extLst>
              <a:ext uri="{FF2B5EF4-FFF2-40B4-BE49-F238E27FC236}">
                <a16:creationId xmlns:a16="http://schemas.microsoft.com/office/drawing/2014/main" id="{2DE9955C-839E-4294-B072-1D4C1284AC0D}"/>
              </a:ext>
            </a:extLst>
          </p:cNvPr>
          <p:cNvSpPr txBox="1"/>
          <p:nvPr/>
        </p:nvSpPr>
        <p:spPr>
          <a:xfrm>
            <a:off x="761409" y="5048430"/>
            <a:ext cx="3523512" cy="707886"/>
          </a:xfrm>
          <a:prstGeom prst="rect">
            <a:avLst/>
          </a:prstGeom>
          <a:noFill/>
        </p:spPr>
        <p:txBody>
          <a:bodyPr wrap="square">
            <a:spAutoFit/>
          </a:bodyPr>
          <a:lstStyle/>
          <a:p>
            <a:r>
              <a:rPr lang="zh-CN" altLang="en-US" sz="2000">
                <a:latin typeface="+mn-ea"/>
                <a:ea typeface="+mn-ea"/>
              </a:rPr>
              <a:t>假设第一级计算得出以下班级目标达成度值（示例数据）：</a:t>
            </a:r>
          </a:p>
        </p:txBody>
      </p:sp>
      <p:pic>
        <p:nvPicPr>
          <p:cNvPr id="21" name="图片 20">
            <a:extLst>
              <a:ext uri="{FF2B5EF4-FFF2-40B4-BE49-F238E27FC236}">
                <a16:creationId xmlns:a16="http://schemas.microsoft.com/office/drawing/2014/main" id="{DE97BD58-16A0-4CB8-9042-0085268F958C}"/>
              </a:ext>
            </a:extLst>
          </p:cNvPr>
          <p:cNvPicPr>
            <a:picLocks noChangeAspect="1"/>
          </p:cNvPicPr>
          <p:nvPr/>
        </p:nvPicPr>
        <p:blipFill>
          <a:blip r:embed="rId5"/>
          <a:stretch>
            <a:fillRect/>
          </a:stretch>
        </p:blipFill>
        <p:spPr>
          <a:xfrm>
            <a:off x="4476307" y="1455627"/>
            <a:ext cx="7407919" cy="2642190"/>
          </a:xfrm>
          <a:prstGeom prst="rect">
            <a:avLst/>
          </a:prstGeom>
        </p:spPr>
      </p:pic>
      <p:pic>
        <p:nvPicPr>
          <p:cNvPr id="23" name="图片 22">
            <a:extLst>
              <a:ext uri="{FF2B5EF4-FFF2-40B4-BE49-F238E27FC236}">
                <a16:creationId xmlns:a16="http://schemas.microsoft.com/office/drawing/2014/main" id="{06E8E9B5-F8DB-48BD-A891-FC05A00DF8DF}"/>
              </a:ext>
            </a:extLst>
          </p:cNvPr>
          <p:cNvPicPr>
            <a:picLocks noChangeAspect="1"/>
          </p:cNvPicPr>
          <p:nvPr/>
        </p:nvPicPr>
        <p:blipFill>
          <a:blip r:embed="rId6"/>
          <a:stretch>
            <a:fillRect/>
          </a:stretch>
        </p:blipFill>
        <p:spPr>
          <a:xfrm>
            <a:off x="4518839" y="4489283"/>
            <a:ext cx="7421270" cy="2224412"/>
          </a:xfrm>
          <a:prstGeom prst="rect">
            <a:avLst/>
          </a:prstGeom>
        </p:spPr>
      </p:pic>
      <p:pic>
        <p:nvPicPr>
          <p:cNvPr id="10" name="图片 9" descr="文本&#10;&#10;AI 生成的内容可能不正确。">
            <a:extLst>
              <a:ext uri="{FF2B5EF4-FFF2-40B4-BE49-F238E27FC236}">
                <a16:creationId xmlns:a16="http://schemas.microsoft.com/office/drawing/2014/main" id="{40247442-AD50-4221-A7A3-47BB62E3DEAF}"/>
              </a:ext>
            </a:extLst>
          </p:cNvPr>
          <p:cNvPicPr>
            <a:picLocks noChangeAspect="1"/>
          </p:cNvPicPr>
          <p:nvPr/>
        </p:nvPicPr>
        <p:blipFill>
          <a:blip r:embed="rId7"/>
          <a:stretch>
            <a:fillRect/>
          </a:stretch>
        </p:blipFill>
        <p:spPr>
          <a:xfrm>
            <a:off x="9326632" y="0"/>
            <a:ext cx="2865368" cy="541067"/>
          </a:xfrm>
          <a:prstGeom prst="rect">
            <a:avLst/>
          </a:prstGeom>
        </p:spPr>
      </p:pic>
    </p:spTree>
    <p:extLst>
      <p:ext uri="{BB962C8B-B14F-4D97-AF65-F5344CB8AC3E}">
        <p14:creationId xmlns:p14="http://schemas.microsoft.com/office/powerpoint/2010/main" val="3352313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3" name="Picture 14">
            <a:extLst>
              <a:ext uri="{FF2B5EF4-FFF2-40B4-BE49-F238E27FC236}">
                <a16:creationId xmlns:a16="http://schemas.microsoft.com/office/drawing/2014/main" id="{89402E65-9B33-4345-A569-F036BD9DB2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6809" y="1831754"/>
            <a:ext cx="406400" cy="406400"/>
          </a:xfrm>
          <a:prstGeom prst="rect">
            <a:avLst/>
          </a:prstGeom>
        </p:spPr>
      </p:pic>
      <p:sp>
        <p:nvSpPr>
          <p:cNvPr id="14" name="AutoShape 15">
            <a:extLst>
              <a:ext uri="{FF2B5EF4-FFF2-40B4-BE49-F238E27FC236}">
                <a16:creationId xmlns:a16="http://schemas.microsoft.com/office/drawing/2014/main" id="{FF23DCA2-CBAD-4D15-B00C-2DD540ED9B4B}"/>
              </a:ext>
            </a:extLst>
          </p:cNvPr>
          <p:cNvSpPr/>
          <p:nvPr/>
        </p:nvSpPr>
        <p:spPr>
          <a:xfrm>
            <a:off x="1358309" y="1780954"/>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课程级达成度</a:t>
            </a:r>
            <a:endParaRPr lang="en-US">
              <a:latin typeface="+mn-ea"/>
              <a:ea typeface="+mn-ea"/>
            </a:endParaRPr>
          </a:p>
        </p:txBody>
      </p:sp>
      <p:pic>
        <p:nvPicPr>
          <p:cNvPr id="3" name="图片 2" descr="文本&#10;&#10;AI 生成的内容可能不正确。">
            <a:extLst>
              <a:ext uri="{FF2B5EF4-FFF2-40B4-BE49-F238E27FC236}">
                <a16:creationId xmlns:a16="http://schemas.microsoft.com/office/drawing/2014/main" id="{DC2ADDB0-D075-47B5-ACDC-1A6B57525F6A}"/>
              </a:ext>
            </a:extLst>
          </p:cNvPr>
          <p:cNvPicPr>
            <a:picLocks noChangeAspect="1"/>
          </p:cNvPicPr>
          <p:nvPr/>
        </p:nvPicPr>
        <p:blipFill>
          <a:blip r:embed="rId5"/>
          <a:stretch>
            <a:fillRect/>
          </a:stretch>
        </p:blipFill>
        <p:spPr>
          <a:xfrm>
            <a:off x="1358309" y="3085435"/>
            <a:ext cx="7998381" cy="2801902"/>
          </a:xfrm>
          <a:prstGeom prst="rect">
            <a:avLst/>
          </a:prstGeom>
        </p:spPr>
      </p:pic>
      <p:pic>
        <p:nvPicPr>
          <p:cNvPr id="12" name="图片 11" descr="图示, 文本, 信件&#10;&#10;AI 生成的内容可能不正确。">
            <a:extLst>
              <a:ext uri="{FF2B5EF4-FFF2-40B4-BE49-F238E27FC236}">
                <a16:creationId xmlns:a16="http://schemas.microsoft.com/office/drawing/2014/main" id="{8C439CFA-ED0B-4305-A251-C6AA67981646}"/>
              </a:ext>
            </a:extLst>
          </p:cNvPr>
          <p:cNvPicPr>
            <a:picLocks noChangeAspect="1"/>
          </p:cNvPicPr>
          <p:nvPr/>
        </p:nvPicPr>
        <p:blipFill>
          <a:blip r:embed="rId6"/>
          <a:stretch>
            <a:fillRect/>
          </a:stretch>
        </p:blipFill>
        <p:spPr>
          <a:xfrm>
            <a:off x="7067992" y="1677438"/>
            <a:ext cx="4654698" cy="1309133"/>
          </a:xfrm>
          <a:prstGeom prst="rect">
            <a:avLst/>
          </a:prstGeom>
        </p:spPr>
      </p:pic>
      <p:pic>
        <p:nvPicPr>
          <p:cNvPr id="9" name="图片 8" descr="文本&#10;&#10;AI 生成的内容可能不正确。">
            <a:extLst>
              <a:ext uri="{FF2B5EF4-FFF2-40B4-BE49-F238E27FC236}">
                <a16:creationId xmlns:a16="http://schemas.microsoft.com/office/drawing/2014/main" id="{A89C2045-3335-41F0-B258-B50551EDF272}"/>
              </a:ext>
            </a:extLst>
          </p:cNvPr>
          <p:cNvPicPr>
            <a:picLocks noChangeAspect="1"/>
          </p:cNvPicPr>
          <p:nvPr/>
        </p:nvPicPr>
        <p:blipFill>
          <a:blip r:embed="rId7"/>
          <a:stretch>
            <a:fillRect/>
          </a:stretch>
        </p:blipFill>
        <p:spPr>
          <a:xfrm>
            <a:off x="9326632" y="0"/>
            <a:ext cx="2865368" cy="541067"/>
          </a:xfrm>
          <a:prstGeom prst="rect">
            <a:avLst/>
          </a:prstGeom>
        </p:spPr>
      </p:pic>
    </p:spTree>
    <p:extLst>
      <p:ext uri="{BB962C8B-B14F-4D97-AF65-F5344CB8AC3E}">
        <p14:creationId xmlns:p14="http://schemas.microsoft.com/office/powerpoint/2010/main" val="1952363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3" name="Picture 21">
            <a:extLst>
              <a:ext uri="{FF2B5EF4-FFF2-40B4-BE49-F238E27FC236}">
                <a16:creationId xmlns:a16="http://schemas.microsoft.com/office/drawing/2014/main" id="{78DE1411-C945-4D92-BAD8-6B23DFF923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831754"/>
            <a:ext cx="406400" cy="406400"/>
          </a:xfrm>
          <a:prstGeom prst="rect">
            <a:avLst/>
          </a:prstGeom>
        </p:spPr>
      </p:pic>
      <p:sp>
        <p:nvSpPr>
          <p:cNvPr id="14" name="AutoShape 22">
            <a:extLst>
              <a:ext uri="{FF2B5EF4-FFF2-40B4-BE49-F238E27FC236}">
                <a16:creationId xmlns:a16="http://schemas.microsoft.com/office/drawing/2014/main" id="{4120D8FA-3283-43A5-8097-D8B3DDDF0579}"/>
              </a:ext>
            </a:extLst>
          </p:cNvPr>
          <p:cNvSpPr/>
          <p:nvPr/>
        </p:nvSpPr>
        <p:spPr>
          <a:xfrm>
            <a:off x="1333500" y="1780954"/>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专业级达成度</a:t>
            </a:r>
            <a:endParaRPr lang="en-US">
              <a:latin typeface="+mn-ea"/>
              <a:ea typeface="+mn-ea"/>
            </a:endParaRPr>
          </a:p>
        </p:txBody>
      </p:sp>
      <p:pic>
        <p:nvPicPr>
          <p:cNvPr id="3" name="图片 2" descr="图示&#10;&#10;AI 生成的内容可能不正确。">
            <a:extLst>
              <a:ext uri="{FF2B5EF4-FFF2-40B4-BE49-F238E27FC236}">
                <a16:creationId xmlns:a16="http://schemas.microsoft.com/office/drawing/2014/main" id="{F9D81F9A-5B55-4DED-BF00-9153D2662592}"/>
              </a:ext>
            </a:extLst>
          </p:cNvPr>
          <p:cNvPicPr>
            <a:picLocks noChangeAspect="1"/>
          </p:cNvPicPr>
          <p:nvPr/>
        </p:nvPicPr>
        <p:blipFill>
          <a:blip r:embed="rId5"/>
          <a:stretch>
            <a:fillRect/>
          </a:stretch>
        </p:blipFill>
        <p:spPr>
          <a:xfrm>
            <a:off x="965200" y="3483678"/>
            <a:ext cx="6581681" cy="1448684"/>
          </a:xfrm>
          <a:prstGeom prst="rect">
            <a:avLst/>
          </a:prstGeom>
        </p:spPr>
      </p:pic>
      <p:sp>
        <p:nvSpPr>
          <p:cNvPr id="15" name="文本框 14">
            <a:extLst>
              <a:ext uri="{FF2B5EF4-FFF2-40B4-BE49-F238E27FC236}">
                <a16:creationId xmlns:a16="http://schemas.microsoft.com/office/drawing/2014/main" id="{A95DE3BE-F2CF-445B-BCEA-14C407F37DD5}"/>
              </a:ext>
            </a:extLst>
          </p:cNvPr>
          <p:cNvSpPr txBox="1"/>
          <p:nvPr/>
        </p:nvSpPr>
        <p:spPr>
          <a:xfrm>
            <a:off x="1248438" y="2451436"/>
            <a:ext cx="10415477" cy="707886"/>
          </a:xfrm>
          <a:prstGeom prst="rect">
            <a:avLst/>
          </a:prstGeom>
          <a:noFill/>
        </p:spPr>
        <p:txBody>
          <a:bodyPr wrap="square">
            <a:spAutoFit/>
          </a:bodyPr>
          <a:lstStyle/>
          <a:p>
            <a:r>
              <a:rPr lang="zh-CN" altLang="en-US" sz="2000">
                <a:latin typeface="+mn-ea"/>
                <a:ea typeface="+mn-ea"/>
              </a:rPr>
              <a:t>专业级达成度是最终产出，代表某一届学生在某项毕业要求指标点上的整体达成水平。它通过宏观支撑矩阵中各课程的权重，将所有相关课程的贡献加权汇总。</a:t>
            </a:r>
          </a:p>
        </p:txBody>
      </p:sp>
      <p:sp>
        <p:nvSpPr>
          <p:cNvPr id="16" name="文本框 15">
            <a:extLst>
              <a:ext uri="{FF2B5EF4-FFF2-40B4-BE49-F238E27FC236}">
                <a16:creationId xmlns:a16="http://schemas.microsoft.com/office/drawing/2014/main" id="{3DA06447-C2C6-4EBF-A68B-A03D77EF1557}"/>
              </a:ext>
            </a:extLst>
          </p:cNvPr>
          <p:cNvSpPr txBox="1"/>
          <p:nvPr/>
        </p:nvSpPr>
        <p:spPr>
          <a:xfrm>
            <a:off x="1333500" y="5207337"/>
            <a:ext cx="8427188" cy="1015663"/>
          </a:xfrm>
          <a:prstGeom prst="rect">
            <a:avLst/>
          </a:prstGeom>
          <a:noFill/>
        </p:spPr>
        <p:txBody>
          <a:bodyPr wrap="square">
            <a:spAutoFit/>
          </a:bodyPr>
          <a:lstStyle/>
          <a:p>
            <a:r>
              <a:rPr lang="zh-CN" altLang="en-US" sz="2000">
                <a:latin typeface="+mn-ea"/>
                <a:ea typeface="+mn-ea"/>
              </a:rPr>
              <a:t>第二级的</a:t>
            </a:r>
            <a:r>
              <a:rPr lang="el-GR" altLang="zh-CN" sz="2000">
                <a:solidFill>
                  <a:srgbClr val="FF0000"/>
                </a:solidFill>
                <a:latin typeface="+mn-ea"/>
                <a:ea typeface="+mn-ea"/>
              </a:rPr>
              <a:t>ω</a:t>
            </a:r>
            <a:r>
              <a:rPr lang="zh-CN" altLang="en-US" sz="2000">
                <a:latin typeface="+mn-ea"/>
                <a:ea typeface="+mn-ea"/>
              </a:rPr>
              <a:t>是课程</a:t>
            </a:r>
            <a:r>
              <a:rPr lang="zh-CN" altLang="en-US" sz="2000">
                <a:solidFill>
                  <a:srgbClr val="FF0000"/>
                </a:solidFill>
                <a:latin typeface="+mn-ea"/>
                <a:ea typeface="+mn-ea"/>
              </a:rPr>
              <a:t>内部</a:t>
            </a:r>
            <a:r>
              <a:rPr lang="zh-CN" altLang="en-US" sz="2000">
                <a:latin typeface="+mn-ea"/>
                <a:ea typeface="+mn-ea"/>
              </a:rPr>
              <a:t>目标之间的贡献比例（</a:t>
            </a:r>
            <a:r>
              <a:rPr lang="zh-CN" altLang="en-US" sz="2000">
                <a:solidFill>
                  <a:srgbClr val="FF0000"/>
                </a:solidFill>
                <a:latin typeface="+mn-ea"/>
                <a:ea typeface="+mn-ea"/>
              </a:rPr>
              <a:t>微观</a:t>
            </a:r>
            <a:r>
              <a:rPr lang="zh-CN" altLang="en-US" sz="2000">
                <a:latin typeface="+mn-ea"/>
                <a:ea typeface="+mn-ea"/>
              </a:rPr>
              <a:t>），由</a:t>
            </a:r>
            <a:r>
              <a:rPr lang="zh-CN" altLang="en-US" sz="2000">
                <a:solidFill>
                  <a:srgbClr val="FF0000"/>
                </a:solidFill>
                <a:latin typeface="+mn-ea"/>
                <a:ea typeface="+mn-ea"/>
              </a:rPr>
              <a:t>主讲教师</a:t>
            </a:r>
            <a:r>
              <a:rPr lang="zh-CN" altLang="en-US" sz="2000">
                <a:latin typeface="+mn-ea"/>
                <a:ea typeface="+mn-ea"/>
              </a:rPr>
              <a:t>设定</a:t>
            </a:r>
            <a:endParaRPr lang="en-US" altLang="zh-CN" sz="2000">
              <a:latin typeface="+mn-ea"/>
              <a:ea typeface="+mn-ea"/>
            </a:endParaRPr>
          </a:p>
          <a:p>
            <a:r>
              <a:rPr lang="zh-CN" altLang="en-US" sz="2000">
                <a:latin typeface="+mn-ea"/>
                <a:ea typeface="+mn-ea"/>
              </a:rPr>
              <a:t> </a:t>
            </a:r>
            <a:endParaRPr lang="en-US" altLang="zh-CN" sz="2000">
              <a:latin typeface="+mn-ea"/>
              <a:ea typeface="+mn-ea"/>
            </a:endParaRPr>
          </a:p>
          <a:p>
            <a:r>
              <a:rPr lang="zh-CN" altLang="en-US" sz="2000">
                <a:latin typeface="+mn-ea"/>
                <a:ea typeface="+mn-ea"/>
              </a:rPr>
              <a:t>第三级的</a:t>
            </a:r>
            <a:r>
              <a:rPr lang="en-US" altLang="zh-CN" sz="2000">
                <a:solidFill>
                  <a:srgbClr val="FF0000"/>
                </a:solidFill>
                <a:latin typeface="+mn-ea"/>
                <a:ea typeface="+mn-ea"/>
              </a:rPr>
              <a:t>W</a:t>
            </a:r>
            <a:r>
              <a:rPr lang="zh-CN" altLang="en-US" sz="2000">
                <a:latin typeface="+mn-ea"/>
                <a:ea typeface="+mn-ea"/>
              </a:rPr>
              <a:t>是课程</a:t>
            </a:r>
            <a:r>
              <a:rPr lang="zh-CN" altLang="en-US" sz="2000">
                <a:solidFill>
                  <a:srgbClr val="FF0000"/>
                </a:solidFill>
                <a:latin typeface="+mn-ea"/>
                <a:ea typeface="+mn-ea"/>
              </a:rPr>
              <a:t>之间</a:t>
            </a:r>
            <a:r>
              <a:rPr lang="zh-CN" altLang="en-US" sz="2000">
                <a:latin typeface="+mn-ea"/>
                <a:ea typeface="+mn-ea"/>
              </a:rPr>
              <a:t>的支撑强度比例（</a:t>
            </a:r>
            <a:r>
              <a:rPr lang="zh-CN" altLang="en-US" sz="2000">
                <a:solidFill>
                  <a:srgbClr val="FF0000"/>
                </a:solidFill>
                <a:latin typeface="+mn-ea"/>
                <a:ea typeface="+mn-ea"/>
              </a:rPr>
              <a:t>宏观</a:t>
            </a:r>
            <a:r>
              <a:rPr lang="zh-CN" altLang="en-US" sz="2000">
                <a:latin typeface="+mn-ea"/>
                <a:ea typeface="+mn-ea"/>
              </a:rPr>
              <a:t>），由</a:t>
            </a:r>
            <a:r>
              <a:rPr lang="zh-CN" altLang="en-US" sz="2000">
                <a:solidFill>
                  <a:srgbClr val="FF0000"/>
                </a:solidFill>
                <a:latin typeface="+mn-ea"/>
                <a:ea typeface="+mn-ea"/>
              </a:rPr>
              <a:t>专业负责人</a:t>
            </a:r>
            <a:r>
              <a:rPr lang="zh-CN" altLang="en-US" sz="2000">
                <a:latin typeface="+mn-ea"/>
                <a:ea typeface="+mn-ea"/>
              </a:rPr>
              <a:t>设定</a:t>
            </a:r>
          </a:p>
        </p:txBody>
      </p:sp>
      <p:pic>
        <p:nvPicPr>
          <p:cNvPr id="9" name="图片 8" descr="文本&#10;&#10;AI 生成的内容可能不正确。">
            <a:extLst>
              <a:ext uri="{FF2B5EF4-FFF2-40B4-BE49-F238E27FC236}">
                <a16:creationId xmlns:a16="http://schemas.microsoft.com/office/drawing/2014/main" id="{711B66D2-760B-4E17-A408-810C01AA8CEF}"/>
              </a:ext>
            </a:extLst>
          </p:cNvPr>
          <p:cNvPicPr>
            <a:picLocks noChangeAspect="1"/>
          </p:cNvPicPr>
          <p:nvPr/>
        </p:nvPicPr>
        <p:blipFill>
          <a:blip r:embed="rId6"/>
          <a:stretch>
            <a:fillRect/>
          </a:stretch>
        </p:blipFill>
        <p:spPr>
          <a:xfrm>
            <a:off x="9326632" y="0"/>
            <a:ext cx="2865368" cy="541067"/>
          </a:xfrm>
          <a:prstGeom prst="rect">
            <a:avLst/>
          </a:prstGeom>
        </p:spPr>
      </p:pic>
    </p:spTree>
    <p:extLst>
      <p:ext uri="{BB962C8B-B14F-4D97-AF65-F5344CB8AC3E}">
        <p14:creationId xmlns:p14="http://schemas.microsoft.com/office/powerpoint/2010/main" val="1136774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933873DE-9522-43A5-A435-5F13E91CD1AD}"/>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03 核心计算模型：</a:t>
            </a:r>
            <a:r>
              <a:rPr lang="zh-CN" altLang="en-US" sz="3200" b="1" i="0" u="none" strike="noStrike">
                <a:solidFill>
                  <a:srgbClr val="374151"/>
                </a:solidFill>
                <a:latin typeface="+mn-ea"/>
                <a:ea typeface="+mn-ea"/>
                <a:cs typeface="Noto Sans SC"/>
                <a:sym typeface="Noto Sans SC"/>
              </a:rPr>
              <a:t>三层权重计算模型</a:t>
            </a:r>
            <a:endParaRPr lang="en-US" sz="1100">
              <a:latin typeface="+mn-ea"/>
              <a:ea typeface="+mn-ea"/>
            </a:endParaRPr>
          </a:p>
        </p:txBody>
      </p:sp>
      <p:sp>
        <p:nvSpPr>
          <p:cNvPr id="8" name="AutoShape 6">
            <a:extLst>
              <a:ext uri="{FF2B5EF4-FFF2-40B4-BE49-F238E27FC236}">
                <a16:creationId xmlns:a16="http://schemas.microsoft.com/office/drawing/2014/main" id="{2ED92D61-F097-4040-BD15-F34A46C541EC}"/>
              </a:ext>
            </a:extLst>
          </p:cNvPr>
          <p:cNvSpPr/>
          <p:nvPr/>
        </p:nvSpPr>
        <p:spPr>
          <a:xfrm>
            <a:off x="762000" y="1455627"/>
            <a:ext cx="3302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3" name="Picture 21">
            <a:extLst>
              <a:ext uri="{FF2B5EF4-FFF2-40B4-BE49-F238E27FC236}">
                <a16:creationId xmlns:a16="http://schemas.microsoft.com/office/drawing/2014/main" id="{78DE1411-C945-4D92-BAD8-6B23DFF923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831754"/>
            <a:ext cx="406400" cy="406400"/>
          </a:xfrm>
          <a:prstGeom prst="rect">
            <a:avLst/>
          </a:prstGeom>
        </p:spPr>
      </p:pic>
      <p:sp>
        <p:nvSpPr>
          <p:cNvPr id="14" name="AutoShape 22">
            <a:extLst>
              <a:ext uri="{FF2B5EF4-FFF2-40B4-BE49-F238E27FC236}">
                <a16:creationId xmlns:a16="http://schemas.microsoft.com/office/drawing/2014/main" id="{4120D8FA-3283-43A5-8097-D8B3DDDF0579}"/>
              </a:ext>
            </a:extLst>
          </p:cNvPr>
          <p:cNvSpPr/>
          <p:nvPr/>
        </p:nvSpPr>
        <p:spPr>
          <a:xfrm>
            <a:off x="1333500" y="1780954"/>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F2937"/>
                </a:solidFill>
                <a:latin typeface="+mn-ea"/>
                <a:ea typeface="+mn-ea"/>
                <a:cs typeface="Noto Sans SC"/>
                <a:sym typeface="Noto Sans SC"/>
              </a:rPr>
              <a:t>专业级达成度</a:t>
            </a:r>
            <a:endParaRPr lang="en-US">
              <a:latin typeface="+mn-ea"/>
              <a:ea typeface="+mn-ea"/>
            </a:endParaRPr>
          </a:p>
        </p:txBody>
      </p:sp>
      <p:pic>
        <p:nvPicPr>
          <p:cNvPr id="4" name="图片 3" descr="表格&#10;&#10;AI 生成的内容可能不正确。">
            <a:extLst>
              <a:ext uri="{FF2B5EF4-FFF2-40B4-BE49-F238E27FC236}">
                <a16:creationId xmlns:a16="http://schemas.microsoft.com/office/drawing/2014/main" id="{8C9E4674-9CBB-4A0A-AC54-E769F036992A}"/>
              </a:ext>
            </a:extLst>
          </p:cNvPr>
          <p:cNvPicPr>
            <a:picLocks noChangeAspect="1"/>
          </p:cNvPicPr>
          <p:nvPr/>
        </p:nvPicPr>
        <p:blipFill>
          <a:blip r:embed="rId5"/>
          <a:stretch>
            <a:fillRect/>
          </a:stretch>
        </p:blipFill>
        <p:spPr>
          <a:xfrm>
            <a:off x="4619688" y="2958269"/>
            <a:ext cx="7182452" cy="2575381"/>
          </a:xfrm>
          <a:prstGeom prst="rect">
            <a:avLst/>
          </a:prstGeom>
        </p:spPr>
      </p:pic>
      <p:sp>
        <p:nvSpPr>
          <p:cNvPr id="12" name="文本框 11">
            <a:extLst>
              <a:ext uri="{FF2B5EF4-FFF2-40B4-BE49-F238E27FC236}">
                <a16:creationId xmlns:a16="http://schemas.microsoft.com/office/drawing/2014/main" id="{078B9ED7-F5C3-4880-9A19-9A2117B33E1C}"/>
              </a:ext>
            </a:extLst>
          </p:cNvPr>
          <p:cNvSpPr txBox="1"/>
          <p:nvPr/>
        </p:nvSpPr>
        <p:spPr>
          <a:xfrm>
            <a:off x="1047011" y="2522333"/>
            <a:ext cx="3471826" cy="4093428"/>
          </a:xfrm>
          <a:prstGeom prst="rect">
            <a:avLst/>
          </a:prstGeom>
          <a:noFill/>
        </p:spPr>
        <p:txBody>
          <a:bodyPr wrap="square">
            <a:spAutoFit/>
          </a:bodyPr>
          <a:lstStyle/>
          <a:p>
            <a:r>
              <a:rPr lang="zh-CN" altLang="en-US" sz="2000">
                <a:latin typeface="+mn-ea"/>
                <a:ea typeface="+mn-ea"/>
              </a:rPr>
              <a:t>根据</a:t>
            </a:r>
            <a:r>
              <a:rPr lang="en-US" altLang="zh-CN" sz="2000">
                <a:latin typeface="+mn-ea"/>
                <a:ea typeface="+mn-ea"/>
              </a:rPr>
              <a:t>"</a:t>
            </a:r>
            <a:r>
              <a:rPr lang="zh-CN" altLang="en-US" sz="2000">
                <a:latin typeface="+mn-ea"/>
                <a:ea typeface="+mn-ea"/>
              </a:rPr>
              <a:t>计算机科学与技术课程与毕业要求指标点支撑矩阵</a:t>
            </a:r>
            <a:r>
              <a:rPr lang="en-US" altLang="zh-CN" sz="2000">
                <a:latin typeface="+mn-ea"/>
                <a:ea typeface="+mn-ea"/>
              </a:rPr>
              <a:t>.xlsx"</a:t>
            </a:r>
            <a:r>
              <a:rPr lang="zh-CN" altLang="en-US" sz="2000">
                <a:latin typeface="+mn-ea"/>
                <a:ea typeface="+mn-ea"/>
              </a:rPr>
              <a:t>，专业共设</a:t>
            </a:r>
            <a:r>
              <a:rPr lang="en-US" altLang="zh-CN" sz="2000">
                <a:latin typeface="+mn-ea"/>
                <a:ea typeface="+mn-ea"/>
              </a:rPr>
              <a:t>8</a:t>
            </a:r>
            <a:r>
              <a:rPr lang="zh-CN" altLang="en-US" sz="2000">
                <a:latin typeface="+mn-ea"/>
                <a:ea typeface="+mn-ea"/>
              </a:rPr>
              <a:t>项毕业要求，分解为</a:t>
            </a:r>
            <a:r>
              <a:rPr lang="en-US" altLang="zh-CN" sz="2000">
                <a:latin typeface="+mn-ea"/>
                <a:ea typeface="+mn-ea"/>
              </a:rPr>
              <a:t>24</a:t>
            </a:r>
            <a:r>
              <a:rPr lang="zh-CN" altLang="en-US" sz="2000">
                <a:latin typeface="+mn-ea"/>
                <a:ea typeface="+mn-ea"/>
              </a:rPr>
              <a:t>个二级 指标点（</a:t>
            </a:r>
            <a:r>
              <a:rPr lang="en-US" altLang="zh-CN" sz="2000">
                <a:latin typeface="+mn-ea"/>
                <a:ea typeface="+mn-ea"/>
              </a:rPr>
              <a:t>1-1 </a:t>
            </a:r>
            <a:r>
              <a:rPr lang="zh-CN" altLang="en-US" sz="2000">
                <a:latin typeface="+mn-ea"/>
                <a:ea typeface="+mn-ea"/>
              </a:rPr>
              <a:t>至 </a:t>
            </a:r>
            <a:r>
              <a:rPr lang="en-US" altLang="zh-CN" sz="2000">
                <a:latin typeface="+mn-ea"/>
                <a:ea typeface="+mn-ea"/>
              </a:rPr>
              <a:t>8-3</a:t>
            </a:r>
            <a:r>
              <a:rPr lang="zh-CN" altLang="en-US" sz="2000">
                <a:latin typeface="+mn-ea"/>
                <a:ea typeface="+mn-ea"/>
              </a:rPr>
              <a:t>）。 </a:t>
            </a:r>
            <a:endParaRPr lang="en-US" altLang="zh-CN" sz="2000">
              <a:latin typeface="+mn-ea"/>
              <a:ea typeface="+mn-ea"/>
            </a:endParaRPr>
          </a:p>
          <a:p>
            <a:r>
              <a:rPr lang="zh-CN" altLang="en-US" sz="2000">
                <a:latin typeface="+mn-ea"/>
                <a:ea typeface="+mn-ea"/>
              </a:rPr>
              <a:t>矩阵中的课程以 </a:t>
            </a:r>
            <a:r>
              <a:rPr lang="en-US" altLang="zh-CN" sz="2000">
                <a:latin typeface="+mn-ea"/>
                <a:ea typeface="+mn-ea"/>
              </a:rPr>
              <a:t>H</a:t>
            </a:r>
            <a:r>
              <a:rPr lang="zh-CN" altLang="en-US" sz="2000">
                <a:latin typeface="+mn-ea"/>
                <a:ea typeface="+mn-ea"/>
              </a:rPr>
              <a:t>（高支撑）、</a:t>
            </a:r>
            <a:r>
              <a:rPr lang="en-US" altLang="zh-CN" sz="2000">
                <a:latin typeface="+mn-ea"/>
                <a:ea typeface="+mn-ea"/>
              </a:rPr>
              <a:t>M</a:t>
            </a:r>
            <a:r>
              <a:rPr lang="zh-CN" altLang="en-US" sz="2000">
                <a:latin typeface="+mn-ea"/>
                <a:ea typeface="+mn-ea"/>
              </a:rPr>
              <a:t>（中等支撑）、</a:t>
            </a:r>
            <a:r>
              <a:rPr lang="en-US" altLang="zh-CN" sz="2000">
                <a:latin typeface="+mn-ea"/>
                <a:ea typeface="+mn-ea"/>
              </a:rPr>
              <a:t>L</a:t>
            </a:r>
            <a:r>
              <a:rPr lang="zh-CN" altLang="en-US" sz="2000">
                <a:latin typeface="+mn-ea"/>
                <a:ea typeface="+mn-ea"/>
              </a:rPr>
              <a:t>（低支撑）标记对指标点的支撑强度。</a:t>
            </a:r>
            <a:endParaRPr lang="en-US" altLang="zh-CN" sz="2000">
              <a:latin typeface="+mn-ea"/>
              <a:ea typeface="+mn-ea"/>
            </a:endParaRPr>
          </a:p>
          <a:p>
            <a:r>
              <a:rPr lang="zh-CN" altLang="en-US" sz="2000">
                <a:latin typeface="+mn-ea"/>
                <a:ea typeface="+mn-ea"/>
              </a:rPr>
              <a:t>系统要求专业 负责人将这些定性标记转化为定量的总支撑权重 ，并确保每个指标点下的权重之和为 </a:t>
            </a:r>
            <a:r>
              <a:rPr lang="en-US" altLang="zh-CN" sz="2000">
                <a:latin typeface="+mn-ea"/>
                <a:ea typeface="+mn-ea"/>
              </a:rPr>
              <a:t>1.0</a:t>
            </a:r>
            <a:r>
              <a:rPr lang="zh-CN" altLang="en-US" sz="2000">
                <a:latin typeface="+mn-ea"/>
                <a:ea typeface="+mn-ea"/>
              </a:rPr>
              <a:t>。</a:t>
            </a:r>
          </a:p>
        </p:txBody>
      </p:sp>
      <p:pic>
        <p:nvPicPr>
          <p:cNvPr id="9" name="图片 8" descr="文本&#10;&#10;AI 生成的内容可能不正确。">
            <a:extLst>
              <a:ext uri="{FF2B5EF4-FFF2-40B4-BE49-F238E27FC236}">
                <a16:creationId xmlns:a16="http://schemas.microsoft.com/office/drawing/2014/main" id="{F0D2C55E-6197-472C-9EBE-00A6ED6309FD}"/>
              </a:ext>
            </a:extLst>
          </p:cNvPr>
          <p:cNvPicPr>
            <a:picLocks noChangeAspect="1"/>
          </p:cNvPicPr>
          <p:nvPr/>
        </p:nvPicPr>
        <p:blipFill>
          <a:blip r:embed="rId6"/>
          <a:stretch>
            <a:fillRect/>
          </a:stretch>
        </p:blipFill>
        <p:spPr>
          <a:xfrm>
            <a:off x="9326632" y="0"/>
            <a:ext cx="2865368" cy="541067"/>
          </a:xfrm>
          <a:prstGeom prst="rect">
            <a:avLst/>
          </a:prstGeom>
        </p:spPr>
      </p:pic>
    </p:spTree>
    <p:extLst>
      <p:ext uri="{BB962C8B-B14F-4D97-AF65-F5344CB8AC3E}">
        <p14:creationId xmlns:p14="http://schemas.microsoft.com/office/powerpoint/2010/main" val="1709696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2702442" y="2160770"/>
            <a:ext cx="6787116" cy="2198577"/>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5" name="AutoShape 5"/>
          <p:cNvSpPr/>
          <p:nvPr/>
        </p:nvSpPr>
        <p:spPr>
          <a:xfrm>
            <a:off x="3171016" y="2771551"/>
            <a:ext cx="1472019"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a:solidFill>
                  <a:srgbClr val="2DD4BF"/>
                </a:solidFill>
                <a:latin typeface="+mn-ea"/>
                <a:ea typeface="+mn-ea"/>
                <a:cs typeface="Noto Sans SC"/>
                <a:sym typeface="Noto Sans SC"/>
              </a:rPr>
              <a:t>04</a:t>
            </a:r>
            <a:endParaRPr lang="en-US" sz="2400">
              <a:latin typeface="+mn-ea"/>
              <a:ea typeface="+mn-ea"/>
            </a:endParaRPr>
          </a:p>
        </p:txBody>
      </p:sp>
      <p:sp>
        <p:nvSpPr>
          <p:cNvPr id="22" name="AutoShape 9">
            <a:extLst>
              <a:ext uri="{FF2B5EF4-FFF2-40B4-BE49-F238E27FC236}">
                <a16:creationId xmlns:a16="http://schemas.microsoft.com/office/drawing/2014/main" id="{1813EBCE-F925-4982-B8E4-B645FD720047}"/>
              </a:ext>
            </a:extLst>
          </p:cNvPr>
          <p:cNvSpPr/>
          <p:nvPr/>
        </p:nvSpPr>
        <p:spPr>
          <a:xfrm>
            <a:off x="5845254" y="2771551"/>
            <a:ext cx="4846523"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3200" b="1">
                <a:solidFill>
                  <a:srgbClr val="374151"/>
                </a:solidFill>
                <a:latin typeface="+mn-ea"/>
                <a:ea typeface="+mn-ea"/>
                <a:cs typeface="Noto Sans SC"/>
                <a:sym typeface="Noto Sans SC"/>
              </a:rPr>
              <a:t>数据库设计</a:t>
            </a:r>
          </a:p>
        </p:txBody>
      </p:sp>
      <p:pic>
        <p:nvPicPr>
          <p:cNvPr id="6" name="图片 5" descr="文本&#10;&#10;AI 生成的内容可能不正确。">
            <a:extLst>
              <a:ext uri="{FF2B5EF4-FFF2-40B4-BE49-F238E27FC236}">
                <a16:creationId xmlns:a16="http://schemas.microsoft.com/office/drawing/2014/main" id="{7F068353-8E4E-4974-ABDC-8E877BE06322}"/>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4082020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20205BB5-D26D-412B-8E4F-C975AB76D240}"/>
              </a:ext>
            </a:extLst>
          </p:cNvPr>
          <p:cNvGraphicFramePr>
            <a:graphicFrameLocks noGrp="1"/>
          </p:cNvGraphicFramePr>
          <p:nvPr>
            <p:extLst>
              <p:ext uri="{D42A27DB-BD31-4B8C-83A1-F6EECF244321}">
                <p14:modId xmlns:p14="http://schemas.microsoft.com/office/powerpoint/2010/main" val="298572272"/>
              </p:ext>
            </p:extLst>
          </p:nvPr>
        </p:nvGraphicFramePr>
        <p:xfrm>
          <a:off x="502460" y="241069"/>
          <a:ext cx="3620655" cy="2963179"/>
        </p:xfrm>
        <a:graphic>
          <a:graphicData uri="http://schemas.openxmlformats.org/drawingml/2006/table">
            <a:tbl>
              <a:tblPr firstRow="1" bandRow="1">
                <a:tableStyleId>{5C22544A-7EE6-4342-B048-85BDC9FD1C3A}</a:tableStyleId>
              </a:tblPr>
              <a:tblGrid>
                <a:gridCol w="1206885">
                  <a:extLst>
                    <a:ext uri="{9D8B030D-6E8A-4147-A177-3AD203B41FA5}">
                      <a16:colId xmlns:a16="http://schemas.microsoft.com/office/drawing/2014/main" val="3280591667"/>
                    </a:ext>
                  </a:extLst>
                </a:gridCol>
                <a:gridCol w="1206885">
                  <a:extLst>
                    <a:ext uri="{9D8B030D-6E8A-4147-A177-3AD203B41FA5}">
                      <a16:colId xmlns:a16="http://schemas.microsoft.com/office/drawing/2014/main" val="3363509393"/>
                    </a:ext>
                  </a:extLst>
                </a:gridCol>
                <a:gridCol w="1206885">
                  <a:extLst>
                    <a:ext uri="{9D8B030D-6E8A-4147-A177-3AD203B41FA5}">
                      <a16:colId xmlns:a16="http://schemas.microsoft.com/office/drawing/2014/main" val="646537952"/>
                    </a:ext>
                  </a:extLst>
                </a:gridCol>
              </a:tblGrid>
              <a:tr h="367299">
                <a:tc>
                  <a:txBody>
                    <a:bodyPr/>
                    <a:lstStyle/>
                    <a:p>
                      <a:pPr algn="l" fontAlgn="t"/>
                      <a:r>
                        <a:rPr lang="zh-CN" altLang="en-US" sz="1000" b="0">
                          <a:effectLst/>
                        </a:rPr>
                        <a:t>实体</a:t>
                      </a:r>
                      <a:r>
                        <a:rPr lang="en-US" sz="1000" b="0">
                          <a:effectLst/>
                        </a:rPr>
                        <a:t>A</a:t>
                      </a:r>
                    </a:p>
                  </a:txBody>
                  <a:tcPr marL="60960" marR="60960" marT="60960" marB="60960"/>
                </a:tc>
                <a:tc>
                  <a:txBody>
                    <a:bodyPr/>
                    <a:lstStyle/>
                    <a:p>
                      <a:pPr algn="l" fontAlgn="t"/>
                      <a:r>
                        <a:rPr lang="zh-CN" altLang="en-US" sz="1000" b="0">
                          <a:effectLst/>
                        </a:rPr>
                        <a:t>实体</a:t>
                      </a:r>
                      <a:r>
                        <a:rPr lang="en-US" sz="1000" b="0">
                          <a:effectLst/>
                        </a:rPr>
                        <a:t>B</a:t>
                      </a:r>
                    </a:p>
                  </a:txBody>
                  <a:tcPr marL="60960" marR="60960" marT="60960" marB="60960"/>
                </a:tc>
                <a:tc>
                  <a:txBody>
                    <a:bodyPr/>
                    <a:lstStyle/>
                    <a:p>
                      <a:pPr algn="l" fontAlgn="t"/>
                      <a:r>
                        <a:rPr lang="zh-CN" altLang="en-US" sz="1000" b="0">
                          <a:effectLst/>
                        </a:rPr>
                        <a:t>关系类型</a:t>
                      </a:r>
                    </a:p>
                  </a:txBody>
                  <a:tcPr marL="60960" marR="60960" marT="60960" marB="60960"/>
                </a:tc>
                <a:extLst>
                  <a:ext uri="{0D108BD9-81ED-4DB2-BD59-A6C34878D82A}">
                    <a16:rowId xmlns:a16="http://schemas.microsoft.com/office/drawing/2014/main" val="623472614"/>
                  </a:ext>
                </a:extLst>
              </a:tr>
              <a:tr h="370840">
                <a:tc>
                  <a:txBody>
                    <a:bodyPr/>
                    <a:lstStyle/>
                    <a:p>
                      <a:pPr fontAlgn="t"/>
                      <a:r>
                        <a:rPr lang="zh-CN" altLang="en-US" sz="1000">
                          <a:effectLst/>
                        </a:rPr>
                        <a:t>用户</a:t>
                      </a:r>
                    </a:p>
                  </a:txBody>
                  <a:tcPr marL="60960" marR="60960" marT="60960" marB="60960"/>
                </a:tc>
                <a:tc>
                  <a:txBody>
                    <a:bodyPr/>
                    <a:lstStyle/>
                    <a:p>
                      <a:pPr fontAlgn="t"/>
                      <a:r>
                        <a:rPr lang="zh-CN" altLang="en-US" sz="1000">
                          <a:effectLst/>
                        </a:rPr>
                        <a:t>角色</a:t>
                      </a:r>
                    </a:p>
                  </a:txBody>
                  <a:tcPr marL="60960" marR="60960" marT="60960" marB="60960"/>
                </a:tc>
                <a:tc>
                  <a:txBody>
                    <a:bodyPr/>
                    <a:lstStyle/>
                    <a:p>
                      <a:pPr fontAlgn="t"/>
                      <a:r>
                        <a:rPr lang="en-US" sz="1000">
                          <a:effectLst/>
                        </a:rPr>
                        <a:t>M:N</a:t>
                      </a:r>
                    </a:p>
                  </a:txBody>
                  <a:tcPr marL="60960" marR="60960" marT="60960" marB="60960"/>
                </a:tc>
                <a:extLst>
                  <a:ext uri="{0D108BD9-81ED-4DB2-BD59-A6C34878D82A}">
                    <a16:rowId xmlns:a16="http://schemas.microsoft.com/office/drawing/2014/main" val="1781541369"/>
                  </a:ext>
                </a:extLst>
              </a:tr>
              <a:tr h="370840">
                <a:tc>
                  <a:txBody>
                    <a:bodyPr/>
                    <a:lstStyle/>
                    <a:p>
                      <a:pPr fontAlgn="t"/>
                      <a:r>
                        <a:rPr lang="zh-CN" altLang="en-US" sz="1000">
                          <a:effectLst/>
                        </a:rPr>
                        <a:t>学院</a:t>
                      </a:r>
                    </a:p>
                  </a:txBody>
                  <a:tcPr marL="60960" marR="60960" marT="60960" marB="60960"/>
                </a:tc>
                <a:tc>
                  <a:txBody>
                    <a:bodyPr/>
                    <a:lstStyle/>
                    <a:p>
                      <a:pPr fontAlgn="t"/>
                      <a:r>
                        <a:rPr lang="zh-CN" altLang="en-US" sz="1000">
                          <a:effectLst/>
                        </a:rPr>
                        <a:t>专业</a:t>
                      </a:r>
                    </a:p>
                  </a:txBody>
                  <a:tcPr marL="60960" marR="60960" marT="60960" marB="60960"/>
                </a:tc>
                <a:tc>
                  <a:txBody>
                    <a:bodyPr/>
                    <a:lstStyle/>
                    <a:p>
                      <a:pPr fontAlgn="t"/>
                      <a:r>
                        <a:rPr lang="en-US" sz="1000">
                          <a:effectLst/>
                        </a:rPr>
                        <a:t>1:N</a:t>
                      </a:r>
                    </a:p>
                  </a:txBody>
                  <a:tcPr marL="60960" marR="60960" marT="60960" marB="60960"/>
                </a:tc>
                <a:extLst>
                  <a:ext uri="{0D108BD9-81ED-4DB2-BD59-A6C34878D82A}">
                    <a16:rowId xmlns:a16="http://schemas.microsoft.com/office/drawing/2014/main" val="2193690434"/>
                  </a:ext>
                </a:extLst>
              </a:tr>
              <a:tr h="370840">
                <a:tc>
                  <a:txBody>
                    <a:bodyPr/>
                    <a:lstStyle/>
                    <a:p>
                      <a:pPr fontAlgn="t"/>
                      <a:r>
                        <a:rPr lang="zh-CN" altLang="en-US" sz="1000">
                          <a:effectLst/>
                        </a:rPr>
                        <a:t>专业</a:t>
                      </a:r>
                    </a:p>
                  </a:txBody>
                  <a:tcPr marL="60960" marR="60960" marT="60960" marB="60960"/>
                </a:tc>
                <a:tc>
                  <a:txBody>
                    <a:bodyPr/>
                    <a:lstStyle/>
                    <a:p>
                      <a:pPr fontAlgn="t"/>
                      <a:r>
                        <a:rPr lang="zh-CN" altLang="en-US" sz="1000">
                          <a:effectLst/>
                        </a:rPr>
                        <a:t>学生</a:t>
                      </a:r>
                    </a:p>
                  </a:txBody>
                  <a:tcPr marL="60960" marR="60960" marT="60960" marB="60960"/>
                </a:tc>
                <a:tc>
                  <a:txBody>
                    <a:bodyPr/>
                    <a:lstStyle/>
                    <a:p>
                      <a:pPr fontAlgn="t"/>
                      <a:r>
                        <a:rPr lang="en-US" sz="1000">
                          <a:effectLst/>
                        </a:rPr>
                        <a:t>1:N</a:t>
                      </a:r>
                    </a:p>
                  </a:txBody>
                  <a:tcPr marL="60960" marR="60960" marT="60960" marB="60960"/>
                </a:tc>
                <a:extLst>
                  <a:ext uri="{0D108BD9-81ED-4DB2-BD59-A6C34878D82A}">
                    <a16:rowId xmlns:a16="http://schemas.microsoft.com/office/drawing/2014/main" val="3713393160"/>
                  </a:ext>
                </a:extLst>
              </a:tr>
              <a:tr h="370840">
                <a:tc>
                  <a:txBody>
                    <a:bodyPr/>
                    <a:lstStyle/>
                    <a:p>
                      <a:pPr fontAlgn="t"/>
                      <a:r>
                        <a:rPr lang="zh-CN" altLang="en-US" sz="1000">
                          <a:effectLst/>
                        </a:rPr>
                        <a:t>专业</a:t>
                      </a:r>
                    </a:p>
                  </a:txBody>
                  <a:tcPr marL="60960" marR="60960" marT="60960" marB="60960"/>
                </a:tc>
                <a:tc>
                  <a:txBody>
                    <a:bodyPr/>
                    <a:lstStyle/>
                    <a:p>
                      <a:pPr fontAlgn="t"/>
                      <a:r>
                        <a:rPr lang="zh-CN" altLang="en-US" sz="1000">
                          <a:effectLst/>
                        </a:rPr>
                        <a:t>毕业要求</a:t>
                      </a:r>
                    </a:p>
                  </a:txBody>
                  <a:tcPr marL="60960" marR="60960" marT="60960" marB="60960"/>
                </a:tc>
                <a:tc>
                  <a:txBody>
                    <a:bodyPr/>
                    <a:lstStyle/>
                    <a:p>
                      <a:pPr fontAlgn="t"/>
                      <a:r>
                        <a:rPr lang="en-US" sz="1000">
                          <a:effectLst/>
                        </a:rPr>
                        <a:t>1:N</a:t>
                      </a:r>
                    </a:p>
                  </a:txBody>
                  <a:tcPr marL="60960" marR="60960" marT="60960" marB="60960"/>
                </a:tc>
                <a:extLst>
                  <a:ext uri="{0D108BD9-81ED-4DB2-BD59-A6C34878D82A}">
                    <a16:rowId xmlns:a16="http://schemas.microsoft.com/office/drawing/2014/main" val="2346305451"/>
                  </a:ext>
                </a:extLst>
              </a:tr>
              <a:tr h="370840">
                <a:tc>
                  <a:txBody>
                    <a:bodyPr/>
                    <a:lstStyle/>
                    <a:p>
                      <a:pPr fontAlgn="t"/>
                      <a:r>
                        <a:rPr lang="zh-CN" altLang="en-US" sz="1000">
                          <a:effectLst/>
                        </a:rPr>
                        <a:t>毕业要求</a:t>
                      </a:r>
                    </a:p>
                  </a:txBody>
                  <a:tcPr marL="60960" marR="60960" marT="60960" marB="60960"/>
                </a:tc>
                <a:tc>
                  <a:txBody>
                    <a:bodyPr/>
                    <a:lstStyle/>
                    <a:p>
                      <a:pPr fontAlgn="t"/>
                      <a:r>
                        <a:rPr lang="zh-CN" altLang="en-US" sz="1000">
                          <a:effectLst/>
                        </a:rPr>
                        <a:t>指标点</a:t>
                      </a:r>
                    </a:p>
                  </a:txBody>
                  <a:tcPr marL="60960" marR="60960" marT="60960" marB="60960"/>
                </a:tc>
                <a:tc>
                  <a:txBody>
                    <a:bodyPr/>
                    <a:lstStyle/>
                    <a:p>
                      <a:pPr fontAlgn="t"/>
                      <a:r>
                        <a:rPr lang="en-US" sz="1000">
                          <a:effectLst/>
                        </a:rPr>
                        <a:t>1:N</a:t>
                      </a:r>
                    </a:p>
                  </a:txBody>
                  <a:tcPr marL="60960" marR="60960" marT="60960" marB="60960"/>
                </a:tc>
                <a:extLst>
                  <a:ext uri="{0D108BD9-81ED-4DB2-BD59-A6C34878D82A}">
                    <a16:rowId xmlns:a16="http://schemas.microsoft.com/office/drawing/2014/main" val="215012510"/>
                  </a:ext>
                </a:extLst>
              </a:tr>
              <a:tr h="370840">
                <a:tc>
                  <a:txBody>
                    <a:bodyPr/>
                    <a:lstStyle/>
                    <a:p>
                      <a:pPr fontAlgn="t"/>
                      <a:r>
                        <a:rPr lang="zh-CN" altLang="en-US" sz="1000">
                          <a:effectLst/>
                        </a:rPr>
                        <a:t>课程</a:t>
                      </a:r>
                    </a:p>
                  </a:txBody>
                  <a:tcPr marL="60960" marR="60960" marT="60960" marB="60960"/>
                </a:tc>
                <a:tc>
                  <a:txBody>
                    <a:bodyPr/>
                    <a:lstStyle/>
                    <a:p>
                      <a:pPr fontAlgn="t"/>
                      <a:r>
                        <a:rPr lang="zh-CN" altLang="en-US" sz="1000">
                          <a:effectLst/>
                        </a:rPr>
                        <a:t>教学班级</a:t>
                      </a:r>
                    </a:p>
                  </a:txBody>
                  <a:tcPr marL="60960" marR="60960" marT="60960" marB="60960"/>
                </a:tc>
                <a:tc>
                  <a:txBody>
                    <a:bodyPr/>
                    <a:lstStyle/>
                    <a:p>
                      <a:pPr fontAlgn="t"/>
                      <a:r>
                        <a:rPr lang="en-US" sz="1000">
                          <a:effectLst/>
                        </a:rPr>
                        <a:t>1:N</a:t>
                      </a:r>
                    </a:p>
                  </a:txBody>
                  <a:tcPr marL="60960" marR="60960" marT="60960" marB="60960"/>
                </a:tc>
                <a:extLst>
                  <a:ext uri="{0D108BD9-81ED-4DB2-BD59-A6C34878D82A}">
                    <a16:rowId xmlns:a16="http://schemas.microsoft.com/office/drawing/2014/main" val="1213099641"/>
                  </a:ext>
                </a:extLst>
              </a:tr>
              <a:tr h="370840">
                <a:tc>
                  <a:txBody>
                    <a:bodyPr/>
                    <a:lstStyle/>
                    <a:p>
                      <a:pPr fontAlgn="t"/>
                      <a:r>
                        <a:rPr lang="zh-CN" altLang="en-US" sz="1000">
                          <a:effectLst/>
                        </a:rPr>
                        <a:t>课程</a:t>
                      </a:r>
                    </a:p>
                  </a:txBody>
                  <a:tcPr marL="60960" marR="60960" marT="60960" marB="60960"/>
                </a:tc>
                <a:tc>
                  <a:txBody>
                    <a:bodyPr/>
                    <a:lstStyle/>
                    <a:p>
                      <a:pPr fontAlgn="t"/>
                      <a:r>
                        <a:rPr lang="zh-CN" altLang="en-US" sz="1000">
                          <a:effectLst/>
                        </a:rPr>
                        <a:t>课程目标</a:t>
                      </a:r>
                    </a:p>
                  </a:txBody>
                  <a:tcPr marL="60960" marR="60960" marT="60960" marB="60960"/>
                </a:tc>
                <a:tc>
                  <a:txBody>
                    <a:bodyPr/>
                    <a:lstStyle/>
                    <a:p>
                      <a:pPr fontAlgn="t"/>
                      <a:r>
                        <a:rPr lang="en-US" sz="1000">
                          <a:effectLst/>
                        </a:rPr>
                        <a:t>1:N</a:t>
                      </a:r>
                    </a:p>
                  </a:txBody>
                  <a:tcPr marL="60960" marR="60960" marT="60960" marB="60960"/>
                </a:tc>
                <a:extLst>
                  <a:ext uri="{0D108BD9-81ED-4DB2-BD59-A6C34878D82A}">
                    <a16:rowId xmlns:a16="http://schemas.microsoft.com/office/drawing/2014/main" val="2474398406"/>
                  </a:ext>
                </a:extLst>
              </a:tr>
            </a:tbl>
          </a:graphicData>
        </a:graphic>
      </p:graphicFrame>
      <p:sp>
        <p:nvSpPr>
          <p:cNvPr id="8" name="文本框 7">
            <a:extLst>
              <a:ext uri="{FF2B5EF4-FFF2-40B4-BE49-F238E27FC236}">
                <a16:creationId xmlns:a16="http://schemas.microsoft.com/office/drawing/2014/main" id="{CD0113D8-DF58-4DC3-893E-07D3BA83ECB3}"/>
              </a:ext>
            </a:extLst>
          </p:cNvPr>
          <p:cNvSpPr txBox="1"/>
          <p:nvPr/>
        </p:nvSpPr>
        <p:spPr>
          <a:xfrm>
            <a:off x="3048693" y="3275112"/>
            <a:ext cx="6097384" cy="307777"/>
          </a:xfrm>
          <a:prstGeom prst="rect">
            <a:avLst/>
          </a:prstGeom>
          <a:noFill/>
        </p:spPr>
        <p:txBody>
          <a:bodyPr wrap="square">
            <a:spAutoFit/>
          </a:bodyPr>
          <a:lstStyle/>
          <a:p>
            <a:r>
              <a:rPr lang="zh-CN" altLang="en-US"/>
              <a:t> </a:t>
            </a:r>
          </a:p>
        </p:txBody>
      </p:sp>
      <p:graphicFrame>
        <p:nvGraphicFramePr>
          <p:cNvPr id="9" name="表格 9">
            <a:extLst>
              <a:ext uri="{FF2B5EF4-FFF2-40B4-BE49-F238E27FC236}">
                <a16:creationId xmlns:a16="http://schemas.microsoft.com/office/drawing/2014/main" id="{B1DCD720-76AB-41B9-98A6-A469FDE34C11}"/>
              </a:ext>
            </a:extLst>
          </p:cNvPr>
          <p:cNvGraphicFramePr>
            <a:graphicFrameLocks noGrp="1"/>
          </p:cNvGraphicFramePr>
          <p:nvPr>
            <p:extLst>
              <p:ext uri="{D42A27DB-BD31-4B8C-83A1-F6EECF244321}">
                <p14:modId xmlns:p14="http://schemas.microsoft.com/office/powerpoint/2010/main" val="368134844"/>
              </p:ext>
            </p:extLst>
          </p:nvPr>
        </p:nvGraphicFramePr>
        <p:xfrm>
          <a:off x="4593239" y="2779556"/>
          <a:ext cx="7154490" cy="3784600"/>
        </p:xfrm>
        <a:graphic>
          <a:graphicData uri="http://schemas.openxmlformats.org/drawingml/2006/table">
            <a:tbl>
              <a:tblPr firstRow="1" bandRow="1">
                <a:tableStyleId>{5C22544A-7EE6-4342-B048-85BDC9FD1C3A}</a:tableStyleId>
              </a:tblPr>
              <a:tblGrid>
                <a:gridCol w="1430898">
                  <a:extLst>
                    <a:ext uri="{9D8B030D-6E8A-4147-A177-3AD203B41FA5}">
                      <a16:colId xmlns:a16="http://schemas.microsoft.com/office/drawing/2014/main" val="2485750485"/>
                    </a:ext>
                  </a:extLst>
                </a:gridCol>
                <a:gridCol w="1430898">
                  <a:extLst>
                    <a:ext uri="{9D8B030D-6E8A-4147-A177-3AD203B41FA5}">
                      <a16:colId xmlns:a16="http://schemas.microsoft.com/office/drawing/2014/main" val="4104806321"/>
                    </a:ext>
                  </a:extLst>
                </a:gridCol>
                <a:gridCol w="1430898">
                  <a:extLst>
                    <a:ext uri="{9D8B030D-6E8A-4147-A177-3AD203B41FA5}">
                      <a16:colId xmlns:a16="http://schemas.microsoft.com/office/drawing/2014/main" val="1417353303"/>
                    </a:ext>
                  </a:extLst>
                </a:gridCol>
                <a:gridCol w="1430898">
                  <a:extLst>
                    <a:ext uri="{9D8B030D-6E8A-4147-A177-3AD203B41FA5}">
                      <a16:colId xmlns:a16="http://schemas.microsoft.com/office/drawing/2014/main" val="179064551"/>
                    </a:ext>
                  </a:extLst>
                </a:gridCol>
                <a:gridCol w="1430898">
                  <a:extLst>
                    <a:ext uri="{9D8B030D-6E8A-4147-A177-3AD203B41FA5}">
                      <a16:colId xmlns:a16="http://schemas.microsoft.com/office/drawing/2014/main" val="4003090104"/>
                    </a:ext>
                  </a:extLst>
                </a:gridCol>
              </a:tblGrid>
              <a:tr h="370840">
                <a:tc>
                  <a:txBody>
                    <a:bodyPr/>
                    <a:lstStyle/>
                    <a:p>
                      <a:pPr algn="l" fontAlgn="t"/>
                      <a:r>
                        <a:rPr lang="zh-CN" altLang="en-US" sz="1000" b="0">
                          <a:effectLst/>
                        </a:rPr>
                        <a:t>实体</a:t>
                      </a:r>
                      <a:r>
                        <a:rPr lang="en-US" sz="1000" b="0">
                          <a:effectLst/>
                        </a:rPr>
                        <a:t>A</a:t>
                      </a:r>
                    </a:p>
                  </a:txBody>
                  <a:tcPr marL="60960" marR="60960" marT="60960" marB="60960"/>
                </a:tc>
                <a:tc>
                  <a:txBody>
                    <a:bodyPr/>
                    <a:lstStyle/>
                    <a:p>
                      <a:pPr algn="l" fontAlgn="t"/>
                      <a:r>
                        <a:rPr lang="zh-CN" altLang="en-US" sz="1000" b="0">
                          <a:effectLst/>
                        </a:rPr>
                        <a:t>实体</a:t>
                      </a:r>
                      <a:r>
                        <a:rPr lang="en-US" sz="1000" b="0">
                          <a:effectLst/>
                        </a:rPr>
                        <a:t>B</a:t>
                      </a:r>
                    </a:p>
                  </a:txBody>
                  <a:tcPr marL="60960" marR="60960" marT="60960" marB="60960"/>
                </a:tc>
                <a:tc>
                  <a:txBody>
                    <a:bodyPr/>
                    <a:lstStyle/>
                    <a:p>
                      <a:pPr algn="l" fontAlgn="t"/>
                      <a:r>
                        <a:rPr lang="zh-CN" altLang="en-US" sz="1000" b="0">
                          <a:effectLst/>
                        </a:rPr>
                        <a:t>关系类型</a:t>
                      </a:r>
                    </a:p>
                  </a:txBody>
                  <a:tcPr marL="60960" marR="60960" marT="60960" marB="60960"/>
                </a:tc>
                <a:tc>
                  <a:txBody>
                    <a:bodyPr/>
                    <a:lstStyle/>
                    <a:p>
                      <a:pPr algn="l" fontAlgn="t"/>
                      <a:r>
                        <a:rPr lang="zh-CN" altLang="en-US" sz="1000" b="0">
                          <a:effectLst/>
                        </a:rPr>
                        <a:t>业务含义</a:t>
                      </a:r>
                    </a:p>
                  </a:txBody>
                  <a:tcPr marL="60960" marR="60960" marT="60960" marB="60960"/>
                </a:tc>
                <a:tc>
                  <a:txBody>
                    <a:bodyPr/>
                    <a:lstStyle/>
                    <a:p>
                      <a:pPr algn="l" fontAlgn="t"/>
                      <a:r>
                        <a:rPr lang="zh-CN" altLang="en-US" sz="1000" b="0">
                          <a:effectLst/>
                        </a:rPr>
                        <a:t>约束规则</a:t>
                      </a:r>
                    </a:p>
                  </a:txBody>
                  <a:tcPr marL="60960" marR="60960" marT="60960" marB="60960"/>
                </a:tc>
                <a:extLst>
                  <a:ext uri="{0D108BD9-81ED-4DB2-BD59-A6C34878D82A}">
                    <a16:rowId xmlns:a16="http://schemas.microsoft.com/office/drawing/2014/main" val="1699642170"/>
                  </a:ext>
                </a:extLst>
              </a:tr>
              <a:tr h="370840">
                <a:tc>
                  <a:txBody>
                    <a:bodyPr/>
                    <a:lstStyle/>
                    <a:p>
                      <a:pPr fontAlgn="t"/>
                      <a:r>
                        <a:rPr lang="zh-CN" altLang="en-US" sz="1000">
                          <a:effectLst/>
                        </a:rPr>
                        <a:t>课程目标</a:t>
                      </a:r>
                    </a:p>
                  </a:txBody>
                  <a:tcPr marL="60960" marR="60960" marT="60960" marB="60960"/>
                </a:tc>
                <a:tc>
                  <a:txBody>
                    <a:bodyPr/>
                    <a:lstStyle/>
                    <a:p>
                      <a:pPr fontAlgn="t"/>
                      <a:r>
                        <a:rPr lang="zh-CN" altLang="en-US" sz="1000">
                          <a:effectLst/>
                        </a:rPr>
                        <a:t>考核点</a:t>
                      </a:r>
                    </a:p>
                  </a:txBody>
                  <a:tcPr marL="60960" marR="60960" marT="60960" marB="60960"/>
                </a:tc>
                <a:tc>
                  <a:txBody>
                    <a:bodyPr/>
                    <a:lstStyle/>
                    <a:p>
                      <a:pPr fontAlgn="t"/>
                      <a:r>
                        <a:rPr lang="en-US" sz="1000">
                          <a:effectLst/>
                        </a:rPr>
                        <a:t>1:N</a:t>
                      </a:r>
                    </a:p>
                  </a:txBody>
                  <a:tcPr marL="60960" marR="60960" marT="60960" marB="60960"/>
                </a:tc>
                <a:tc>
                  <a:txBody>
                    <a:bodyPr/>
                    <a:lstStyle/>
                    <a:p>
                      <a:pPr fontAlgn="t"/>
                      <a:r>
                        <a:rPr lang="zh-CN" altLang="en-US" sz="1000">
                          <a:effectLst/>
                        </a:rPr>
                        <a:t>细分关系</a:t>
                      </a:r>
                    </a:p>
                  </a:txBody>
                  <a:tcPr marL="60960" marR="60960" marT="60960" marB="60960"/>
                </a:tc>
                <a:tc>
                  <a:txBody>
                    <a:bodyPr/>
                    <a:lstStyle/>
                    <a:p>
                      <a:pPr fontAlgn="t"/>
                      <a:r>
                        <a:rPr lang="zh-CN" altLang="en-US" sz="1000">
                          <a:effectLst/>
                        </a:rPr>
                        <a:t>一个课程目标下设多个考核点</a:t>
                      </a:r>
                    </a:p>
                  </a:txBody>
                  <a:tcPr marL="60960" marR="60960" marT="60960" marB="60960"/>
                </a:tc>
                <a:extLst>
                  <a:ext uri="{0D108BD9-81ED-4DB2-BD59-A6C34878D82A}">
                    <a16:rowId xmlns:a16="http://schemas.microsoft.com/office/drawing/2014/main" val="13465456"/>
                  </a:ext>
                </a:extLst>
              </a:tr>
              <a:tr h="370840">
                <a:tc>
                  <a:txBody>
                    <a:bodyPr/>
                    <a:lstStyle/>
                    <a:p>
                      <a:pPr fontAlgn="t"/>
                      <a:r>
                        <a:rPr lang="zh-CN" altLang="en-US" sz="1000">
                          <a:effectLst/>
                        </a:rPr>
                        <a:t>课程</a:t>
                      </a:r>
                    </a:p>
                  </a:txBody>
                  <a:tcPr marL="60960" marR="60960" marT="60960" marB="60960"/>
                </a:tc>
                <a:tc>
                  <a:txBody>
                    <a:bodyPr/>
                    <a:lstStyle/>
                    <a:p>
                      <a:pPr fontAlgn="t"/>
                      <a:r>
                        <a:rPr lang="zh-CN" altLang="en-US" sz="1000">
                          <a:effectLst/>
                        </a:rPr>
                        <a:t>指标点</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宏观支撑</a:t>
                      </a:r>
                    </a:p>
                  </a:txBody>
                  <a:tcPr marL="60960" marR="60960" marT="60960" marB="60960"/>
                </a:tc>
                <a:tc>
                  <a:txBody>
                    <a:bodyPr/>
                    <a:lstStyle/>
                    <a:p>
                      <a:pPr fontAlgn="t"/>
                      <a:r>
                        <a:rPr lang="zh-CN" altLang="en-US" sz="1000">
                          <a:effectLst/>
                        </a:rPr>
                        <a:t>所有支撑权重总和</a:t>
                      </a:r>
                      <a:r>
                        <a:rPr lang="en-US" altLang="zh-CN" sz="1000">
                          <a:effectLst/>
                        </a:rPr>
                        <a:t>ΣW=1.0</a:t>
                      </a:r>
                    </a:p>
                  </a:txBody>
                  <a:tcPr marL="60960" marR="60960" marT="60960" marB="60960"/>
                </a:tc>
                <a:extLst>
                  <a:ext uri="{0D108BD9-81ED-4DB2-BD59-A6C34878D82A}">
                    <a16:rowId xmlns:a16="http://schemas.microsoft.com/office/drawing/2014/main" val="3988552695"/>
                  </a:ext>
                </a:extLst>
              </a:tr>
              <a:tr h="370840">
                <a:tc>
                  <a:txBody>
                    <a:bodyPr/>
                    <a:lstStyle/>
                    <a:p>
                      <a:pPr fontAlgn="t"/>
                      <a:r>
                        <a:rPr lang="zh-CN" altLang="en-US" sz="1000">
                          <a:effectLst/>
                        </a:rPr>
                        <a:t>课程目标</a:t>
                      </a:r>
                    </a:p>
                  </a:txBody>
                  <a:tcPr marL="60960" marR="60960" marT="60960" marB="60960"/>
                </a:tc>
                <a:tc>
                  <a:txBody>
                    <a:bodyPr/>
                    <a:lstStyle/>
                    <a:p>
                      <a:pPr fontAlgn="t"/>
                      <a:r>
                        <a:rPr lang="zh-CN" altLang="en-US" sz="1000">
                          <a:effectLst/>
                        </a:rPr>
                        <a:t>指标点</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微观映射</a:t>
                      </a:r>
                    </a:p>
                  </a:txBody>
                  <a:tcPr marL="60960" marR="60960" marT="60960" marB="60960"/>
                </a:tc>
                <a:tc>
                  <a:txBody>
                    <a:bodyPr/>
                    <a:lstStyle/>
                    <a:p>
                      <a:pPr fontAlgn="t"/>
                      <a:r>
                        <a:rPr lang="zh-CN" altLang="en-US" sz="1000">
                          <a:effectLst/>
                        </a:rPr>
                        <a:t>所有映射权重总和</a:t>
                      </a:r>
                      <a:r>
                        <a:rPr lang="en-US" altLang="zh-CN" sz="1000">
                          <a:effectLst/>
                        </a:rPr>
                        <a:t>Σw=1.0</a:t>
                      </a:r>
                    </a:p>
                  </a:txBody>
                  <a:tcPr marL="60960" marR="60960" marT="60960" marB="60960"/>
                </a:tc>
                <a:extLst>
                  <a:ext uri="{0D108BD9-81ED-4DB2-BD59-A6C34878D82A}">
                    <a16:rowId xmlns:a16="http://schemas.microsoft.com/office/drawing/2014/main" val="1222006739"/>
                  </a:ext>
                </a:extLst>
              </a:tr>
              <a:tr h="370840">
                <a:tc>
                  <a:txBody>
                    <a:bodyPr/>
                    <a:lstStyle/>
                    <a:p>
                      <a:pPr fontAlgn="t"/>
                      <a:r>
                        <a:rPr lang="zh-CN" altLang="en-US" sz="1000">
                          <a:effectLst/>
                        </a:rPr>
                        <a:t>教学班级</a:t>
                      </a:r>
                    </a:p>
                  </a:txBody>
                  <a:tcPr marL="60960" marR="60960" marT="60960" marB="60960"/>
                </a:tc>
                <a:tc>
                  <a:txBody>
                    <a:bodyPr/>
                    <a:lstStyle/>
                    <a:p>
                      <a:pPr fontAlgn="t"/>
                      <a:r>
                        <a:rPr lang="zh-CN" altLang="en-US" sz="1000">
                          <a:effectLst/>
                        </a:rPr>
                        <a:t>学生</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选课关系</a:t>
                      </a:r>
                    </a:p>
                  </a:txBody>
                  <a:tcPr marL="60960" marR="60960" marT="60960" marB="60960"/>
                </a:tc>
                <a:tc>
                  <a:txBody>
                    <a:bodyPr/>
                    <a:lstStyle/>
                    <a:p>
                      <a:pPr fontAlgn="t"/>
                      <a:r>
                        <a:rPr lang="zh-CN" altLang="en-US" sz="1000">
                          <a:effectLst/>
                        </a:rPr>
                        <a:t>依托中间关联表实现关联</a:t>
                      </a:r>
                    </a:p>
                  </a:txBody>
                  <a:tcPr marL="60960" marR="60960" marT="60960" marB="60960"/>
                </a:tc>
                <a:extLst>
                  <a:ext uri="{0D108BD9-81ED-4DB2-BD59-A6C34878D82A}">
                    <a16:rowId xmlns:a16="http://schemas.microsoft.com/office/drawing/2014/main" val="1332057323"/>
                  </a:ext>
                </a:extLst>
              </a:tr>
              <a:tr h="370840">
                <a:tc>
                  <a:txBody>
                    <a:bodyPr/>
                    <a:lstStyle/>
                    <a:p>
                      <a:pPr fontAlgn="t"/>
                      <a:r>
                        <a:rPr lang="zh-CN" altLang="en-US" sz="1000">
                          <a:effectLst/>
                        </a:rPr>
                        <a:t>学生</a:t>
                      </a:r>
                    </a:p>
                  </a:txBody>
                  <a:tcPr marL="60960" marR="60960" marT="60960" marB="60960"/>
                </a:tc>
                <a:tc>
                  <a:txBody>
                    <a:bodyPr/>
                    <a:lstStyle/>
                    <a:p>
                      <a:pPr fontAlgn="t"/>
                      <a:r>
                        <a:rPr lang="zh-CN" altLang="en-US" sz="1000">
                          <a:effectLst/>
                        </a:rPr>
                        <a:t>考核点</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成绩关系</a:t>
                      </a:r>
                    </a:p>
                  </a:txBody>
                  <a:tcPr marL="60960" marR="60960" marT="60960" marB="60960"/>
                </a:tc>
                <a:tc>
                  <a:txBody>
                    <a:bodyPr/>
                    <a:lstStyle/>
                    <a:p>
                      <a:pPr fontAlgn="t"/>
                      <a:r>
                        <a:rPr lang="zh-CN" altLang="en-US" sz="1000">
                          <a:effectLst/>
                        </a:rPr>
                        <a:t>依托</a:t>
                      </a:r>
                      <a:r>
                        <a:rPr lang="en-US" sz="1000">
                          <a:effectLst/>
                        </a:rPr>
                        <a:t>StudentGrade</a:t>
                      </a:r>
                      <a:r>
                        <a:rPr lang="zh-CN" altLang="en-US" sz="1000">
                          <a:effectLst/>
                        </a:rPr>
                        <a:t>成绩表关联</a:t>
                      </a:r>
                    </a:p>
                  </a:txBody>
                  <a:tcPr marL="60960" marR="60960" marT="60960" marB="60960"/>
                </a:tc>
                <a:extLst>
                  <a:ext uri="{0D108BD9-81ED-4DB2-BD59-A6C34878D82A}">
                    <a16:rowId xmlns:a16="http://schemas.microsoft.com/office/drawing/2014/main" val="2240593751"/>
                  </a:ext>
                </a:extLst>
              </a:tr>
              <a:tr h="370840">
                <a:tc>
                  <a:txBody>
                    <a:bodyPr/>
                    <a:lstStyle/>
                    <a:p>
                      <a:pPr fontAlgn="t"/>
                      <a:r>
                        <a:rPr lang="zh-CN" altLang="en-US" sz="1000">
                          <a:effectLst/>
                        </a:rPr>
                        <a:t>学生</a:t>
                      </a:r>
                    </a:p>
                  </a:txBody>
                  <a:tcPr marL="60960" marR="60960" marT="60960" marB="60960"/>
                </a:tc>
                <a:tc>
                  <a:txBody>
                    <a:bodyPr/>
                    <a:lstStyle/>
                    <a:p>
                      <a:pPr fontAlgn="t"/>
                      <a:r>
                        <a:rPr lang="zh-CN" altLang="en-US" sz="1000">
                          <a:effectLst/>
                        </a:rPr>
                        <a:t>课程目标</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学生目标达成度关系</a:t>
                      </a:r>
                    </a:p>
                  </a:txBody>
                  <a:tcPr marL="60960" marR="60960" marT="60960" marB="60960"/>
                </a:tc>
                <a:tc>
                  <a:txBody>
                    <a:bodyPr/>
                    <a:lstStyle/>
                    <a:p>
                      <a:pPr fontAlgn="t"/>
                      <a:r>
                        <a:rPr lang="zh-CN" altLang="en-US" sz="1000">
                          <a:effectLst/>
                        </a:rPr>
                        <a:t>每位学生对应单个课程目标存在专属达成度</a:t>
                      </a:r>
                    </a:p>
                  </a:txBody>
                  <a:tcPr marL="60960" marR="60960" marT="60960" marB="60960"/>
                </a:tc>
                <a:extLst>
                  <a:ext uri="{0D108BD9-81ED-4DB2-BD59-A6C34878D82A}">
                    <a16:rowId xmlns:a16="http://schemas.microsoft.com/office/drawing/2014/main" val="659896477"/>
                  </a:ext>
                </a:extLst>
              </a:tr>
              <a:tr h="370840">
                <a:tc>
                  <a:txBody>
                    <a:bodyPr/>
                    <a:lstStyle/>
                    <a:p>
                      <a:pPr fontAlgn="t"/>
                      <a:r>
                        <a:rPr lang="zh-CN" altLang="en-US" sz="1000">
                          <a:effectLst/>
                        </a:rPr>
                        <a:t>班级</a:t>
                      </a:r>
                    </a:p>
                  </a:txBody>
                  <a:tcPr marL="60960" marR="60960" marT="60960" marB="60960"/>
                </a:tc>
                <a:tc>
                  <a:txBody>
                    <a:bodyPr/>
                    <a:lstStyle/>
                    <a:p>
                      <a:pPr fontAlgn="t"/>
                      <a:r>
                        <a:rPr lang="zh-CN" altLang="en-US" sz="1000">
                          <a:effectLst/>
                        </a:rPr>
                        <a:t>指标点</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班级课程达成度关系</a:t>
                      </a:r>
                    </a:p>
                  </a:txBody>
                  <a:tcPr marL="60960" marR="60960" marT="60960" marB="60960"/>
                </a:tc>
                <a:tc>
                  <a:txBody>
                    <a:bodyPr/>
                    <a:lstStyle/>
                    <a:p>
                      <a:pPr fontAlgn="t"/>
                      <a:r>
                        <a:rPr lang="zh-CN" altLang="en-US" sz="1000">
                          <a:effectLst/>
                        </a:rPr>
                        <a:t>班级维度统计课程对应指标点整体达成度</a:t>
                      </a:r>
                    </a:p>
                  </a:txBody>
                  <a:tcPr marL="60960" marR="60960" marT="60960" marB="60960"/>
                </a:tc>
                <a:extLst>
                  <a:ext uri="{0D108BD9-81ED-4DB2-BD59-A6C34878D82A}">
                    <a16:rowId xmlns:a16="http://schemas.microsoft.com/office/drawing/2014/main" val="2636283727"/>
                  </a:ext>
                </a:extLst>
              </a:tr>
              <a:tr h="370840">
                <a:tc>
                  <a:txBody>
                    <a:bodyPr/>
                    <a:lstStyle/>
                    <a:p>
                      <a:pPr fontAlgn="t"/>
                      <a:r>
                        <a:rPr lang="zh-CN" altLang="en-US" sz="1000">
                          <a:effectLst/>
                        </a:rPr>
                        <a:t>专业</a:t>
                      </a:r>
                    </a:p>
                  </a:txBody>
                  <a:tcPr marL="60960" marR="60960" marT="60960" marB="60960"/>
                </a:tc>
                <a:tc>
                  <a:txBody>
                    <a:bodyPr/>
                    <a:lstStyle/>
                    <a:p>
                      <a:pPr fontAlgn="t"/>
                      <a:r>
                        <a:rPr lang="zh-CN" altLang="en-US" sz="1000">
                          <a:effectLst/>
                        </a:rPr>
                        <a:t>指标点</a:t>
                      </a:r>
                    </a:p>
                  </a:txBody>
                  <a:tcPr marL="60960" marR="60960" marT="60960" marB="60960"/>
                </a:tc>
                <a:tc>
                  <a:txBody>
                    <a:bodyPr/>
                    <a:lstStyle/>
                    <a:p>
                      <a:pPr fontAlgn="t"/>
                      <a:r>
                        <a:rPr lang="en-US" sz="1000">
                          <a:effectLst/>
                        </a:rPr>
                        <a:t>M:N</a:t>
                      </a:r>
                    </a:p>
                  </a:txBody>
                  <a:tcPr marL="60960" marR="60960" marT="60960" marB="60960"/>
                </a:tc>
                <a:tc>
                  <a:txBody>
                    <a:bodyPr/>
                    <a:lstStyle/>
                    <a:p>
                      <a:pPr fontAlgn="t"/>
                      <a:r>
                        <a:rPr lang="zh-CN" altLang="en-US" sz="1000">
                          <a:effectLst/>
                        </a:rPr>
                        <a:t>专业级达成度</a:t>
                      </a:r>
                    </a:p>
                  </a:txBody>
                  <a:tcPr marL="60960" marR="60960" marT="60960" marB="60960"/>
                </a:tc>
                <a:tc>
                  <a:txBody>
                    <a:bodyPr/>
                    <a:lstStyle/>
                    <a:p>
                      <a:pPr fontAlgn="t"/>
                      <a:r>
                        <a:rPr lang="zh-CN" altLang="en-US" sz="1000">
                          <a:effectLst/>
                        </a:rPr>
                        <a:t>专业维度汇总生成指标点最终整体达成度</a:t>
                      </a:r>
                    </a:p>
                  </a:txBody>
                  <a:tcPr marL="60960" marR="60960" marT="60960" marB="60960"/>
                </a:tc>
                <a:extLst>
                  <a:ext uri="{0D108BD9-81ED-4DB2-BD59-A6C34878D82A}">
                    <a16:rowId xmlns:a16="http://schemas.microsoft.com/office/drawing/2014/main" val="283100014"/>
                  </a:ext>
                </a:extLst>
              </a:tr>
            </a:tbl>
          </a:graphicData>
        </a:graphic>
      </p:graphicFrame>
      <p:pic>
        <p:nvPicPr>
          <p:cNvPr id="5" name="图片 4" descr="文本&#10;&#10;AI 生成的内容可能不正确。">
            <a:extLst>
              <a:ext uri="{FF2B5EF4-FFF2-40B4-BE49-F238E27FC236}">
                <a16:creationId xmlns:a16="http://schemas.microsoft.com/office/drawing/2014/main" id="{E21DB01C-1A04-4A90-ABB2-B487CA22ECA5}"/>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2237976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0456BD6-63E2-4C43-AE3F-8D08F648F49E}"/>
              </a:ext>
            </a:extLst>
          </p:cNvPr>
          <p:cNvPicPr>
            <a:picLocks noChangeAspect="1"/>
          </p:cNvPicPr>
          <p:nvPr/>
        </p:nvPicPr>
        <p:blipFill>
          <a:blip r:embed="rId3"/>
          <a:stretch>
            <a:fillRect/>
          </a:stretch>
        </p:blipFill>
        <p:spPr>
          <a:xfrm>
            <a:off x="829333" y="171857"/>
            <a:ext cx="10533333" cy="6514286"/>
          </a:xfrm>
          <a:prstGeom prst="rect">
            <a:avLst/>
          </a:prstGeom>
        </p:spPr>
      </p:pic>
    </p:spTree>
    <p:extLst>
      <p:ext uri="{BB962C8B-B14F-4D97-AF65-F5344CB8AC3E}">
        <p14:creationId xmlns:p14="http://schemas.microsoft.com/office/powerpoint/2010/main" val="4057881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9D13FD52-519C-40A1-A1FD-8C37122FD4A4}"/>
              </a:ext>
            </a:extLst>
          </p:cNvPr>
          <p:cNvGraphicFramePr>
            <a:graphicFrameLocks noGrp="1"/>
          </p:cNvGraphicFramePr>
          <p:nvPr>
            <p:extLst>
              <p:ext uri="{D42A27DB-BD31-4B8C-83A1-F6EECF244321}">
                <p14:modId xmlns:p14="http://schemas.microsoft.com/office/powerpoint/2010/main" val="3912406175"/>
              </p:ext>
            </p:extLst>
          </p:nvPr>
        </p:nvGraphicFramePr>
        <p:xfrm>
          <a:off x="232756" y="229215"/>
          <a:ext cx="11870576" cy="6324600"/>
        </p:xfrm>
        <a:graphic>
          <a:graphicData uri="http://schemas.openxmlformats.org/drawingml/2006/table">
            <a:tbl>
              <a:tblPr firstRow="1" bandRow="1">
                <a:tableStyleId>{5C22544A-7EE6-4342-B048-85BDC9FD1C3A}</a:tableStyleId>
              </a:tblPr>
              <a:tblGrid>
                <a:gridCol w="2967644">
                  <a:extLst>
                    <a:ext uri="{9D8B030D-6E8A-4147-A177-3AD203B41FA5}">
                      <a16:colId xmlns:a16="http://schemas.microsoft.com/office/drawing/2014/main" val="2965182818"/>
                    </a:ext>
                  </a:extLst>
                </a:gridCol>
                <a:gridCol w="2967644">
                  <a:extLst>
                    <a:ext uri="{9D8B030D-6E8A-4147-A177-3AD203B41FA5}">
                      <a16:colId xmlns:a16="http://schemas.microsoft.com/office/drawing/2014/main" val="3832619672"/>
                    </a:ext>
                  </a:extLst>
                </a:gridCol>
                <a:gridCol w="2967644">
                  <a:extLst>
                    <a:ext uri="{9D8B030D-6E8A-4147-A177-3AD203B41FA5}">
                      <a16:colId xmlns:a16="http://schemas.microsoft.com/office/drawing/2014/main" val="424784646"/>
                    </a:ext>
                  </a:extLst>
                </a:gridCol>
                <a:gridCol w="2967644">
                  <a:extLst>
                    <a:ext uri="{9D8B030D-6E8A-4147-A177-3AD203B41FA5}">
                      <a16:colId xmlns:a16="http://schemas.microsoft.com/office/drawing/2014/main" val="867359746"/>
                    </a:ext>
                  </a:extLst>
                </a:gridCol>
              </a:tblGrid>
              <a:tr h="370840">
                <a:tc>
                  <a:txBody>
                    <a:bodyPr/>
                    <a:lstStyle/>
                    <a:p>
                      <a:pPr algn="l" fontAlgn="t"/>
                      <a:r>
                        <a:rPr lang="en-US" altLang="zh-CN" b="1">
                          <a:effectLst/>
                          <a:latin typeface="inherit"/>
                        </a:rPr>
                        <a:t>#</a:t>
                      </a:r>
                    </a:p>
                  </a:txBody>
                  <a:tcPr marL="76200" marR="76200" marT="76200" marB="76200"/>
                </a:tc>
                <a:tc>
                  <a:txBody>
                    <a:bodyPr/>
                    <a:lstStyle/>
                    <a:p>
                      <a:pPr algn="l" fontAlgn="t"/>
                      <a:r>
                        <a:rPr lang="zh-CN" altLang="en-US" b="1">
                          <a:effectLst/>
                          <a:latin typeface="inherit"/>
                        </a:rPr>
                        <a:t>中文表名</a:t>
                      </a:r>
                    </a:p>
                  </a:txBody>
                  <a:tcPr marL="76200" marR="76200" marT="76200" marB="76200"/>
                </a:tc>
                <a:tc>
                  <a:txBody>
                    <a:bodyPr/>
                    <a:lstStyle/>
                    <a:p>
                      <a:pPr algn="l" fontAlgn="t"/>
                      <a:r>
                        <a:rPr lang="zh-CN" altLang="en-US" b="1">
                          <a:effectLst/>
                          <a:latin typeface="inherit"/>
                        </a:rPr>
                        <a:t>英文表名</a:t>
                      </a:r>
                    </a:p>
                  </a:txBody>
                  <a:tcPr marL="76200" marR="76200" marT="76200" marB="76200"/>
                </a:tc>
                <a:tc>
                  <a:txBody>
                    <a:bodyPr/>
                    <a:lstStyle/>
                    <a:p>
                      <a:pPr algn="l" fontAlgn="t"/>
                      <a:r>
                        <a:rPr lang="zh-CN" altLang="en-US" b="1">
                          <a:effectLst/>
                          <a:latin typeface="inherit"/>
                        </a:rPr>
                        <a:t>字段说明</a:t>
                      </a:r>
                    </a:p>
                  </a:txBody>
                  <a:tcPr marL="76200" marR="76200" marT="76200" marB="76200"/>
                </a:tc>
                <a:extLst>
                  <a:ext uri="{0D108BD9-81ED-4DB2-BD59-A6C34878D82A}">
                    <a16:rowId xmlns:a16="http://schemas.microsoft.com/office/drawing/2014/main" val="2612569042"/>
                  </a:ext>
                </a:extLst>
              </a:tr>
              <a:tr h="370840">
                <a:tc>
                  <a:txBody>
                    <a:bodyPr/>
                    <a:lstStyle/>
                    <a:p>
                      <a:pPr algn="l" fontAlgn="t"/>
                      <a:r>
                        <a:rPr lang="en-US" altLang="zh-CN">
                          <a:effectLst/>
                          <a:latin typeface="inherit"/>
                        </a:rPr>
                        <a:t>1</a:t>
                      </a:r>
                    </a:p>
                  </a:txBody>
                  <a:tcPr marL="76200" marR="76200" marT="76200" marB="76200"/>
                </a:tc>
                <a:tc>
                  <a:txBody>
                    <a:bodyPr/>
                    <a:lstStyle/>
                    <a:p>
                      <a:pPr algn="l" fontAlgn="t"/>
                      <a:r>
                        <a:rPr lang="zh-CN" altLang="en-US">
                          <a:effectLst/>
                          <a:latin typeface="inherit"/>
                        </a:rPr>
                        <a:t>学院</a:t>
                      </a:r>
                    </a:p>
                  </a:txBody>
                  <a:tcPr marL="76200" marR="76200" marT="76200" marB="76200"/>
                </a:tc>
                <a:tc>
                  <a:txBody>
                    <a:bodyPr/>
                    <a:lstStyle/>
                    <a:p>
                      <a:pPr algn="l" fontAlgn="t"/>
                      <a:r>
                        <a:rPr lang="en-US">
                          <a:effectLst/>
                          <a:latin typeface="inherit"/>
                        </a:rPr>
                        <a:t>sys_departments</a:t>
                      </a:r>
                    </a:p>
                  </a:txBody>
                  <a:tcPr marL="76200" marR="76200" marT="76200" marB="76200"/>
                </a:tc>
                <a:tc>
                  <a:txBody>
                    <a:bodyPr/>
                    <a:lstStyle/>
                    <a:p>
                      <a:pPr algn="l" fontAlgn="t"/>
                      <a:r>
                        <a:rPr lang="fr-FR">
                          <a:effectLst/>
                          <a:latin typeface="inherit"/>
                        </a:rPr>
                        <a:t>id (PK), dept_name, dept_code, description</a:t>
                      </a:r>
                    </a:p>
                  </a:txBody>
                  <a:tcPr marL="76200" marR="76200" marT="76200" marB="76200"/>
                </a:tc>
                <a:extLst>
                  <a:ext uri="{0D108BD9-81ED-4DB2-BD59-A6C34878D82A}">
                    <a16:rowId xmlns:a16="http://schemas.microsoft.com/office/drawing/2014/main" val="2026055333"/>
                  </a:ext>
                </a:extLst>
              </a:tr>
              <a:tr h="370840">
                <a:tc>
                  <a:txBody>
                    <a:bodyPr/>
                    <a:lstStyle/>
                    <a:p>
                      <a:pPr algn="l" fontAlgn="t"/>
                      <a:r>
                        <a:rPr lang="en-US" altLang="zh-CN">
                          <a:effectLst/>
                          <a:latin typeface="inherit"/>
                        </a:rPr>
                        <a:t>2</a:t>
                      </a:r>
                    </a:p>
                  </a:txBody>
                  <a:tcPr marL="76200" marR="76200" marT="76200" marB="76200"/>
                </a:tc>
                <a:tc>
                  <a:txBody>
                    <a:bodyPr/>
                    <a:lstStyle/>
                    <a:p>
                      <a:pPr algn="l" fontAlgn="t"/>
                      <a:r>
                        <a:rPr lang="zh-CN" altLang="en-US">
                          <a:effectLst/>
                          <a:latin typeface="inherit"/>
                        </a:rPr>
                        <a:t>专业</a:t>
                      </a:r>
                    </a:p>
                  </a:txBody>
                  <a:tcPr marL="76200" marR="76200" marT="76200" marB="76200"/>
                </a:tc>
                <a:tc>
                  <a:txBody>
                    <a:bodyPr/>
                    <a:lstStyle/>
                    <a:p>
                      <a:pPr algn="l" fontAlgn="t"/>
                      <a:r>
                        <a:rPr lang="en-US">
                          <a:effectLst/>
                          <a:latin typeface="inherit"/>
                        </a:rPr>
                        <a:t>profession</a:t>
                      </a:r>
                    </a:p>
                  </a:txBody>
                  <a:tcPr marL="76200" marR="76200" marT="76200" marB="76200"/>
                </a:tc>
                <a:tc>
                  <a:txBody>
                    <a:bodyPr/>
                    <a:lstStyle/>
                    <a:p>
                      <a:pPr algn="l" fontAlgn="t"/>
                      <a:r>
                        <a:rPr lang="en-US">
                          <a:effectLst/>
                          <a:latin typeface="inherit"/>
                        </a:rPr>
                        <a:t>id (PK), prof_name, prof_code, description</a:t>
                      </a:r>
                    </a:p>
                  </a:txBody>
                  <a:tcPr marL="76200" marR="76200" marT="76200" marB="76200"/>
                </a:tc>
                <a:extLst>
                  <a:ext uri="{0D108BD9-81ED-4DB2-BD59-A6C34878D82A}">
                    <a16:rowId xmlns:a16="http://schemas.microsoft.com/office/drawing/2014/main" val="3640326162"/>
                  </a:ext>
                </a:extLst>
              </a:tr>
              <a:tr h="370840">
                <a:tc>
                  <a:txBody>
                    <a:bodyPr/>
                    <a:lstStyle/>
                    <a:p>
                      <a:pPr algn="l" fontAlgn="t"/>
                      <a:r>
                        <a:rPr lang="en-US" altLang="zh-CN">
                          <a:effectLst/>
                          <a:latin typeface="inherit"/>
                        </a:rPr>
                        <a:t>3</a:t>
                      </a:r>
                    </a:p>
                  </a:txBody>
                  <a:tcPr marL="76200" marR="76200" marT="76200" marB="76200"/>
                </a:tc>
                <a:tc>
                  <a:txBody>
                    <a:bodyPr/>
                    <a:lstStyle/>
                    <a:p>
                      <a:pPr algn="l" fontAlgn="t"/>
                      <a:r>
                        <a:rPr lang="zh-CN" altLang="en-US">
                          <a:effectLst/>
                          <a:latin typeface="inherit"/>
                        </a:rPr>
                        <a:t>课程</a:t>
                      </a:r>
                    </a:p>
                  </a:txBody>
                  <a:tcPr marL="76200" marR="76200" marT="76200" marB="76200"/>
                </a:tc>
                <a:tc>
                  <a:txBody>
                    <a:bodyPr/>
                    <a:lstStyle/>
                    <a:p>
                      <a:pPr algn="l" fontAlgn="t"/>
                      <a:r>
                        <a:rPr lang="en-US">
                          <a:effectLst/>
                          <a:latin typeface="inherit"/>
                        </a:rPr>
                        <a:t>course</a:t>
                      </a:r>
                    </a:p>
                  </a:txBody>
                  <a:tcPr marL="76200" marR="76200" marT="76200" marB="76200"/>
                </a:tc>
                <a:tc>
                  <a:txBody>
                    <a:bodyPr/>
                    <a:lstStyle/>
                    <a:p>
                      <a:pPr algn="l" fontAlgn="t"/>
                      <a:r>
                        <a:rPr lang="en-US">
                          <a:effectLst/>
                          <a:latin typeface="inherit"/>
                        </a:rPr>
                        <a:t>id (PK), course_name, course_code, credits, description</a:t>
                      </a:r>
                    </a:p>
                  </a:txBody>
                  <a:tcPr marL="76200" marR="76200" marT="76200" marB="76200"/>
                </a:tc>
                <a:extLst>
                  <a:ext uri="{0D108BD9-81ED-4DB2-BD59-A6C34878D82A}">
                    <a16:rowId xmlns:a16="http://schemas.microsoft.com/office/drawing/2014/main" val="4013861221"/>
                  </a:ext>
                </a:extLst>
              </a:tr>
              <a:tr h="370840">
                <a:tc>
                  <a:txBody>
                    <a:bodyPr/>
                    <a:lstStyle/>
                    <a:p>
                      <a:pPr algn="l" fontAlgn="t"/>
                      <a:r>
                        <a:rPr lang="en-US" altLang="zh-CN">
                          <a:effectLst/>
                          <a:latin typeface="inherit"/>
                        </a:rPr>
                        <a:t>4</a:t>
                      </a:r>
                    </a:p>
                  </a:txBody>
                  <a:tcPr marL="76200" marR="76200" marT="76200" marB="76200"/>
                </a:tc>
                <a:tc>
                  <a:txBody>
                    <a:bodyPr/>
                    <a:lstStyle/>
                    <a:p>
                      <a:pPr algn="l" fontAlgn="t"/>
                      <a:r>
                        <a:rPr lang="zh-CN" altLang="en-US">
                          <a:effectLst/>
                          <a:latin typeface="inherit"/>
                        </a:rPr>
                        <a:t>课程目标</a:t>
                      </a:r>
                    </a:p>
                  </a:txBody>
                  <a:tcPr marL="76200" marR="76200" marT="76200" marB="76200"/>
                </a:tc>
                <a:tc>
                  <a:txBody>
                    <a:bodyPr/>
                    <a:lstStyle/>
                    <a:p>
                      <a:pPr algn="l" fontAlgn="t"/>
                      <a:r>
                        <a:rPr lang="en-US">
                          <a:effectLst/>
                          <a:latin typeface="inherit"/>
                        </a:rPr>
                        <a:t>course_objective</a:t>
                      </a:r>
                    </a:p>
                  </a:txBody>
                  <a:tcPr marL="76200" marR="76200" marT="76200" marB="76200"/>
                </a:tc>
                <a:tc>
                  <a:txBody>
                    <a:bodyPr/>
                    <a:lstStyle/>
                    <a:p>
                      <a:pPr algn="l" fontAlgn="t"/>
                      <a:r>
                        <a:rPr lang="en-US">
                          <a:effectLst/>
                          <a:latin typeface="inherit"/>
                        </a:rPr>
                        <a:t>id (PK), objective_code, objective_name, description</a:t>
                      </a:r>
                    </a:p>
                  </a:txBody>
                  <a:tcPr marL="76200" marR="76200" marT="76200" marB="76200"/>
                </a:tc>
                <a:extLst>
                  <a:ext uri="{0D108BD9-81ED-4DB2-BD59-A6C34878D82A}">
                    <a16:rowId xmlns:a16="http://schemas.microsoft.com/office/drawing/2014/main" val="2658530647"/>
                  </a:ext>
                </a:extLst>
              </a:tr>
              <a:tr h="370840">
                <a:tc>
                  <a:txBody>
                    <a:bodyPr/>
                    <a:lstStyle/>
                    <a:p>
                      <a:pPr algn="l" fontAlgn="t"/>
                      <a:r>
                        <a:rPr lang="en-US" altLang="zh-CN">
                          <a:effectLst/>
                          <a:latin typeface="inherit"/>
                        </a:rPr>
                        <a:t>5</a:t>
                      </a:r>
                    </a:p>
                  </a:txBody>
                  <a:tcPr marL="76200" marR="76200" marT="76200" marB="76200"/>
                </a:tc>
                <a:tc>
                  <a:txBody>
                    <a:bodyPr/>
                    <a:lstStyle/>
                    <a:p>
                      <a:pPr algn="l" fontAlgn="t"/>
                      <a:r>
                        <a:rPr lang="zh-CN" altLang="en-US">
                          <a:effectLst/>
                          <a:latin typeface="inherit"/>
                        </a:rPr>
                        <a:t>考核点</a:t>
                      </a:r>
                    </a:p>
                  </a:txBody>
                  <a:tcPr marL="76200" marR="76200" marT="76200" marB="76200"/>
                </a:tc>
                <a:tc>
                  <a:txBody>
                    <a:bodyPr/>
                    <a:lstStyle/>
                    <a:p>
                      <a:pPr algn="l" fontAlgn="t"/>
                      <a:r>
                        <a:rPr lang="en-US">
                          <a:effectLst/>
                          <a:latin typeface="inherit"/>
                        </a:rPr>
                        <a:t>assessment_point</a:t>
                      </a:r>
                    </a:p>
                  </a:txBody>
                  <a:tcPr marL="76200" marR="76200" marT="76200" marB="76200"/>
                </a:tc>
                <a:tc>
                  <a:txBody>
                    <a:bodyPr/>
                    <a:lstStyle/>
                    <a:p>
                      <a:pPr algn="l" fontAlgn="t"/>
                      <a:r>
                        <a:rPr lang="en-US">
                          <a:effectLst/>
                          <a:latin typeface="inherit"/>
                        </a:rPr>
                        <a:t>id (PK), point_code, point_name, full_score</a:t>
                      </a:r>
                    </a:p>
                  </a:txBody>
                  <a:tcPr marL="76200" marR="76200" marT="76200" marB="76200"/>
                </a:tc>
                <a:extLst>
                  <a:ext uri="{0D108BD9-81ED-4DB2-BD59-A6C34878D82A}">
                    <a16:rowId xmlns:a16="http://schemas.microsoft.com/office/drawing/2014/main" val="3200461249"/>
                  </a:ext>
                </a:extLst>
              </a:tr>
              <a:tr h="370840">
                <a:tc>
                  <a:txBody>
                    <a:bodyPr/>
                    <a:lstStyle/>
                    <a:p>
                      <a:pPr algn="l" fontAlgn="t"/>
                      <a:r>
                        <a:rPr lang="en-US" altLang="zh-CN">
                          <a:effectLst/>
                          <a:latin typeface="inherit"/>
                        </a:rPr>
                        <a:t>6</a:t>
                      </a:r>
                    </a:p>
                  </a:txBody>
                  <a:tcPr marL="76200" marR="76200" marT="76200" marB="76200"/>
                </a:tc>
                <a:tc>
                  <a:txBody>
                    <a:bodyPr/>
                    <a:lstStyle/>
                    <a:p>
                      <a:pPr algn="l" fontAlgn="t"/>
                      <a:r>
                        <a:rPr lang="zh-CN" altLang="en-US">
                          <a:effectLst/>
                          <a:latin typeface="inherit"/>
                        </a:rPr>
                        <a:t>毕业要求</a:t>
                      </a:r>
                    </a:p>
                  </a:txBody>
                  <a:tcPr marL="76200" marR="76200" marT="76200" marB="76200"/>
                </a:tc>
                <a:tc>
                  <a:txBody>
                    <a:bodyPr/>
                    <a:lstStyle/>
                    <a:p>
                      <a:pPr algn="l" fontAlgn="t"/>
                      <a:r>
                        <a:rPr lang="en-US">
                          <a:effectLst/>
                          <a:latin typeface="inherit"/>
                        </a:rPr>
                        <a:t>graduation_requirement</a:t>
                      </a:r>
                    </a:p>
                  </a:txBody>
                  <a:tcPr marL="76200" marR="76200" marT="76200" marB="76200"/>
                </a:tc>
                <a:tc>
                  <a:txBody>
                    <a:bodyPr/>
                    <a:lstStyle/>
                    <a:p>
                      <a:pPr algn="l" fontAlgn="t"/>
                      <a:r>
                        <a:rPr lang="en-US">
                          <a:effectLst/>
                          <a:latin typeface="inherit"/>
                        </a:rPr>
                        <a:t>id (PK), requirement_name, requirement_code, description</a:t>
                      </a:r>
                    </a:p>
                  </a:txBody>
                  <a:tcPr marL="76200" marR="76200" marT="76200" marB="76200"/>
                </a:tc>
                <a:extLst>
                  <a:ext uri="{0D108BD9-81ED-4DB2-BD59-A6C34878D82A}">
                    <a16:rowId xmlns:a16="http://schemas.microsoft.com/office/drawing/2014/main" val="3361931690"/>
                  </a:ext>
                </a:extLst>
              </a:tr>
              <a:tr h="370840">
                <a:tc>
                  <a:txBody>
                    <a:bodyPr/>
                    <a:lstStyle/>
                    <a:p>
                      <a:pPr algn="l" fontAlgn="t"/>
                      <a:r>
                        <a:rPr lang="en-US" altLang="zh-CN">
                          <a:effectLst/>
                          <a:latin typeface="inherit"/>
                        </a:rPr>
                        <a:t>7</a:t>
                      </a:r>
                    </a:p>
                  </a:txBody>
                  <a:tcPr marL="76200" marR="76200" marT="76200" marB="76200"/>
                </a:tc>
                <a:tc>
                  <a:txBody>
                    <a:bodyPr/>
                    <a:lstStyle/>
                    <a:p>
                      <a:pPr algn="l" fontAlgn="t"/>
                      <a:r>
                        <a:rPr lang="zh-CN" altLang="en-US">
                          <a:effectLst/>
                          <a:latin typeface="inherit"/>
                        </a:rPr>
                        <a:t>指标点</a:t>
                      </a:r>
                    </a:p>
                  </a:txBody>
                  <a:tcPr marL="76200" marR="76200" marT="76200" marB="76200"/>
                </a:tc>
                <a:tc>
                  <a:txBody>
                    <a:bodyPr/>
                    <a:lstStyle/>
                    <a:p>
                      <a:pPr algn="l" fontAlgn="t"/>
                      <a:r>
                        <a:rPr lang="en-US">
                          <a:effectLst/>
                          <a:latin typeface="inherit"/>
                        </a:rPr>
                        <a:t>requirement_item</a:t>
                      </a:r>
                    </a:p>
                  </a:txBody>
                  <a:tcPr marL="76200" marR="76200" marT="76200" marB="76200"/>
                </a:tc>
                <a:tc>
                  <a:txBody>
                    <a:bodyPr/>
                    <a:lstStyle/>
                    <a:p>
                      <a:pPr algn="l" fontAlgn="t"/>
                      <a:r>
                        <a:rPr lang="en-US">
                          <a:effectLst/>
                          <a:latin typeface="inherit"/>
                        </a:rPr>
                        <a:t>id (PK), item_code, item_name, description</a:t>
                      </a:r>
                    </a:p>
                  </a:txBody>
                  <a:tcPr marL="76200" marR="76200" marT="76200" marB="76200"/>
                </a:tc>
                <a:extLst>
                  <a:ext uri="{0D108BD9-81ED-4DB2-BD59-A6C34878D82A}">
                    <a16:rowId xmlns:a16="http://schemas.microsoft.com/office/drawing/2014/main" val="3976186941"/>
                  </a:ext>
                </a:extLst>
              </a:tr>
              <a:tr h="370840">
                <a:tc>
                  <a:txBody>
                    <a:bodyPr/>
                    <a:lstStyle/>
                    <a:p>
                      <a:pPr algn="l" fontAlgn="t"/>
                      <a:r>
                        <a:rPr lang="en-US" altLang="zh-CN">
                          <a:effectLst/>
                          <a:latin typeface="inherit"/>
                        </a:rPr>
                        <a:t>8</a:t>
                      </a:r>
                    </a:p>
                  </a:txBody>
                  <a:tcPr marL="76200" marR="76200" marT="76200" marB="76200"/>
                </a:tc>
                <a:tc>
                  <a:txBody>
                    <a:bodyPr/>
                    <a:lstStyle/>
                    <a:p>
                      <a:pPr algn="l" fontAlgn="t"/>
                      <a:r>
                        <a:rPr lang="zh-CN" altLang="en-US">
                          <a:effectLst/>
                          <a:latin typeface="inherit"/>
                        </a:rPr>
                        <a:t>教学班级</a:t>
                      </a:r>
                    </a:p>
                  </a:txBody>
                  <a:tcPr marL="76200" marR="76200" marT="76200" marB="76200"/>
                </a:tc>
                <a:tc>
                  <a:txBody>
                    <a:bodyPr/>
                    <a:lstStyle/>
                    <a:p>
                      <a:pPr algn="l" fontAlgn="t"/>
                      <a:r>
                        <a:rPr lang="en-US">
                          <a:effectLst/>
                          <a:latin typeface="inherit"/>
                        </a:rPr>
                        <a:t>classes</a:t>
                      </a:r>
                    </a:p>
                  </a:txBody>
                  <a:tcPr marL="76200" marR="76200" marT="76200" marB="76200"/>
                </a:tc>
                <a:tc>
                  <a:txBody>
                    <a:bodyPr/>
                    <a:lstStyle/>
                    <a:p>
                      <a:pPr algn="l" fontAlgn="t"/>
                      <a:r>
                        <a:rPr lang="en-US">
                          <a:effectLst/>
                          <a:latin typeface="inherit"/>
                        </a:rPr>
                        <a:t>id (PK), class_name, class_code</a:t>
                      </a:r>
                    </a:p>
                  </a:txBody>
                  <a:tcPr marL="76200" marR="76200" marT="76200" marB="76200"/>
                </a:tc>
                <a:extLst>
                  <a:ext uri="{0D108BD9-81ED-4DB2-BD59-A6C34878D82A}">
                    <a16:rowId xmlns:a16="http://schemas.microsoft.com/office/drawing/2014/main" val="683446447"/>
                  </a:ext>
                </a:extLst>
              </a:tr>
              <a:tr h="370840">
                <a:tc>
                  <a:txBody>
                    <a:bodyPr/>
                    <a:lstStyle/>
                    <a:p>
                      <a:pPr algn="l" fontAlgn="t"/>
                      <a:r>
                        <a:rPr lang="en-US" altLang="zh-CN">
                          <a:effectLst/>
                          <a:latin typeface="inherit"/>
                        </a:rPr>
                        <a:t>9</a:t>
                      </a:r>
                    </a:p>
                  </a:txBody>
                  <a:tcPr marL="76200" marR="76200" marT="76200" marB="76200"/>
                </a:tc>
                <a:tc>
                  <a:txBody>
                    <a:bodyPr/>
                    <a:lstStyle/>
                    <a:p>
                      <a:pPr algn="l" fontAlgn="t"/>
                      <a:r>
                        <a:rPr lang="zh-CN" altLang="en-US">
                          <a:effectLst/>
                          <a:latin typeface="inherit"/>
                        </a:rPr>
                        <a:t>学生</a:t>
                      </a:r>
                    </a:p>
                  </a:txBody>
                  <a:tcPr marL="76200" marR="76200" marT="76200" marB="76200"/>
                </a:tc>
                <a:tc>
                  <a:txBody>
                    <a:bodyPr/>
                    <a:lstStyle/>
                    <a:p>
                      <a:pPr algn="l" fontAlgn="t"/>
                      <a:r>
                        <a:rPr lang="en-US">
                          <a:effectLst/>
                          <a:latin typeface="inherit"/>
                        </a:rPr>
                        <a:t>students</a:t>
                      </a:r>
                    </a:p>
                  </a:txBody>
                  <a:tcPr marL="76200" marR="76200" marT="76200" marB="76200"/>
                </a:tc>
                <a:tc>
                  <a:txBody>
                    <a:bodyPr/>
                    <a:lstStyle/>
                    <a:p>
                      <a:pPr algn="l" fontAlgn="t"/>
                      <a:r>
                        <a:rPr lang="en-US">
                          <a:effectLst/>
                          <a:latin typeface="inherit"/>
                        </a:rPr>
                        <a:t>id (PK), student_no, student_name, gender, email, status</a:t>
                      </a:r>
                    </a:p>
                  </a:txBody>
                  <a:tcPr marL="76200" marR="76200" marT="76200" marB="76200"/>
                </a:tc>
                <a:extLst>
                  <a:ext uri="{0D108BD9-81ED-4DB2-BD59-A6C34878D82A}">
                    <a16:rowId xmlns:a16="http://schemas.microsoft.com/office/drawing/2014/main" val="3258797737"/>
                  </a:ext>
                </a:extLst>
              </a:tr>
              <a:tr h="370840">
                <a:tc>
                  <a:txBody>
                    <a:bodyPr/>
                    <a:lstStyle/>
                    <a:p>
                      <a:pPr algn="l" fontAlgn="t"/>
                      <a:r>
                        <a:rPr lang="en-US" altLang="zh-CN">
                          <a:effectLst/>
                          <a:latin typeface="inherit"/>
                        </a:rPr>
                        <a:t>10</a:t>
                      </a:r>
                    </a:p>
                  </a:txBody>
                  <a:tcPr marL="76200" marR="76200" marT="76200" marB="76200"/>
                </a:tc>
                <a:tc>
                  <a:txBody>
                    <a:bodyPr/>
                    <a:lstStyle/>
                    <a:p>
                      <a:pPr algn="l" fontAlgn="t"/>
                      <a:r>
                        <a:rPr lang="zh-CN" altLang="en-US">
                          <a:effectLst/>
                          <a:latin typeface="inherit"/>
                        </a:rPr>
                        <a:t>用户</a:t>
                      </a:r>
                    </a:p>
                  </a:txBody>
                  <a:tcPr marL="76200" marR="76200" marT="76200" marB="76200"/>
                </a:tc>
                <a:tc>
                  <a:txBody>
                    <a:bodyPr/>
                    <a:lstStyle/>
                    <a:p>
                      <a:pPr algn="l" fontAlgn="t"/>
                      <a:r>
                        <a:rPr lang="en-US">
                          <a:effectLst/>
                          <a:latin typeface="inherit"/>
                        </a:rPr>
                        <a:t>sys_users</a:t>
                      </a:r>
                    </a:p>
                  </a:txBody>
                  <a:tcPr marL="76200" marR="76200" marT="76200" marB="76200"/>
                </a:tc>
                <a:tc>
                  <a:txBody>
                    <a:bodyPr/>
                    <a:lstStyle/>
                    <a:p>
                      <a:pPr algn="l" fontAlgn="t"/>
                      <a:r>
                        <a:rPr lang="en-US">
                          <a:effectLst/>
                          <a:latin typeface="inherit"/>
                        </a:rPr>
                        <a:t>id (PK), username, password, full_name, email</a:t>
                      </a:r>
                    </a:p>
                  </a:txBody>
                  <a:tcPr marL="76200" marR="76200" marT="76200" marB="76200"/>
                </a:tc>
                <a:extLst>
                  <a:ext uri="{0D108BD9-81ED-4DB2-BD59-A6C34878D82A}">
                    <a16:rowId xmlns:a16="http://schemas.microsoft.com/office/drawing/2014/main" val="2242980873"/>
                  </a:ext>
                </a:extLst>
              </a:tr>
              <a:tr h="370840">
                <a:tc>
                  <a:txBody>
                    <a:bodyPr/>
                    <a:lstStyle/>
                    <a:p>
                      <a:pPr algn="l" fontAlgn="t"/>
                      <a:r>
                        <a:rPr lang="en-US" altLang="zh-CN">
                          <a:effectLst/>
                          <a:latin typeface="inherit"/>
                        </a:rPr>
                        <a:t>11</a:t>
                      </a:r>
                    </a:p>
                  </a:txBody>
                  <a:tcPr marL="76200" marR="76200" marT="76200" marB="76200"/>
                </a:tc>
                <a:tc>
                  <a:txBody>
                    <a:bodyPr/>
                    <a:lstStyle/>
                    <a:p>
                      <a:pPr algn="l" fontAlgn="t"/>
                      <a:r>
                        <a:rPr lang="zh-CN" altLang="en-US">
                          <a:effectLst/>
                          <a:latin typeface="inherit"/>
                        </a:rPr>
                        <a:t>角色</a:t>
                      </a:r>
                    </a:p>
                  </a:txBody>
                  <a:tcPr marL="76200" marR="76200" marT="76200" marB="76200"/>
                </a:tc>
                <a:tc>
                  <a:txBody>
                    <a:bodyPr/>
                    <a:lstStyle/>
                    <a:p>
                      <a:pPr algn="l" fontAlgn="t"/>
                      <a:r>
                        <a:rPr lang="en-US" altLang="zh-CN">
                          <a:effectLst/>
                          <a:latin typeface="inherit"/>
                        </a:rPr>
                        <a:t>sys_roles</a:t>
                      </a:r>
                      <a:endParaRPr lang="en-US">
                        <a:effectLst/>
                        <a:latin typeface="inherit"/>
                      </a:endParaRPr>
                    </a:p>
                  </a:txBody>
                  <a:tcPr marL="76200" marR="76200" marT="76200" marB="76200"/>
                </a:tc>
                <a:tc>
                  <a:txBody>
                    <a:bodyPr/>
                    <a:lstStyle/>
                    <a:p>
                      <a:pPr algn="l" fontAlgn="t"/>
                      <a:r>
                        <a:rPr lang="en-US" altLang="zh-CN">
                          <a:effectLst/>
                          <a:latin typeface="inherit"/>
                        </a:rPr>
                        <a:t>id (PK), rolename</a:t>
                      </a:r>
                      <a:endParaRPr lang="en-US">
                        <a:effectLst/>
                        <a:latin typeface="inherit"/>
                      </a:endParaRPr>
                    </a:p>
                  </a:txBody>
                  <a:tcPr marL="76200" marR="76200" marT="76200" marB="76200"/>
                </a:tc>
                <a:extLst>
                  <a:ext uri="{0D108BD9-81ED-4DB2-BD59-A6C34878D82A}">
                    <a16:rowId xmlns:a16="http://schemas.microsoft.com/office/drawing/2014/main" val="451500475"/>
                  </a:ext>
                </a:extLst>
              </a:tr>
            </a:tbl>
          </a:graphicData>
        </a:graphic>
      </p:graphicFrame>
    </p:spTree>
    <p:extLst>
      <p:ext uri="{BB962C8B-B14F-4D97-AF65-F5344CB8AC3E}">
        <p14:creationId xmlns:p14="http://schemas.microsoft.com/office/powerpoint/2010/main" val="2253851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0C755014-B227-4180-9ABD-3D5531E4016B}"/>
              </a:ext>
            </a:extLst>
          </p:cNvPr>
          <p:cNvGraphicFramePr>
            <a:graphicFrameLocks noGrp="1"/>
          </p:cNvGraphicFramePr>
          <p:nvPr>
            <p:extLst>
              <p:ext uri="{D42A27DB-BD31-4B8C-83A1-F6EECF244321}">
                <p14:modId xmlns:p14="http://schemas.microsoft.com/office/powerpoint/2010/main" val="1670211890"/>
              </p:ext>
            </p:extLst>
          </p:nvPr>
        </p:nvGraphicFramePr>
        <p:xfrm>
          <a:off x="407324" y="1185179"/>
          <a:ext cx="11571316" cy="4175760"/>
        </p:xfrm>
        <a:graphic>
          <a:graphicData uri="http://schemas.openxmlformats.org/drawingml/2006/table">
            <a:tbl>
              <a:tblPr firstRow="1" bandRow="1">
                <a:tableStyleId>{5C22544A-7EE6-4342-B048-85BDC9FD1C3A}</a:tableStyleId>
              </a:tblPr>
              <a:tblGrid>
                <a:gridCol w="2892829">
                  <a:extLst>
                    <a:ext uri="{9D8B030D-6E8A-4147-A177-3AD203B41FA5}">
                      <a16:colId xmlns:a16="http://schemas.microsoft.com/office/drawing/2014/main" val="1960176700"/>
                    </a:ext>
                  </a:extLst>
                </a:gridCol>
                <a:gridCol w="2892829">
                  <a:extLst>
                    <a:ext uri="{9D8B030D-6E8A-4147-A177-3AD203B41FA5}">
                      <a16:colId xmlns:a16="http://schemas.microsoft.com/office/drawing/2014/main" val="1623384523"/>
                    </a:ext>
                  </a:extLst>
                </a:gridCol>
                <a:gridCol w="2892829">
                  <a:extLst>
                    <a:ext uri="{9D8B030D-6E8A-4147-A177-3AD203B41FA5}">
                      <a16:colId xmlns:a16="http://schemas.microsoft.com/office/drawing/2014/main" val="102171452"/>
                    </a:ext>
                  </a:extLst>
                </a:gridCol>
                <a:gridCol w="2892829">
                  <a:extLst>
                    <a:ext uri="{9D8B030D-6E8A-4147-A177-3AD203B41FA5}">
                      <a16:colId xmlns:a16="http://schemas.microsoft.com/office/drawing/2014/main" val="1216761660"/>
                    </a:ext>
                  </a:extLst>
                </a:gridCol>
              </a:tblGrid>
              <a:tr h="370840">
                <a:tc>
                  <a:txBody>
                    <a:bodyPr/>
                    <a:lstStyle/>
                    <a:p>
                      <a:pPr algn="l" fontAlgn="t"/>
                      <a:r>
                        <a:rPr lang="en-US" altLang="zh-CN" b="1">
                          <a:effectLst/>
                          <a:latin typeface="inherit"/>
                        </a:rPr>
                        <a:t>#</a:t>
                      </a:r>
                    </a:p>
                  </a:txBody>
                  <a:tcPr marL="76200" marR="76200" marT="76200" marB="76200"/>
                </a:tc>
                <a:tc>
                  <a:txBody>
                    <a:bodyPr/>
                    <a:lstStyle/>
                    <a:p>
                      <a:pPr algn="l" fontAlgn="t"/>
                      <a:r>
                        <a:rPr lang="zh-CN" altLang="en-US" b="1">
                          <a:effectLst/>
                          <a:latin typeface="inherit"/>
                        </a:rPr>
                        <a:t>中文表名</a:t>
                      </a:r>
                    </a:p>
                  </a:txBody>
                  <a:tcPr marL="76200" marR="76200" marT="76200" marB="76200"/>
                </a:tc>
                <a:tc>
                  <a:txBody>
                    <a:bodyPr/>
                    <a:lstStyle/>
                    <a:p>
                      <a:pPr algn="l" fontAlgn="t"/>
                      <a:r>
                        <a:rPr lang="zh-CN" altLang="en-US" b="1">
                          <a:effectLst/>
                          <a:latin typeface="inherit"/>
                        </a:rPr>
                        <a:t>英文表名</a:t>
                      </a:r>
                    </a:p>
                  </a:txBody>
                  <a:tcPr marL="76200" marR="76200" marT="76200" marB="76200"/>
                </a:tc>
                <a:tc>
                  <a:txBody>
                    <a:bodyPr/>
                    <a:lstStyle/>
                    <a:p>
                      <a:pPr algn="l" fontAlgn="t"/>
                      <a:r>
                        <a:rPr lang="zh-CN" altLang="en-US" b="1">
                          <a:effectLst/>
                          <a:latin typeface="inherit"/>
                        </a:rPr>
                        <a:t>字段说明</a:t>
                      </a:r>
                    </a:p>
                  </a:txBody>
                  <a:tcPr marL="76200" marR="76200" marT="76200" marB="76200"/>
                </a:tc>
                <a:extLst>
                  <a:ext uri="{0D108BD9-81ED-4DB2-BD59-A6C34878D82A}">
                    <a16:rowId xmlns:a16="http://schemas.microsoft.com/office/drawing/2014/main" val="3460101590"/>
                  </a:ext>
                </a:extLst>
              </a:tr>
              <a:tr h="370840">
                <a:tc>
                  <a:txBody>
                    <a:bodyPr/>
                    <a:lstStyle/>
                    <a:p>
                      <a:pPr algn="l" fontAlgn="t"/>
                      <a:r>
                        <a:rPr lang="en-US" altLang="zh-CN">
                          <a:effectLst/>
                          <a:latin typeface="inherit"/>
                        </a:rPr>
                        <a:t>12</a:t>
                      </a:r>
                    </a:p>
                  </a:txBody>
                  <a:tcPr marL="76200" marR="76200" marT="76200" marB="76200"/>
                </a:tc>
                <a:tc>
                  <a:txBody>
                    <a:bodyPr/>
                    <a:lstStyle/>
                    <a:p>
                      <a:pPr algn="l" fontAlgn="t"/>
                      <a:r>
                        <a:rPr lang="zh-CN" altLang="en-US">
                          <a:effectLst/>
                          <a:latin typeface="inherit"/>
                        </a:rPr>
                        <a:t>用户角色表</a:t>
                      </a:r>
                    </a:p>
                  </a:txBody>
                  <a:tcPr marL="76200" marR="76200" marT="76200" marB="76200"/>
                </a:tc>
                <a:tc>
                  <a:txBody>
                    <a:bodyPr/>
                    <a:lstStyle/>
                    <a:p>
                      <a:pPr algn="l" fontAlgn="t"/>
                      <a:r>
                        <a:rPr lang="en-US" altLang="zh-CN">
                          <a:effectLst/>
                          <a:latin typeface="inherit"/>
                        </a:rPr>
                        <a:t>user_roles</a:t>
                      </a:r>
                      <a:endParaRPr lang="en-US">
                        <a:effectLst/>
                        <a:latin typeface="inherit"/>
                      </a:endParaRPr>
                    </a:p>
                  </a:txBody>
                  <a:tcPr marL="76200" marR="76200" marT="76200" marB="76200"/>
                </a:tc>
                <a:tc>
                  <a:txBody>
                    <a:bodyPr/>
                    <a:lstStyle/>
                    <a:p>
                      <a:pPr algn="l" fontAlgn="t"/>
                      <a:r>
                        <a:rPr lang="en-US" altLang="zh-CN">
                          <a:effectLst/>
                          <a:latin typeface="inherit"/>
                        </a:rPr>
                        <a:t>id (PK), user_id(FK),,role_id(FK)</a:t>
                      </a:r>
                      <a:endParaRPr lang="en-US">
                        <a:effectLst/>
                        <a:latin typeface="inherit"/>
                      </a:endParaRPr>
                    </a:p>
                  </a:txBody>
                  <a:tcPr marL="76200" marR="76200" marT="76200" marB="76200"/>
                </a:tc>
                <a:extLst>
                  <a:ext uri="{0D108BD9-81ED-4DB2-BD59-A6C34878D82A}">
                    <a16:rowId xmlns:a16="http://schemas.microsoft.com/office/drawing/2014/main" val="2604782629"/>
                  </a:ext>
                </a:extLst>
              </a:tr>
              <a:tr h="370840">
                <a:tc>
                  <a:txBody>
                    <a:bodyPr/>
                    <a:lstStyle/>
                    <a:p>
                      <a:pPr algn="l" fontAlgn="t"/>
                      <a:r>
                        <a:rPr lang="en-US" altLang="zh-CN">
                          <a:effectLst/>
                          <a:latin typeface="inherit"/>
                        </a:rPr>
                        <a:t>13</a:t>
                      </a:r>
                    </a:p>
                  </a:txBody>
                  <a:tcPr marL="76200" marR="76200" marT="76200" marB="76200"/>
                </a:tc>
                <a:tc>
                  <a:txBody>
                    <a:bodyPr/>
                    <a:lstStyle/>
                    <a:p>
                      <a:pPr algn="l" fontAlgn="t"/>
                      <a:br>
                        <a:rPr lang="zh-CN" altLang="en-US">
                          <a:effectLst/>
                          <a:latin typeface="inherit"/>
                        </a:rPr>
                      </a:br>
                      <a:r>
                        <a:rPr lang="zh-CN" altLang="en-US">
                          <a:effectLst/>
                          <a:latin typeface="inherit"/>
                        </a:rPr>
                        <a:t>选课</a:t>
                      </a:r>
                    </a:p>
                  </a:txBody>
                  <a:tcPr marL="76200" marR="76200" marT="76200" marB="76200"/>
                </a:tc>
                <a:tc>
                  <a:txBody>
                    <a:bodyPr/>
                    <a:lstStyle/>
                    <a:p>
                      <a:pPr algn="l" fontAlgn="t"/>
                      <a:r>
                        <a:rPr lang="en-US">
                          <a:effectLst/>
                          <a:latin typeface="inherit"/>
                        </a:rPr>
                        <a:t>course_selection</a:t>
                      </a:r>
                    </a:p>
                  </a:txBody>
                  <a:tcPr marL="76200" marR="76200" marT="76200" marB="76200"/>
                </a:tc>
                <a:tc>
                  <a:txBody>
                    <a:bodyPr/>
                    <a:lstStyle/>
                    <a:p>
                      <a:pPr algn="l" fontAlgn="t"/>
                      <a:r>
                        <a:rPr lang="en-US">
                          <a:effectLst/>
                          <a:latin typeface="inherit"/>
                        </a:rPr>
                        <a:t>id (PK), student_id (FK), class_id (FK), course_id (FK), academic_year_id (FK), status, enroll_time</a:t>
                      </a:r>
                    </a:p>
                  </a:txBody>
                  <a:tcPr marL="76200" marR="76200" marT="76200" marB="76200"/>
                </a:tc>
                <a:extLst>
                  <a:ext uri="{0D108BD9-81ED-4DB2-BD59-A6C34878D82A}">
                    <a16:rowId xmlns:a16="http://schemas.microsoft.com/office/drawing/2014/main" val="1392036216"/>
                  </a:ext>
                </a:extLst>
              </a:tr>
              <a:tr h="370840">
                <a:tc>
                  <a:txBody>
                    <a:bodyPr/>
                    <a:lstStyle/>
                    <a:p>
                      <a:pPr algn="l" fontAlgn="t"/>
                      <a:r>
                        <a:rPr lang="en-US" altLang="zh-CN">
                          <a:effectLst/>
                          <a:latin typeface="inherit"/>
                        </a:rPr>
                        <a:t>14</a:t>
                      </a:r>
                    </a:p>
                  </a:txBody>
                  <a:tcPr marL="76200" marR="76200" marT="76200" marB="76200"/>
                </a:tc>
                <a:tc>
                  <a:txBody>
                    <a:bodyPr/>
                    <a:lstStyle/>
                    <a:p>
                      <a:pPr algn="l" fontAlgn="t"/>
                      <a:r>
                        <a:rPr lang="zh-CN" altLang="en-US">
                          <a:effectLst/>
                          <a:latin typeface="inherit"/>
                        </a:rPr>
                        <a:t>学生成绩</a:t>
                      </a:r>
                    </a:p>
                  </a:txBody>
                  <a:tcPr marL="76200" marR="76200" marT="76200" marB="76200"/>
                </a:tc>
                <a:tc>
                  <a:txBody>
                    <a:bodyPr/>
                    <a:lstStyle/>
                    <a:p>
                      <a:pPr algn="l" fontAlgn="t"/>
                      <a:r>
                        <a:rPr lang="en-US">
                          <a:effectLst/>
                          <a:latin typeface="inherit"/>
                        </a:rPr>
                        <a:t>student_score</a:t>
                      </a:r>
                    </a:p>
                  </a:txBody>
                  <a:tcPr marL="76200" marR="76200" marT="76200" marB="76200"/>
                </a:tc>
                <a:tc>
                  <a:txBody>
                    <a:bodyPr/>
                    <a:lstStyle/>
                    <a:p>
                      <a:pPr algn="l" fontAlgn="t"/>
                      <a:r>
                        <a:rPr lang="en-US">
                          <a:effectLst/>
                          <a:latin typeface="inherit"/>
                        </a:rPr>
                        <a:t>id (PK), score</a:t>
                      </a:r>
                    </a:p>
                  </a:txBody>
                  <a:tcPr marL="76200" marR="76200" marT="76200" marB="76200"/>
                </a:tc>
                <a:extLst>
                  <a:ext uri="{0D108BD9-81ED-4DB2-BD59-A6C34878D82A}">
                    <a16:rowId xmlns:a16="http://schemas.microsoft.com/office/drawing/2014/main" val="3361314279"/>
                  </a:ext>
                </a:extLst>
              </a:tr>
              <a:tr h="370840">
                <a:tc>
                  <a:txBody>
                    <a:bodyPr/>
                    <a:lstStyle/>
                    <a:p>
                      <a:pPr algn="l" fontAlgn="t"/>
                      <a:r>
                        <a:rPr lang="en-US" altLang="zh-CN">
                          <a:effectLst/>
                          <a:latin typeface="inherit"/>
                        </a:rPr>
                        <a:t>15</a:t>
                      </a:r>
                    </a:p>
                  </a:txBody>
                  <a:tcPr marL="76200" marR="76200" marT="76200" marB="76200"/>
                </a:tc>
                <a:tc>
                  <a:txBody>
                    <a:bodyPr/>
                    <a:lstStyle/>
                    <a:p>
                      <a:pPr algn="l" fontAlgn="t"/>
                      <a:r>
                        <a:rPr lang="zh-CN" altLang="en-US">
                          <a:effectLst/>
                          <a:latin typeface="inherit"/>
                        </a:rPr>
                        <a:t>支撑矩阵</a:t>
                      </a:r>
                    </a:p>
                  </a:txBody>
                  <a:tcPr marL="76200" marR="76200" marT="76200" marB="76200"/>
                </a:tc>
                <a:tc>
                  <a:txBody>
                    <a:bodyPr/>
                    <a:lstStyle/>
                    <a:p>
                      <a:pPr algn="l" fontAlgn="t"/>
                      <a:r>
                        <a:rPr lang="en-US">
                          <a:effectLst/>
                          <a:latin typeface="inherit"/>
                        </a:rPr>
                        <a:t>support_matrix</a:t>
                      </a:r>
                    </a:p>
                  </a:txBody>
                  <a:tcPr marL="76200" marR="76200" marT="76200" marB="76200"/>
                </a:tc>
                <a:tc>
                  <a:txBody>
                    <a:bodyPr/>
                    <a:lstStyle/>
                    <a:p>
                      <a:pPr algn="l" fontAlgn="t"/>
                      <a:r>
                        <a:rPr lang="en-US">
                          <a:effectLst/>
                          <a:latin typeface="inherit"/>
                        </a:rPr>
                        <a:t>id (PK), support_weight</a:t>
                      </a:r>
                    </a:p>
                  </a:txBody>
                  <a:tcPr marL="76200" marR="76200" marT="76200" marB="76200"/>
                </a:tc>
                <a:extLst>
                  <a:ext uri="{0D108BD9-81ED-4DB2-BD59-A6C34878D82A}">
                    <a16:rowId xmlns:a16="http://schemas.microsoft.com/office/drawing/2014/main" val="2622158155"/>
                  </a:ext>
                </a:extLst>
              </a:tr>
              <a:tr h="370840">
                <a:tc>
                  <a:txBody>
                    <a:bodyPr/>
                    <a:lstStyle/>
                    <a:p>
                      <a:pPr algn="l" fontAlgn="t"/>
                      <a:r>
                        <a:rPr lang="en-US" altLang="zh-CN">
                          <a:effectLst/>
                          <a:latin typeface="inherit"/>
                        </a:rPr>
                        <a:t>16</a:t>
                      </a:r>
                    </a:p>
                  </a:txBody>
                  <a:tcPr marL="76200" marR="76200" marT="76200" marB="76200"/>
                </a:tc>
                <a:tc>
                  <a:txBody>
                    <a:bodyPr/>
                    <a:lstStyle/>
                    <a:p>
                      <a:pPr algn="l" fontAlgn="t"/>
                      <a:r>
                        <a:rPr lang="zh-CN" altLang="en-US">
                          <a:effectLst/>
                          <a:latin typeface="inherit"/>
                        </a:rPr>
                        <a:t>内部权重</a:t>
                      </a:r>
                    </a:p>
                  </a:txBody>
                  <a:tcPr marL="76200" marR="76200" marT="76200" marB="76200"/>
                </a:tc>
                <a:tc>
                  <a:txBody>
                    <a:bodyPr/>
                    <a:lstStyle/>
                    <a:p>
                      <a:pPr algn="l" fontAlgn="t"/>
                      <a:r>
                        <a:rPr lang="en-US">
                          <a:effectLst/>
                          <a:latin typeface="inherit"/>
                        </a:rPr>
                        <a:t>objective_weight</a:t>
                      </a:r>
                    </a:p>
                  </a:txBody>
                  <a:tcPr marL="76200" marR="76200" marT="76200" marB="76200"/>
                </a:tc>
                <a:tc>
                  <a:txBody>
                    <a:bodyPr/>
                    <a:lstStyle/>
                    <a:p>
                      <a:pPr algn="l" fontAlgn="t"/>
                      <a:r>
                        <a:rPr lang="en-US">
                          <a:effectLst/>
                          <a:latin typeface="inherit"/>
                        </a:rPr>
                        <a:t>id (PK), weight</a:t>
                      </a:r>
                    </a:p>
                  </a:txBody>
                  <a:tcPr marL="76200" marR="76200" marT="76200" marB="76200"/>
                </a:tc>
                <a:extLst>
                  <a:ext uri="{0D108BD9-81ED-4DB2-BD59-A6C34878D82A}">
                    <a16:rowId xmlns:a16="http://schemas.microsoft.com/office/drawing/2014/main" val="1935151386"/>
                  </a:ext>
                </a:extLst>
              </a:tr>
              <a:tr h="370840">
                <a:tc>
                  <a:txBody>
                    <a:bodyPr/>
                    <a:lstStyle/>
                    <a:p>
                      <a:pPr algn="l" fontAlgn="t"/>
                      <a:r>
                        <a:rPr lang="en-US" altLang="zh-CN">
                          <a:effectLst/>
                          <a:latin typeface="inherit"/>
                        </a:rPr>
                        <a:t>17</a:t>
                      </a:r>
                    </a:p>
                  </a:txBody>
                  <a:tcPr marL="76200" marR="76200" marT="76200" marB="76200"/>
                </a:tc>
                <a:tc>
                  <a:txBody>
                    <a:bodyPr/>
                    <a:lstStyle/>
                    <a:p>
                      <a:pPr algn="l" fontAlgn="t"/>
                      <a:r>
                        <a:rPr lang="zh-CN" altLang="en-US">
                          <a:effectLst/>
                          <a:latin typeface="inherit"/>
                        </a:rPr>
                        <a:t>目标级达成度</a:t>
                      </a:r>
                    </a:p>
                  </a:txBody>
                  <a:tcPr marL="76200" marR="76200" marT="76200" marB="76200"/>
                </a:tc>
                <a:tc>
                  <a:txBody>
                    <a:bodyPr/>
                    <a:lstStyle/>
                    <a:p>
                      <a:pPr algn="l" fontAlgn="t"/>
                      <a:r>
                        <a:rPr lang="en-US">
                          <a:effectLst/>
                          <a:latin typeface="inherit"/>
                        </a:rPr>
                        <a:t>calculation_objective_level</a:t>
                      </a:r>
                    </a:p>
                  </a:txBody>
                  <a:tcPr marL="76200" marR="76200" marT="76200" marB="76200"/>
                </a:tc>
                <a:tc>
                  <a:txBody>
                    <a:bodyPr/>
                    <a:lstStyle/>
                    <a:p>
                      <a:pPr algn="l" fontAlgn="t"/>
                      <a:r>
                        <a:rPr lang="en-US">
                          <a:effectLst/>
                          <a:latin typeface="inherit"/>
                        </a:rPr>
                        <a:t>id (PK), achievement_rate</a:t>
                      </a:r>
                    </a:p>
                  </a:txBody>
                  <a:tcPr marL="76200" marR="76200" marT="76200" marB="76200"/>
                </a:tc>
                <a:extLst>
                  <a:ext uri="{0D108BD9-81ED-4DB2-BD59-A6C34878D82A}">
                    <a16:rowId xmlns:a16="http://schemas.microsoft.com/office/drawing/2014/main" val="1032043674"/>
                  </a:ext>
                </a:extLst>
              </a:tr>
              <a:tr h="370840">
                <a:tc>
                  <a:txBody>
                    <a:bodyPr/>
                    <a:lstStyle/>
                    <a:p>
                      <a:pPr algn="l" fontAlgn="t"/>
                      <a:r>
                        <a:rPr lang="en-US" altLang="zh-CN">
                          <a:effectLst/>
                          <a:latin typeface="inherit"/>
                        </a:rPr>
                        <a:t>18</a:t>
                      </a:r>
                    </a:p>
                  </a:txBody>
                  <a:tcPr marL="76200" marR="76200" marT="76200" marB="76200"/>
                </a:tc>
                <a:tc>
                  <a:txBody>
                    <a:bodyPr/>
                    <a:lstStyle/>
                    <a:p>
                      <a:pPr algn="l" fontAlgn="t"/>
                      <a:r>
                        <a:rPr lang="zh-CN" altLang="en-US">
                          <a:effectLst/>
                          <a:latin typeface="inherit"/>
                        </a:rPr>
                        <a:t>课程级达成度</a:t>
                      </a:r>
                    </a:p>
                  </a:txBody>
                  <a:tcPr marL="76200" marR="76200" marT="76200" marB="76200"/>
                </a:tc>
                <a:tc>
                  <a:txBody>
                    <a:bodyPr/>
                    <a:lstStyle/>
                    <a:p>
                      <a:pPr algn="l" fontAlgn="t"/>
                      <a:r>
                        <a:rPr lang="en-US">
                          <a:effectLst/>
                          <a:latin typeface="inherit"/>
                        </a:rPr>
                        <a:t>calculation_course_level</a:t>
                      </a:r>
                    </a:p>
                  </a:txBody>
                  <a:tcPr marL="76200" marR="76200" marT="76200" marB="76200"/>
                </a:tc>
                <a:tc>
                  <a:txBody>
                    <a:bodyPr/>
                    <a:lstStyle/>
                    <a:p>
                      <a:pPr algn="l" fontAlgn="t"/>
                      <a:r>
                        <a:rPr lang="en-US">
                          <a:effectLst/>
                          <a:latin typeface="inherit"/>
                        </a:rPr>
                        <a:t>id (PK), achievement_rate, status, locked_at</a:t>
                      </a:r>
                    </a:p>
                  </a:txBody>
                  <a:tcPr marL="76200" marR="76200" marT="76200" marB="76200"/>
                </a:tc>
                <a:extLst>
                  <a:ext uri="{0D108BD9-81ED-4DB2-BD59-A6C34878D82A}">
                    <a16:rowId xmlns:a16="http://schemas.microsoft.com/office/drawing/2014/main" val="1816989573"/>
                  </a:ext>
                </a:extLst>
              </a:tr>
              <a:tr h="370840">
                <a:tc>
                  <a:txBody>
                    <a:bodyPr/>
                    <a:lstStyle/>
                    <a:p>
                      <a:pPr algn="l" fontAlgn="t"/>
                      <a:r>
                        <a:rPr lang="en-US" altLang="zh-CN">
                          <a:effectLst/>
                          <a:latin typeface="inherit"/>
                        </a:rPr>
                        <a:t>19</a:t>
                      </a:r>
                    </a:p>
                  </a:txBody>
                  <a:tcPr marL="76200" marR="76200" marT="76200" marB="76200"/>
                </a:tc>
                <a:tc>
                  <a:txBody>
                    <a:bodyPr/>
                    <a:lstStyle/>
                    <a:p>
                      <a:pPr algn="l" fontAlgn="t"/>
                      <a:r>
                        <a:rPr lang="zh-CN" altLang="en-US">
                          <a:effectLst/>
                          <a:latin typeface="inherit"/>
                        </a:rPr>
                        <a:t>专业级达成度</a:t>
                      </a:r>
                    </a:p>
                  </a:txBody>
                  <a:tcPr marL="76200" marR="76200" marT="76200" marB="76200"/>
                </a:tc>
                <a:tc>
                  <a:txBody>
                    <a:bodyPr/>
                    <a:lstStyle/>
                    <a:p>
                      <a:pPr algn="l" fontAlgn="t"/>
                      <a:r>
                        <a:rPr lang="en-US">
                          <a:effectLst/>
                          <a:latin typeface="inherit"/>
                        </a:rPr>
                        <a:t>calculation_professional_level</a:t>
                      </a:r>
                    </a:p>
                  </a:txBody>
                  <a:tcPr marL="76200" marR="76200" marT="76200" marB="76200"/>
                </a:tc>
                <a:tc>
                  <a:txBody>
                    <a:bodyPr/>
                    <a:lstStyle/>
                    <a:p>
                      <a:pPr algn="l" fontAlgn="t"/>
                      <a:r>
                        <a:rPr lang="en-US">
                          <a:effectLst/>
                          <a:latin typeface="inherit"/>
                        </a:rPr>
                        <a:t>id (PK), achievement_rate, status, locked_at</a:t>
                      </a:r>
                    </a:p>
                  </a:txBody>
                  <a:tcPr marL="76200" marR="76200" marT="76200" marB="76200"/>
                </a:tc>
                <a:extLst>
                  <a:ext uri="{0D108BD9-81ED-4DB2-BD59-A6C34878D82A}">
                    <a16:rowId xmlns:a16="http://schemas.microsoft.com/office/drawing/2014/main" val="512847555"/>
                  </a:ext>
                </a:extLst>
              </a:tr>
            </a:tbl>
          </a:graphicData>
        </a:graphic>
      </p:graphicFrame>
      <p:pic>
        <p:nvPicPr>
          <p:cNvPr id="3" name="图片 2" descr="文本&#10;&#10;AI 生成的内容可能不正确。">
            <a:extLst>
              <a:ext uri="{FF2B5EF4-FFF2-40B4-BE49-F238E27FC236}">
                <a16:creationId xmlns:a16="http://schemas.microsoft.com/office/drawing/2014/main" id="{5A1E3E7A-612F-45AF-A4A4-88C4A5241085}"/>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2618043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2702442" y="2160770"/>
            <a:ext cx="6787116" cy="2198577"/>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5" name="AutoShape 5"/>
          <p:cNvSpPr/>
          <p:nvPr/>
        </p:nvSpPr>
        <p:spPr>
          <a:xfrm>
            <a:off x="3171016" y="2771551"/>
            <a:ext cx="1472019"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600" b="1" i="0" u="none" strike="noStrike">
                <a:solidFill>
                  <a:srgbClr val="2DD4BF"/>
                </a:solidFill>
                <a:latin typeface="+mn-ea"/>
                <a:ea typeface="+mn-ea"/>
                <a:cs typeface="Noto Sans SC"/>
                <a:sym typeface="Noto Sans SC"/>
              </a:rPr>
              <a:t>05</a:t>
            </a:r>
            <a:endParaRPr lang="en-US" sz="2400">
              <a:latin typeface="+mn-ea"/>
              <a:ea typeface="+mn-ea"/>
            </a:endParaRPr>
          </a:p>
        </p:txBody>
      </p:sp>
      <p:sp>
        <p:nvSpPr>
          <p:cNvPr id="22" name="AutoShape 9">
            <a:extLst>
              <a:ext uri="{FF2B5EF4-FFF2-40B4-BE49-F238E27FC236}">
                <a16:creationId xmlns:a16="http://schemas.microsoft.com/office/drawing/2014/main" id="{1813EBCE-F925-4982-B8E4-B645FD720047}"/>
              </a:ext>
            </a:extLst>
          </p:cNvPr>
          <p:cNvSpPr/>
          <p:nvPr/>
        </p:nvSpPr>
        <p:spPr>
          <a:xfrm>
            <a:off x="5207300" y="2771551"/>
            <a:ext cx="4846523"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3200" b="1">
                <a:solidFill>
                  <a:srgbClr val="374151"/>
                </a:solidFill>
                <a:latin typeface="+mn-ea"/>
                <a:ea typeface="+mn-ea"/>
                <a:cs typeface="Noto Sans SC"/>
                <a:sym typeface="Noto Sans SC"/>
              </a:rPr>
              <a:t>实施路线与总结展望</a:t>
            </a:r>
          </a:p>
        </p:txBody>
      </p:sp>
      <p:pic>
        <p:nvPicPr>
          <p:cNvPr id="6" name="图片 5" descr="文本&#10;&#10;AI 生成的内容可能不正确。">
            <a:extLst>
              <a:ext uri="{FF2B5EF4-FFF2-40B4-BE49-F238E27FC236}">
                <a16:creationId xmlns:a16="http://schemas.microsoft.com/office/drawing/2014/main" id="{06E71943-D53A-413E-9FA7-EAA3B10F09DD}"/>
              </a:ext>
            </a:extLst>
          </p:cNvPr>
          <p:cNvPicPr>
            <a:picLocks noChangeAspect="1"/>
          </p:cNvPicPr>
          <p:nvPr/>
        </p:nvPicPr>
        <p:blipFill>
          <a:blip r:embed="rId3"/>
          <a:stretch>
            <a:fillRect/>
          </a:stretch>
        </p:blipFill>
        <p:spPr>
          <a:xfrm>
            <a:off x="9326632" y="0"/>
            <a:ext cx="2865368" cy="541067"/>
          </a:xfrm>
          <a:prstGeom prst="rect">
            <a:avLst/>
          </a:prstGeom>
        </p:spPr>
      </p:pic>
    </p:spTree>
    <p:extLst>
      <p:ext uri="{BB962C8B-B14F-4D97-AF65-F5344CB8AC3E}">
        <p14:creationId xmlns:p14="http://schemas.microsoft.com/office/powerpoint/2010/main" val="700943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F75BFFCC-88F1-4E3F-A65A-8E9CE21B4FD0}"/>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05 实施路线图：6周完成开发部署</a:t>
            </a:r>
            <a:endParaRPr lang="en-US" sz="1100">
              <a:latin typeface="+mn-ea"/>
              <a:ea typeface="+mn-ea"/>
            </a:endParaRPr>
          </a:p>
        </p:txBody>
      </p:sp>
      <p:sp>
        <p:nvSpPr>
          <p:cNvPr id="8" name="AutoShape 4">
            <a:extLst>
              <a:ext uri="{FF2B5EF4-FFF2-40B4-BE49-F238E27FC236}">
                <a16:creationId xmlns:a16="http://schemas.microsoft.com/office/drawing/2014/main" id="{7C6A6182-7CDD-4564-B86C-FEC75A60A7C0}"/>
              </a:ext>
            </a:extLst>
          </p:cNvPr>
          <p:cNvSpPr/>
          <p:nvPr/>
        </p:nvSpPr>
        <p:spPr>
          <a:xfrm>
            <a:off x="7620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9" name="AutoShape 5">
            <a:extLst>
              <a:ext uri="{FF2B5EF4-FFF2-40B4-BE49-F238E27FC236}">
                <a16:creationId xmlns:a16="http://schemas.microsoft.com/office/drawing/2014/main" id="{8237B28B-BAD1-45FE-B1B7-AD2E5242AEC6}"/>
              </a:ext>
            </a:extLst>
          </p:cNvPr>
          <p:cNvSpPr/>
          <p:nvPr/>
        </p:nvSpPr>
        <p:spPr>
          <a:xfrm>
            <a:off x="762000" y="1778000"/>
            <a:ext cx="2540000" cy="1143000"/>
          </a:xfrm>
          <a:prstGeom prst="roundRect">
            <a:avLst>
              <a:gd name="adj" fmla="val 13333"/>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0" name="Picture 6">
            <a:extLst>
              <a:ext uri="{FF2B5EF4-FFF2-40B4-BE49-F238E27FC236}">
                <a16:creationId xmlns:a16="http://schemas.microsoft.com/office/drawing/2014/main" id="{38C64959-F2F4-4DA2-817E-507F0A125D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095500"/>
            <a:ext cx="406400" cy="406400"/>
          </a:xfrm>
          <a:prstGeom prst="rect">
            <a:avLst/>
          </a:prstGeom>
        </p:spPr>
      </p:pic>
      <p:sp>
        <p:nvSpPr>
          <p:cNvPr id="11" name="AutoShape 7">
            <a:extLst>
              <a:ext uri="{FF2B5EF4-FFF2-40B4-BE49-F238E27FC236}">
                <a16:creationId xmlns:a16="http://schemas.microsoft.com/office/drawing/2014/main" id="{6BBE3DDB-05DE-4EC7-97B9-A16F875C92F6}"/>
              </a:ext>
            </a:extLst>
          </p:cNvPr>
          <p:cNvSpPr/>
          <p:nvPr/>
        </p:nvSpPr>
        <p:spPr>
          <a:xfrm>
            <a:off x="1460500" y="1930400"/>
            <a:ext cx="165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FFFFF"/>
                </a:solidFill>
                <a:latin typeface="+mn-ea"/>
                <a:ea typeface="+mn-ea"/>
                <a:cs typeface="Noto Sans SC"/>
                <a:sym typeface="Noto Sans SC"/>
              </a:rPr>
              <a:t>基础构建</a:t>
            </a:r>
            <a:endParaRPr lang="en-US" sz="1100">
              <a:latin typeface="+mn-ea"/>
              <a:ea typeface="+mn-ea"/>
            </a:endParaRPr>
          </a:p>
          <a:p>
            <a:pPr indent="0" algn="l">
              <a:lnSpc>
                <a:spcPct val="125000"/>
              </a:lnSpc>
            </a:pPr>
            <a:r>
              <a:rPr lang="en-US" sz="1300" b="0" i="0" u="none" strike="noStrike">
                <a:solidFill>
                  <a:srgbClr val="FFFFFF">
                    <a:alpha val="90196"/>
                  </a:srgbClr>
                </a:solidFill>
                <a:latin typeface="+mn-ea"/>
                <a:ea typeface="+mn-ea"/>
                <a:cs typeface="Noto Sans SC"/>
                <a:sym typeface="Noto Sans SC"/>
              </a:rPr>
              <a:t>Week 1</a:t>
            </a:r>
          </a:p>
        </p:txBody>
      </p:sp>
      <p:sp>
        <p:nvSpPr>
          <p:cNvPr id="12" name="AutoShape 8">
            <a:extLst>
              <a:ext uri="{FF2B5EF4-FFF2-40B4-BE49-F238E27FC236}">
                <a16:creationId xmlns:a16="http://schemas.microsoft.com/office/drawing/2014/main" id="{728E94B0-5118-4234-AE98-3FDD140F1F25}"/>
              </a:ext>
            </a:extLst>
          </p:cNvPr>
          <p:cNvSpPr/>
          <p:nvPr/>
        </p:nvSpPr>
        <p:spPr>
          <a:xfrm>
            <a:off x="952500" y="3175000"/>
            <a:ext cx="2159000" cy="266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mn-ea"/>
                <a:ea typeface="+mn-ea"/>
                <a:cs typeface="Noto Sans SC"/>
                <a:sym typeface="Noto Sans SC"/>
              </a:rPr>
              <a:t>📝 关键任务</a:t>
            </a:r>
            <a:endParaRPr lang="en-US" sz="1100">
              <a:latin typeface="+mn-ea"/>
              <a:ea typeface="+mn-ea"/>
            </a:endParaRP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项目初始化、框架搭建、数据库逻辑设计、用户认证模块开发。</a:t>
            </a:r>
          </a:p>
          <a:p>
            <a:pPr indent="0" algn="l">
              <a:lnSpc>
                <a:spcPct val="108333"/>
              </a:lnSpc>
              <a:spcBef>
                <a:spcPts val="1600"/>
              </a:spcBef>
            </a:pPr>
            <a:r>
              <a:rPr lang="en-US" sz="1400" b="1" i="0" u="none" strike="noStrike">
                <a:solidFill>
                  <a:srgbClr val="0D9488"/>
                </a:solidFill>
                <a:latin typeface="+mn-ea"/>
                <a:ea typeface="+mn-ea"/>
                <a:cs typeface="Noto Sans SC"/>
                <a:sym typeface="Noto Sans SC"/>
              </a:rPr>
              <a:t>🎯 阶段目标</a:t>
            </a: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完成系统基础骨架，打通开发与调试环境，为后续开发打好地基。</a:t>
            </a:r>
          </a:p>
        </p:txBody>
      </p:sp>
      <p:sp>
        <p:nvSpPr>
          <p:cNvPr id="13" name="AutoShape 9">
            <a:extLst>
              <a:ext uri="{FF2B5EF4-FFF2-40B4-BE49-F238E27FC236}">
                <a16:creationId xmlns:a16="http://schemas.microsoft.com/office/drawing/2014/main" id="{50F43D74-EED9-423E-A70D-D15FD09E3D66}"/>
              </a:ext>
            </a:extLst>
          </p:cNvPr>
          <p:cNvSpPr/>
          <p:nvPr/>
        </p:nvSpPr>
        <p:spPr>
          <a:xfrm>
            <a:off x="34925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4" name="AutoShape 10">
            <a:extLst>
              <a:ext uri="{FF2B5EF4-FFF2-40B4-BE49-F238E27FC236}">
                <a16:creationId xmlns:a16="http://schemas.microsoft.com/office/drawing/2014/main" id="{A7520B8D-6435-4DD9-A9DD-5DB8D9512F71}"/>
              </a:ext>
            </a:extLst>
          </p:cNvPr>
          <p:cNvSpPr/>
          <p:nvPr/>
        </p:nvSpPr>
        <p:spPr>
          <a:xfrm>
            <a:off x="3492500" y="1778000"/>
            <a:ext cx="2540000" cy="1143000"/>
          </a:xfrm>
          <a:prstGeom prst="roundRect">
            <a:avLst>
              <a:gd name="adj" fmla="val 13333"/>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15" name="Picture 11">
            <a:extLst>
              <a:ext uri="{FF2B5EF4-FFF2-40B4-BE49-F238E27FC236}">
                <a16:creationId xmlns:a16="http://schemas.microsoft.com/office/drawing/2014/main" id="{769CEA50-8C5B-4582-A337-BDF203D9FE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3000" y="2095500"/>
            <a:ext cx="406400" cy="406400"/>
          </a:xfrm>
          <a:prstGeom prst="rect">
            <a:avLst/>
          </a:prstGeom>
        </p:spPr>
      </p:pic>
      <p:sp>
        <p:nvSpPr>
          <p:cNvPr id="16" name="AutoShape 12">
            <a:extLst>
              <a:ext uri="{FF2B5EF4-FFF2-40B4-BE49-F238E27FC236}">
                <a16:creationId xmlns:a16="http://schemas.microsoft.com/office/drawing/2014/main" id="{C95BA11D-E8C5-46E2-B57D-299E772CF32D}"/>
              </a:ext>
            </a:extLst>
          </p:cNvPr>
          <p:cNvSpPr/>
          <p:nvPr/>
        </p:nvSpPr>
        <p:spPr>
          <a:xfrm>
            <a:off x="4191000" y="1930400"/>
            <a:ext cx="165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FFFFF"/>
                </a:solidFill>
                <a:latin typeface="+mn-ea"/>
                <a:ea typeface="+mn-ea"/>
                <a:cs typeface="Noto Sans SC"/>
                <a:sym typeface="Noto Sans SC"/>
              </a:rPr>
              <a:t>核心开发</a:t>
            </a:r>
            <a:endParaRPr lang="en-US" sz="1100">
              <a:latin typeface="+mn-ea"/>
              <a:ea typeface="+mn-ea"/>
            </a:endParaRPr>
          </a:p>
          <a:p>
            <a:pPr indent="0" algn="l">
              <a:lnSpc>
                <a:spcPct val="125000"/>
              </a:lnSpc>
            </a:pPr>
            <a:r>
              <a:rPr lang="en-US" sz="1300" b="0" i="0" u="none" strike="noStrike">
                <a:solidFill>
                  <a:srgbClr val="FFFFFF">
                    <a:alpha val="90196"/>
                  </a:srgbClr>
                </a:solidFill>
                <a:latin typeface="+mn-ea"/>
                <a:ea typeface="+mn-ea"/>
                <a:cs typeface="Noto Sans SC"/>
                <a:sym typeface="Noto Sans SC"/>
              </a:rPr>
              <a:t>Week 2 -4</a:t>
            </a:r>
          </a:p>
        </p:txBody>
      </p:sp>
      <p:sp>
        <p:nvSpPr>
          <p:cNvPr id="17" name="AutoShape 13">
            <a:extLst>
              <a:ext uri="{FF2B5EF4-FFF2-40B4-BE49-F238E27FC236}">
                <a16:creationId xmlns:a16="http://schemas.microsoft.com/office/drawing/2014/main" id="{22372ABE-3B40-4445-809F-45DEE93B2F20}"/>
              </a:ext>
            </a:extLst>
          </p:cNvPr>
          <p:cNvSpPr/>
          <p:nvPr/>
        </p:nvSpPr>
        <p:spPr>
          <a:xfrm>
            <a:off x="3683000" y="3175000"/>
            <a:ext cx="2159000" cy="266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mn-ea"/>
                <a:ea typeface="+mn-ea"/>
                <a:cs typeface="Noto Sans SC"/>
                <a:sym typeface="Noto Sans SC"/>
              </a:rPr>
              <a:t>📝 关键任务</a:t>
            </a:r>
            <a:endParaRPr lang="en-US" sz="1100">
              <a:latin typeface="+mn-ea"/>
              <a:ea typeface="+mn-ea"/>
            </a:endParaRP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实现核心计算引擎、Excel数据导入导出、权重配置与逻辑校验、多维报表生成。</a:t>
            </a:r>
          </a:p>
          <a:p>
            <a:pPr indent="0" algn="l">
              <a:lnSpc>
                <a:spcPct val="108333"/>
              </a:lnSpc>
              <a:spcBef>
                <a:spcPts val="1600"/>
              </a:spcBef>
            </a:pPr>
            <a:r>
              <a:rPr lang="en-US" sz="1400" b="1" i="0" u="none" strike="noStrike">
                <a:solidFill>
                  <a:srgbClr val="0D9488"/>
                </a:solidFill>
                <a:latin typeface="+mn-ea"/>
                <a:ea typeface="+mn-ea"/>
                <a:cs typeface="Noto Sans SC"/>
                <a:sym typeface="Noto Sans SC"/>
              </a:rPr>
              <a:t>🎯 阶段目标</a:t>
            </a: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完成核心业务流程的开发与模块间的集成测试，功能完整性达到95%以上。</a:t>
            </a:r>
          </a:p>
        </p:txBody>
      </p:sp>
      <p:sp>
        <p:nvSpPr>
          <p:cNvPr id="18" name="AutoShape 14">
            <a:extLst>
              <a:ext uri="{FF2B5EF4-FFF2-40B4-BE49-F238E27FC236}">
                <a16:creationId xmlns:a16="http://schemas.microsoft.com/office/drawing/2014/main" id="{C09ADE41-037D-4E71-8C4A-5F625102CCF6}"/>
              </a:ext>
            </a:extLst>
          </p:cNvPr>
          <p:cNvSpPr/>
          <p:nvPr/>
        </p:nvSpPr>
        <p:spPr>
          <a:xfrm>
            <a:off x="62230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9" name="AutoShape 15">
            <a:extLst>
              <a:ext uri="{FF2B5EF4-FFF2-40B4-BE49-F238E27FC236}">
                <a16:creationId xmlns:a16="http://schemas.microsoft.com/office/drawing/2014/main" id="{4626887F-8C78-4B17-B806-2CB74FF0F59B}"/>
              </a:ext>
            </a:extLst>
          </p:cNvPr>
          <p:cNvSpPr/>
          <p:nvPr/>
        </p:nvSpPr>
        <p:spPr>
          <a:xfrm>
            <a:off x="6223000" y="1778000"/>
            <a:ext cx="2540000" cy="1143000"/>
          </a:xfrm>
          <a:prstGeom prst="roundRect">
            <a:avLst>
              <a:gd name="adj" fmla="val 13333"/>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0" name="Picture 16">
            <a:extLst>
              <a:ext uri="{FF2B5EF4-FFF2-40B4-BE49-F238E27FC236}">
                <a16:creationId xmlns:a16="http://schemas.microsoft.com/office/drawing/2014/main" id="{7C766BED-7959-45EC-ACEC-C049422E73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2095500"/>
            <a:ext cx="406400" cy="406400"/>
          </a:xfrm>
          <a:prstGeom prst="rect">
            <a:avLst/>
          </a:prstGeom>
        </p:spPr>
      </p:pic>
      <p:sp>
        <p:nvSpPr>
          <p:cNvPr id="21" name="AutoShape 17">
            <a:extLst>
              <a:ext uri="{FF2B5EF4-FFF2-40B4-BE49-F238E27FC236}">
                <a16:creationId xmlns:a16="http://schemas.microsoft.com/office/drawing/2014/main" id="{2E4546A1-33BC-46A2-A256-9902EA4B9B1B}"/>
              </a:ext>
            </a:extLst>
          </p:cNvPr>
          <p:cNvSpPr/>
          <p:nvPr/>
        </p:nvSpPr>
        <p:spPr>
          <a:xfrm>
            <a:off x="6921500" y="1930400"/>
            <a:ext cx="165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FFFFF"/>
                </a:solidFill>
                <a:latin typeface="+mn-ea"/>
                <a:ea typeface="+mn-ea"/>
                <a:cs typeface="Noto Sans SC"/>
                <a:sym typeface="Noto Sans SC"/>
              </a:rPr>
              <a:t>测试与优化</a:t>
            </a:r>
            <a:endParaRPr lang="en-US" sz="1100">
              <a:latin typeface="+mn-ea"/>
              <a:ea typeface="+mn-ea"/>
            </a:endParaRPr>
          </a:p>
          <a:p>
            <a:pPr indent="0" algn="l">
              <a:lnSpc>
                <a:spcPct val="125000"/>
              </a:lnSpc>
            </a:pPr>
            <a:r>
              <a:rPr lang="en-US" sz="1300" b="0" i="0" u="none" strike="noStrike">
                <a:solidFill>
                  <a:srgbClr val="FFFFFF">
                    <a:alpha val="90196"/>
                  </a:srgbClr>
                </a:solidFill>
                <a:latin typeface="+mn-ea"/>
                <a:ea typeface="+mn-ea"/>
                <a:cs typeface="Noto Sans SC"/>
                <a:sym typeface="Noto Sans SC"/>
              </a:rPr>
              <a:t>Week 5</a:t>
            </a:r>
          </a:p>
        </p:txBody>
      </p:sp>
      <p:sp>
        <p:nvSpPr>
          <p:cNvPr id="23" name="AutoShape 18">
            <a:extLst>
              <a:ext uri="{FF2B5EF4-FFF2-40B4-BE49-F238E27FC236}">
                <a16:creationId xmlns:a16="http://schemas.microsoft.com/office/drawing/2014/main" id="{3A426079-1D7C-4DBD-A1AE-66FD1938DA29}"/>
              </a:ext>
            </a:extLst>
          </p:cNvPr>
          <p:cNvSpPr/>
          <p:nvPr/>
        </p:nvSpPr>
        <p:spPr>
          <a:xfrm>
            <a:off x="6413500" y="3175000"/>
            <a:ext cx="2159000" cy="266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mn-ea"/>
                <a:ea typeface="+mn-ea"/>
                <a:cs typeface="Noto Sans SC"/>
                <a:sym typeface="Noto Sans SC"/>
              </a:rPr>
              <a:t>📝 关键任务</a:t>
            </a:r>
            <a:endParaRPr lang="en-US" sz="1100">
              <a:latin typeface="+mn-ea"/>
              <a:ea typeface="+mn-ea"/>
            </a:endParaRP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开展全面性能测试、协助进行用户验收测试（UAT）、Bug修复与体验优化。</a:t>
            </a:r>
          </a:p>
          <a:p>
            <a:pPr indent="0" algn="l">
              <a:lnSpc>
                <a:spcPct val="108333"/>
              </a:lnSpc>
              <a:spcBef>
                <a:spcPts val="1600"/>
              </a:spcBef>
            </a:pPr>
            <a:r>
              <a:rPr lang="en-US" sz="1400" b="1" i="0" u="none" strike="noStrike">
                <a:solidFill>
                  <a:srgbClr val="0D9488"/>
                </a:solidFill>
                <a:latin typeface="+mn-ea"/>
                <a:ea typeface="+mn-ea"/>
                <a:cs typeface="Noto Sans SC"/>
                <a:sym typeface="Noto Sans SC"/>
              </a:rPr>
              <a:t>🎯 阶段目标</a:t>
            </a: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修复所有严重及主要问题，确保系统稳定、高效，满足业务使用需求。</a:t>
            </a:r>
          </a:p>
        </p:txBody>
      </p:sp>
      <p:sp>
        <p:nvSpPr>
          <p:cNvPr id="24" name="AutoShape 19">
            <a:extLst>
              <a:ext uri="{FF2B5EF4-FFF2-40B4-BE49-F238E27FC236}">
                <a16:creationId xmlns:a16="http://schemas.microsoft.com/office/drawing/2014/main" id="{DAFEB983-6C17-4ACB-84E0-13AFF771FF1B}"/>
              </a:ext>
            </a:extLst>
          </p:cNvPr>
          <p:cNvSpPr/>
          <p:nvPr/>
        </p:nvSpPr>
        <p:spPr>
          <a:xfrm>
            <a:off x="89535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25" name="AutoShape 20">
            <a:extLst>
              <a:ext uri="{FF2B5EF4-FFF2-40B4-BE49-F238E27FC236}">
                <a16:creationId xmlns:a16="http://schemas.microsoft.com/office/drawing/2014/main" id="{19093955-C25A-4E3C-BA08-29EA8B87E8B7}"/>
              </a:ext>
            </a:extLst>
          </p:cNvPr>
          <p:cNvSpPr/>
          <p:nvPr/>
        </p:nvSpPr>
        <p:spPr>
          <a:xfrm>
            <a:off x="8953500" y="1778000"/>
            <a:ext cx="2540000" cy="1143000"/>
          </a:xfrm>
          <a:prstGeom prst="roundRect">
            <a:avLst>
              <a:gd name="adj" fmla="val 13333"/>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pic>
        <p:nvPicPr>
          <p:cNvPr id="26" name="Picture 21">
            <a:extLst>
              <a:ext uri="{FF2B5EF4-FFF2-40B4-BE49-F238E27FC236}">
                <a16:creationId xmlns:a16="http://schemas.microsoft.com/office/drawing/2014/main" id="{813FF55C-F2C3-4CE9-B98C-4B1371CD33E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44000" y="2095500"/>
            <a:ext cx="406400" cy="406400"/>
          </a:xfrm>
          <a:prstGeom prst="rect">
            <a:avLst/>
          </a:prstGeom>
        </p:spPr>
      </p:pic>
      <p:sp>
        <p:nvSpPr>
          <p:cNvPr id="27" name="AutoShape 22">
            <a:extLst>
              <a:ext uri="{FF2B5EF4-FFF2-40B4-BE49-F238E27FC236}">
                <a16:creationId xmlns:a16="http://schemas.microsoft.com/office/drawing/2014/main" id="{88A8F45B-C0F1-4B7A-AF09-21F7EAA26813}"/>
              </a:ext>
            </a:extLst>
          </p:cNvPr>
          <p:cNvSpPr/>
          <p:nvPr/>
        </p:nvSpPr>
        <p:spPr>
          <a:xfrm>
            <a:off x="9652000" y="1930400"/>
            <a:ext cx="165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FFFFFF"/>
                </a:solidFill>
                <a:latin typeface="+mn-ea"/>
                <a:ea typeface="+mn-ea"/>
                <a:cs typeface="Noto Sans SC"/>
                <a:sym typeface="Noto Sans SC"/>
              </a:rPr>
              <a:t>部署与交付</a:t>
            </a:r>
            <a:endParaRPr lang="en-US" sz="1100">
              <a:latin typeface="+mn-ea"/>
              <a:ea typeface="+mn-ea"/>
            </a:endParaRPr>
          </a:p>
          <a:p>
            <a:pPr indent="0" algn="l">
              <a:lnSpc>
                <a:spcPct val="125000"/>
              </a:lnSpc>
            </a:pPr>
            <a:r>
              <a:rPr lang="en-US" sz="1300" b="0" i="0" u="none" strike="noStrike">
                <a:solidFill>
                  <a:srgbClr val="FFFFFF">
                    <a:alpha val="90196"/>
                  </a:srgbClr>
                </a:solidFill>
                <a:latin typeface="+mn-ea"/>
                <a:ea typeface="+mn-ea"/>
                <a:cs typeface="Noto Sans SC"/>
                <a:sym typeface="Noto Sans SC"/>
              </a:rPr>
              <a:t>Week 6</a:t>
            </a:r>
          </a:p>
        </p:txBody>
      </p:sp>
      <p:sp>
        <p:nvSpPr>
          <p:cNvPr id="28" name="AutoShape 23">
            <a:extLst>
              <a:ext uri="{FF2B5EF4-FFF2-40B4-BE49-F238E27FC236}">
                <a16:creationId xmlns:a16="http://schemas.microsoft.com/office/drawing/2014/main" id="{FE74B5FA-5545-444C-A648-E66BFEA93DEE}"/>
              </a:ext>
            </a:extLst>
          </p:cNvPr>
          <p:cNvSpPr/>
          <p:nvPr/>
        </p:nvSpPr>
        <p:spPr>
          <a:xfrm>
            <a:off x="9144000" y="3175000"/>
            <a:ext cx="2159000" cy="266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mn-ea"/>
                <a:ea typeface="+mn-ea"/>
                <a:cs typeface="Noto Sans SC"/>
                <a:sym typeface="Noto Sans SC"/>
              </a:rPr>
              <a:t>📝 关键任务</a:t>
            </a:r>
            <a:endParaRPr lang="en-US" sz="1100">
              <a:latin typeface="+mn-ea"/>
              <a:ea typeface="+mn-ea"/>
            </a:endParaRP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生产环境系统部署上线、系统操作培训、全套项目文档交付。</a:t>
            </a:r>
          </a:p>
          <a:p>
            <a:pPr indent="0" algn="l">
              <a:lnSpc>
                <a:spcPct val="108333"/>
              </a:lnSpc>
              <a:spcBef>
                <a:spcPts val="1600"/>
              </a:spcBef>
            </a:pPr>
            <a:r>
              <a:rPr lang="en-US" sz="1400" b="1" i="0" u="none" strike="noStrike">
                <a:solidFill>
                  <a:srgbClr val="0D9488"/>
                </a:solidFill>
                <a:latin typeface="+mn-ea"/>
                <a:ea typeface="+mn-ea"/>
                <a:cs typeface="Noto Sans SC"/>
                <a:sym typeface="Noto Sans SC"/>
              </a:rPr>
              <a:t>🎯 阶段目标</a:t>
            </a:r>
          </a:p>
          <a:p>
            <a:pPr indent="0" algn="l">
              <a:lnSpc>
                <a:spcPct val="116666"/>
              </a:lnSpc>
              <a:spcBef>
                <a:spcPts val="800"/>
              </a:spcBef>
            </a:pPr>
            <a:r>
              <a:rPr lang="en-US" sz="1200" b="0" i="0" u="none" strike="noStrike">
                <a:solidFill>
                  <a:srgbClr val="4B5563"/>
                </a:solidFill>
                <a:latin typeface="+mn-ea"/>
                <a:ea typeface="+mn-ea"/>
                <a:cs typeface="Noto Sans SC"/>
                <a:sym typeface="Noto Sans SC"/>
              </a:rPr>
              <a:t>完成最终交付验收，项目正式投入使用，开启技术支持与维护服务。</a:t>
            </a:r>
          </a:p>
        </p:txBody>
      </p:sp>
      <p:pic>
        <p:nvPicPr>
          <p:cNvPr id="29" name="图片 28" descr="文本&#10;&#10;AI 生成的内容可能不正确。">
            <a:extLst>
              <a:ext uri="{FF2B5EF4-FFF2-40B4-BE49-F238E27FC236}">
                <a16:creationId xmlns:a16="http://schemas.microsoft.com/office/drawing/2014/main" id="{87C905A7-5C24-48B6-8942-F8B0F9E53B1B}"/>
              </a:ext>
            </a:extLst>
          </p:cNvPr>
          <p:cNvPicPr>
            <a:picLocks noChangeAspect="1"/>
          </p:cNvPicPr>
          <p:nvPr/>
        </p:nvPicPr>
        <p:blipFill>
          <a:blip r:embed="rId11"/>
          <a:stretch>
            <a:fillRect/>
          </a:stretch>
        </p:blipFill>
        <p:spPr>
          <a:xfrm>
            <a:off x="9326632" y="0"/>
            <a:ext cx="2865368" cy="541067"/>
          </a:xfrm>
          <a:prstGeom prst="rect">
            <a:avLst/>
          </a:prstGeom>
        </p:spPr>
      </p:pic>
    </p:spTree>
    <p:extLst>
      <p:ext uri="{BB962C8B-B14F-4D97-AF65-F5344CB8AC3E}">
        <p14:creationId xmlns:p14="http://schemas.microsoft.com/office/powerpoint/2010/main" val="1966446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a:extLst>
              <a:ext uri="{FF2B5EF4-FFF2-40B4-BE49-F238E27FC236}">
                <a16:creationId xmlns:a16="http://schemas.microsoft.com/office/drawing/2014/main" id="{B4DDE98F-3A6B-4599-A66C-80354D808D28}"/>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mn-ea"/>
                <a:ea typeface="+mn-ea"/>
                <a:cs typeface="Noto Sans SC"/>
                <a:sym typeface="Noto Sans SC"/>
              </a:rPr>
              <a:t>05 总结与展望</a:t>
            </a:r>
            <a:endParaRPr lang="en-US" sz="1100">
              <a:latin typeface="+mn-ea"/>
              <a:ea typeface="+mn-ea"/>
            </a:endParaRPr>
          </a:p>
        </p:txBody>
      </p:sp>
      <p:sp>
        <p:nvSpPr>
          <p:cNvPr id="7" name="AutoShape 3">
            <a:extLst>
              <a:ext uri="{FF2B5EF4-FFF2-40B4-BE49-F238E27FC236}">
                <a16:creationId xmlns:a16="http://schemas.microsoft.com/office/drawing/2014/main" id="{1C23F493-4C1D-4A75-AB72-B3CC16300AA8}"/>
              </a:ext>
            </a:extLst>
          </p:cNvPr>
          <p:cNvSpPr/>
          <p:nvPr/>
        </p:nvSpPr>
        <p:spPr>
          <a:xfrm>
            <a:off x="762000" y="1651000"/>
            <a:ext cx="5207000" cy="4318000"/>
          </a:xfrm>
          <a:prstGeom prst="roundRect">
            <a:avLst>
              <a:gd name="adj" fmla="val 352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8" name="AutoShape 4">
            <a:extLst>
              <a:ext uri="{FF2B5EF4-FFF2-40B4-BE49-F238E27FC236}">
                <a16:creationId xmlns:a16="http://schemas.microsoft.com/office/drawing/2014/main" id="{244A71D4-3B63-401F-A82D-9C4217173C48}"/>
              </a:ext>
            </a:extLst>
          </p:cNvPr>
          <p:cNvSpPr/>
          <p:nvPr/>
        </p:nvSpPr>
        <p:spPr>
          <a:xfrm>
            <a:off x="762000" y="1651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sp>
        <p:nvSpPr>
          <p:cNvPr id="9" name="AutoShape 5">
            <a:extLst>
              <a:ext uri="{FF2B5EF4-FFF2-40B4-BE49-F238E27FC236}">
                <a16:creationId xmlns:a16="http://schemas.microsoft.com/office/drawing/2014/main" id="{E492A91D-5933-4A3E-87E6-46D08C4590ED}"/>
              </a:ext>
            </a:extLst>
          </p:cNvPr>
          <p:cNvSpPr/>
          <p:nvPr/>
        </p:nvSpPr>
        <p:spPr>
          <a:xfrm>
            <a:off x="1066800" y="1968500"/>
            <a:ext cx="45974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15E59"/>
                </a:solidFill>
                <a:latin typeface="+mn-ea"/>
                <a:ea typeface="+mn-ea"/>
                <a:cs typeface="Noto Sans SC"/>
                <a:sym typeface="Noto Sans SC"/>
              </a:rPr>
              <a:t>总结 · 强大引擎</a:t>
            </a:r>
            <a:endParaRPr lang="en-US" sz="1100">
              <a:latin typeface="+mn-ea"/>
              <a:ea typeface="+mn-ea"/>
            </a:endParaRPr>
          </a:p>
        </p:txBody>
      </p:sp>
      <p:sp>
        <p:nvSpPr>
          <p:cNvPr id="10" name="AutoShape 6">
            <a:extLst>
              <a:ext uri="{FF2B5EF4-FFF2-40B4-BE49-F238E27FC236}">
                <a16:creationId xmlns:a16="http://schemas.microsoft.com/office/drawing/2014/main" id="{6930CF05-2345-4AAA-81FF-F594493B05B9}"/>
              </a:ext>
            </a:extLst>
          </p:cNvPr>
          <p:cNvSpPr/>
          <p:nvPr/>
        </p:nvSpPr>
        <p:spPr>
          <a:xfrm>
            <a:off x="1066800" y="2603500"/>
            <a:ext cx="45974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mn-ea"/>
                <a:ea typeface="+mn-ea"/>
                <a:cs typeface="Noto Sans SC"/>
                <a:sym typeface="Noto Sans SC"/>
              </a:rPr>
              <a:t>本项目通过引入自动化、智能化的计算平台，彻底改变毕业要求达成度计算现状，推动教学质量持续改进。通过精准的数据，我们能够：</a:t>
            </a:r>
            <a:endParaRPr lang="en-US" sz="1100">
              <a:latin typeface="+mn-ea"/>
              <a:ea typeface="+mn-ea"/>
            </a:endParaRPr>
          </a:p>
        </p:txBody>
      </p:sp>
      <p:pic>
        <p:nvPicPr>
          <p:cNvPr id="11" name="Picture 7">
            <a:extLst>
              <a:ext uri="{FF2B5EF4-FFF2-40B4-BE49-F238E27FC236}">
                <a16:creationId xmlns:a16="http://schemas.microsoft.com/office/drawing/2014/main" id="{C2C3CF2E-B05C-400E-B334-E58CC47ABF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3556000"/>
            <a:ext cx="355600" cy="355600"/>
          </a:xfrm>
          <a:prstGeom prst="rect">
            <a:avLst/>
          </a:prstGeom>
        </p:spPr>
      </p:pic>
      <p:sp>
        <p:nvSpPr>
          <p:cNvPr id="12" name="AutoShape 8">
            <a:extLst>
              <a:ext uri="{FF2B5EF4-FFF2-40B4-BE49-F238E27FC236}">
                <a16:creationId xmlns:a16="http://schemas.microsoft.com/office/drawing/2014/main" id="{9614ADC9-8578-4FEE-BF15-0755924400CC}"/>
              </a:ext>
            </a:extLst>
          </p:cNvPr>
          <p:cNvSpPr/>
          <p:nvPr/>
        </p:nvSpPr>
        <p:spPr>
          <a:xfrm>
            <a:off x="1549400" y="3530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mn-ea"/>
                <a:ea typeface="+mn-ea"/>
                <a:cs typeface="Noto Sans SC"/>
                <a:sym typeface="Noto Sans SC"/>
              </a:rPr>
              <a:t>科学评估：</a:t>
            </a:r>
            <a:r>
              <a:rPr lang="en-US" sz="1300" b="0" i="0" u="none" strike="noStrike">
                <a:solidFill>
                  <a:srgbClr val="6B7280"/>
                </a:solidFill>
                <a:latin typeface="+mn-ea"/>
                <a:ea typeface="+mn-ea"/>
                <a:cs typeface="Noto Sans SC"/>
                <a:sym typeface="Noto Sans SC"/>
              </a:rPr>
              <a:t>客观衡量学生能力达成情况，让教学评价有据可依。</a:t>
            </a:r>
            <a:endParaRPr lang="en-US" sz="1100">
              <a:latin typeface="+mn-ea"/>
              <a:ea typeface="+mn-ea"/>
            </a:endParaRPr>
          </a:p>
        </p:txBody>
      </p:sp>
      <p:pic>
        <p:nvPicPr>
          <p:cNvPr id="13" name="Picture 9">
            <a:extLst>
              <a:ext uri="{FF2B5EF4-FFF2-40B4-BE49-F238E27FC236}">
                <a16:creationId xmlns:a16="http://schemas.microsoft.com/office/drawing/2014/main" id="{8BD4CA6F-4C24-46C6-A119-FE16069963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318000"/>
            <a:ext cx="355600" cy="355600"/>
          </a:xfrm>
          <a:prstGeom prst="rect">
            <a:avLst/>
          </a:prstGeom>
        </p:spPr>
      </p:pic>
      <p:sp>
        <p:nvSpPr>
          <p:cNvPr id="14" name="AutoShape 10">
            <a:extLst>
              <a:ext uri="{FF2B5EF4-FFF2-40B4-BE49-F238E27FC236}">
                <a16:creationId xmlns:a16="http://schemas.microsoft.com/office/drawing/2014/main" id="{D4BB8BB4-E500-43CF-9418-D691A3921EB8}"/>
              </a:ext>
            </a:extLst>
          </p:cNvPr>
          <p:cNvSpPr/>
          <p:nvPr/>
        </p:nvSpPr>
        <p:spPr>
          <a:xfrm>
            <a:off x="1549400" y="4292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mn-ea"/>
                <a:ea typeface="+mn-ea"/>
                <a:cs typeface="Noto Sans SC"/>
                <a:sym typeface="Noto Sans SC"/>
              </a:rPr>
              <a:t>精准改进：</a:t>
            </a:r>
            <a:r>
              <a:rPr lang="en-US" sz="1300" b="0" i="0" u="none" strike="noStrike">
                <a:solidFill>
                  <a:srgbClr val="6B7280"/>
                </a:solidFill>
                <a:latin typeface="+mn-ea"/>
                <a:ea typeface="+mn-ea"/>
                <a:cs typeface="Noto Sans SC"/>
                <a:sym typeface="Noto Sans SC"/>
              </a:rPr>
              <a:t>快速定位教学薄弱环节，为课程优化提供数据支撑。</a:t>
            </a:r>
            <a:endParaRPr lang="en-US" sz="1100">
              <a:latin typeface="+mn-ea"/>
              <a:ea typeface="+mn-ea"/>
            </a:endParaRPr>
          </a:p>
        </p:txBody>
      </p:sp>
      <p:pic>
        <p:nvPicPr>
          <p:cNvPr id="15" name="Picture 11">
            <a:extLst>
              <a:ext uri="{FF2B5EF4-FFF2-40B4-BE49-F238E27FC236}">
                <a16:creationId xmlns:a16="http://schemas.microsoft.com/office/drawing/2014/main" id="{B6CC9B29-2F99-43D3-8B6E-5FC230B322C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800" y="5143500"/>
            <a:ext cx="355600" cy="355600"/>
          </a:xfrm>
          <a:prstGeom prst="rect">
            <a:avLst/>
          </a:prstGeom>
        </p:spPr>
      </p:pic>
      <p:sp>
        <p:nvSpPr>
          <p:cNvPr id="16" name="AutoShape 12">
            <a:extLst>
              <a:ext uri="{FF2B5EF4-FFF2-40B4-BE49-F238E27FC236}">
                <a16:creationId xmlns:a16="http://schemas.microsoft.com/office/drawing/2014/main" id="{C1BBC647-52C1-4806-AB36-50A9F76C872E}"/>
              </a:ext>
            </a:extLst>
          </p:cNvPr>
          <p:cNvSpPr/>
          <p:nvPr/>
        </p:nvSpPr>
        <p:spPr>
          <a:xfrm>
            <a:off x="1549400" y="51181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mn-ea"/>
                <a:ea typeface="+mn-ea"/>
                <a:cs typeface="Noto Sans SC"/>
                <a:sym typeface="Noto Sans SC"/>
              </a:rPr>
              <a:t>高效认证：</a:t>
            </a:r>
            <a:r>
              <a:rPr lang="en-US" sz="1300" b="0" i="0" u="none" strike="noStrike">
                <a:solidFill>
                  <a:srgbClr val="6B7280"/>
                </a:solidFill>
                <a:latin typeface="+mn-ea"/>
                <a:ea typeface="+mn-ea"/>
                <a:cs typeface="Noto Sans SC"/>
                <a:sym typeface="Noto Sans SC"/>
              </a:rPr>
              <a:t>轻松应对各类专业认证评估，提升管理工作效率。</a:t>
            </a:r>
            <a:endParaRPr lang="en-US" sz="1100">
              <a:latin typeface="+mn-ea"/>
              <a:ea typeface="+mn-ea"/>
            </a:endParaRPr>
          </a:p>
        </p:txBody>
      </p:sp>
      <p:sp>
        <p:nvSpPr>
          <p:cNvPr id="17" name="AutoShape 13">
            <a:extLst>
              <a:ext uri="{FF2B5EF4-FFF2-40B4-BE49-F238E27FC236}">
                <a16:creationId xmlns:a16="http://schemas.microsoft.com/office/drawing/2014/main" id="{EDACEC18-6AAD-4980-BEC0-3E5D0C441DB8}"/>
              </a:ext>
            </a:extLst>
          </p:cNvPr>
          <p:cNvSpPr/>
          <p:nvPr/>
        </p:nvSpPr>
        <p:spPr>
          <a:xfrm>
            <a:off x="6223000" y="1651000"/>
            <a:ext cx="5207000" cy="4318000"/>
          </a:xfrm>
          <a:prstGeom prst="roundRect">
            <a:avLst>
              <a:gd name="adj" fmla="val 352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n-ea"/>
              <a:ea typeface="+mn-ea"/>
            </a:endParaRPr>
          </a:p>
        </p:txBody>
      </p:sp>
      <p:sp>
        <p:nvSpPr>
          <p:cNvPr id="18" name="AutoShape 14">
            <a:extLst>
              <a:ext uri="{FF2B5EF4-FFF2-40B4-BE49-F238E27FC236}">
                <a16:creationId xmlns:a16="http://schemas.microsoft.com/office/drawing/2014/main" id="{50BEAE26-F4D7-42F3-B001-B4D816F958C2}"/>
              </a:ext>
            </a:extLst>
          </p:cNvPr>
          <p:cNvSpPr/>
          <p:nvPr/>
        </p:nvSpPr>
        <p:spPr>
          <a:xfrm>
            <a:off x="6223000" y="1651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sp>
        <p:nvSpPr>
          <p:cNvPr id="19" name="AutoShape 15">
            <a:extLst>
              <a:ext uri="{FF2B5EF4-FFF2-40B4-BE49-F238E27FC236}">
                <a16:creationId xmlns:a16="http://schemas.microsoft.com/office/drawing/2014/main" id="{70467316-8716-4F3C-9EDC-98DC262851F2}"/>
              </a:ext>
            </a:extLst>
          </p:cNvPr>
          <p:cNvSpPr/>
          <p:nvPr/>
        </p:nvSpPr>
        <p:spPr>
          <a:xfrm>
            <a:off x="6527800" y="1968500"/>
            <a:ext cx="45974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15E59"/>
                </a:solidFill>
                <a:latin typeface="+mn-ea"/>
                <a:ea typeface="+mn-ea"/>
                <a:cs typeface="Noto Sans SC"/>
                <a:sym typeface="Noto Sans SC"/>
              </a:rPr>
              <a:t>展望 · 智能升级</a:t>
            </a:r>
            <a:endParaRPr lang="en-US" sz="1100">
              <a:latin typeface="+mn-ea"/>
              <a:ea typeface="+mn-ea"/>
            </a:endParaRPr>
          </a:p>
        </p:txBody>
      </p:sp>
      <p:sp>
        <p:nvSpPr>
          <p:cNvPr id="20" name="AutoShape 16">
            <a:extLst>
              <a:ext uri="{FF2B5EF4-FFF2-40B4-BE49-F238E27FC236}">
                <a16:creationId xmlns:a16="http://schemas.microsoft.com/office/drawing/2014/main" id="{1D36193E-2CF3-42B8-B337-97B9DB1BC958}"/>
              </a:ext>
            </a:extLst>
          </p:cNvPr>
          <p:cNvSpPr/>
          <p:nvPr/>
        </p:nvSpPr>
        <p:spPr>
          <a:xfrm>
            <a:off x="6527800" y="2603500"/>
            <a:ext cx="45974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4B5563"/>
                </a:solidFill>
                <a:latin typeface="+mn-ea"/>
                <a:ea typeface="+mn-ea"/>
                <a:cs typeface="Noto Sans SC"/>
                <a:sym typeface="Noto Sans SC"/>
              </a:rPr>
              <a:t>未来，系统可进一步扩展集成更多智能化分析功能，从“被动统计”走向“主动赋能”，如：</a:t>
            </a:r>
            <a:endParaRPr lang="en-US" sz="1100">
              <a:latin typeface="+mn-ea"/>
              <a:ea typeface="+mn-ea"/>
            </a:endParaRPr>
          </a:p>
        </p:txBody>
      </p:sp>
      <p:pic>
        <p:nvPicPr>
          <p:cNvPr id="21" name="Picture 17">
            <a:extLst>
              <a:ext uri="{FF2B5EF4-FFF2-40B4-BE49-F238E27FC236}">
                <a16:creationId xmlns:a16="http://schemas.microsoft.com/office/drawing/2014/main" id="{F4476C45-CFE4-4351-8DF3-623E15E9A12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27800" y="3556000"/>
            <a:ext cx="355600" cy="355600"/>
          </a:xfrm>
          <a:prstGeom prst="rect">
            <a:avLst/>
          </a:prstGeom>
        </p:spPr>
      </p:pic>
      <p:sp>
        <p:nvSpPr>
          <p:cNvPr id="23" name="AutoShape 18">
            <a:extLst>
              <a:ext uri="{FF2B5EF4-FFF2-40B4-BE49-F238E27FC236}">
                <a16:creationId xmlns:a16="http://schemas.microsoft.com/office/drawing/2014/main" id="{ABCD3611-1DF8-4DCC-97AE-EEEF3DE6AB1A}"/>
              </a:ext>
            </a:extLst>
          </p:cNvPr>
          <p:cNvSpPr/>
          <p:nvPr/>
        </p:nvSpPr>
        <p:spPr>
          <a:xfrm>
            <a:off x="7010400" y="3530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mn-ea"/>
                <a:ea typeface="+mn-ea"/>
                <a:cs typeface="Noto Sans SC"/>
                <a:sym typeface="Noto Sans SC"/>
              </a:rPr>
              <a:t>教学预警：</a:t>
            </a:r>
            <a:r>
              <a:rPr lang="en-US" sz="1300" b="0" i="0" u="none" strike="noStrike">
                <a:solidFill>
                  <a:srgbClr val="6B7280"/>
                </a:solidFill>
                <a:latin typeface="+mn-ea"/>
                <a:ea typeface="+mn-ea"/>
                <a:cs typeface="Noto Sans SC"/>
                <a:sym typeface="Noto Sans SC"/>
              </a:rPr>
              <a:t>基于历史数据预测潜在风险，实现教学质量风险的前置干预。</a:t>
            </a:r>
            <a:endParaRPr lang="en-US" sz="1100">
              <a:latin typeface="+mn-ea"/>
              <a:ea typeface="+mn-ea"/>
            </a:endParaRPr>
          </a:p>
        </p:txBody>
      </p:sp>
      <p:pic>
        <p:nvPicPr>
          <p:cNvPr id="24" name="Picture 19">
            <a:extLst>
              <a:ext uri="{FF2B5EF4-FFF2-40B4-BE49-F238E27FC236}">
                <a16:creationId xmlns:a16="http://schemas.microsoft.com/office/drawing/2014/main" id="{796F5D98-649B-4200-9AD8-A2BA5AC02EA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27800" y="4318000"/>
            <a:ext cx="355600" cy="355600"/>
          </a:xfrm>
          <a:prstGeom prst="rect">
            <a:avLst/>
          </a:prstGeom>
        </p:spPr>
      </p:pic>
      <p:sp>
        <p:nvSpPr>
          <p:cNvPr id="25" name="AutoShape 20">
            <a:extLst>
              <a:ext uri="{FF2B5EF4-FFF2-40B4-BE49-F238E27FC236}">
                <a16:creationId xmlns:a16="http://schemas.microsoft.com/office/drawing/2014/main" id="{BEF72B9F-4764-46AC-8A92-A3F0309FB806}"/>
              </a:ext>
            </a:extLst>
          </p:cNvPr>
          <p:cNvSpPr/>
          <p:nvPr/>
        </p:nvSpPr>
        <p:spPr>
          <a:xfrm>
            <a:off x="7010400" y="4292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mn-ea"/>
                <a:ea typeface="+mn-ea"/>
                <a:cs typeface="Noto Sans SC"/>
                <a:sym typeface="Noto Sans SC"/>
              </a:rPr>
              <a:t>智能推荐：</a:t>
            </a:r>
            <a:r>
              <a:rPr lang="en-US" sz="1300" b="0" i="0" u="none" strike="noStrike">
                <a:solidFill>
                  <a:srgbClr val="6B7280"/>
                </a:solidFill>
                <a:latin typeface="+mn-ea"/>
                <a:ea typeface="+mn-ea"/>
                <a:cs typeface="Noto Sans SC"/>
                <a:sym typeface="Noto Sans SC"/>
              </a:rPr>
              <a:t>为课程改进提供数据驱动的建议，辅助教师优化教学设计。</a:t>
            </a:r>
            <a:endParaRPr lang="en-US" sz="1100">
              <a:latin typeface="+mn-ea"/>
              <a:ea typeface="+mn-ea"/>
            </a:endParaRPr>
          </a:p>
        </p:txBody>
      </p:sp>
      <p:pic>
        <p:nvPicPr>
          <p:cNvPr id="26" name="Picture 21">
            <a:extLst>
              <a:ext uri="{FF2B5EF4-FFF2-40B4-BE49-F238E27FC236}">
                <a16:creationId xmlns:a16="http://schemas.microsoft.com/office/drawing/2014/main" id="{80FC9983-FD19-4285-879E-DA969E9793E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27800" y="5143500"/>
            <a:ext cx="355600" cy="355600"/>
          </a:xfrm>
          <a:prstGeom prst="rect">
            <a:avLst/>
          </a:prstGeom>
        </p:spPr>
      </p:pic>
      <p:sp>
        <p:nvSpPr>
          <p:cNvPr id="27" name="AutoShape 22">
            <a:extLst>
              <a:ext uri="{FF2B5EF4-FFF2-40B4-BE49-F238E27FC236}">
                <a16:creationId xmlns:a16="http://schemas.microsoft.com/office/drawing/2014/main" id="{32E0CE36-849C-48D4-B64D-2B63E5FC272A}"/>
              </a:ext>
            </a:extLst>
          </p:cNvPr>
          <p:cNvSpPr/>
          <p:nvPr/>
        </p:nvSpPr>
        <p:spPr>
          <a:xfrm>
            <a:off x="7010400" y="51181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mn-ea"/>
                <a:ea typeface="+mn-ea"/>
                <a:cs typeface="Noto Sans SC"/>
                <a:sym typeface="Noto Sans SC"/>
              </a:rPr>
              <a:t>可视化大屏：</a:t>
            </a:r>
            <a:r>
              <a:rPr lang="en-US" sz="1300" b="0" i="0" u="none" strike="noStrike">
                <a:solidFill>
                  <a:srgbClr val="6B7280"/>
                </a:solidFill>
                <a:latin typeface="+mn-ea"/>
                <a:ea typeface="+mn-ea"/>
                <a:cs typeface="Noto Sans SC"/>
                <a:sym typeface="Noto Sans SC"/>
              </a:rPr>
              <a:t>实时展示全院教学质量动态，辅助管理者科学决策。</a:t>
            </a:r>
            <a:endParaRPr lang="en-US" sz="1100">
              <a:latin typeface="+mn-ea"/>
              <a:ea typeface="+mn-ea"/>
            </a:endParaRPr>
          </a:p>
        </p:txBody>
      </p:sp>
      <p:sp>
        <p:nvSpPr>
          <p:cNvPr id="28" name="AutoShape 23">
            <a:extLst>
              <a:ext uri="{FF2B5EF4-FFF2-40B4-BE49-F238E27FC236}">
                <a16:creationId xmlns:a16="http://schemas.microsoft.com/office/drawing/2014/main" id="{693A29F4-EF73-466F-BF13-37D5C77040BF}"/>
              </a:ext>
            </a:extLst>
          </p:cNvPr>
          <p:cNvSpPr/>
          <p:nvPr/>
        </p:nvSpPr>
        <p:spPr>
          <a:xfrm>
            <a:off x="0" y="622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15E59"/>
                </a:solidFill>
                <a:latin typeface="+mn-ea"/>
                <a:ea typeface="+mn-ea"/>
                <a:cs typeface="Noto Sans SC"/>
                <a:sym typeface="Noto Sans SC"/>
              </a:rPr>
              <a:t>我们相信，本平台将成为学院教学管理信息化的重要里程碑。</a:t>
            </a:r>
            <a:endParaRPr lang="en-US" sz="1100">
              <a:latin typeface="+mn-ea"/>
              <a:ea typeface="+mn-ea"/>
            </a:endParaRPr>
          </a:p>
        </p:txBody>
      </p:sp>
      <p:pic>
        <p:nvPicPr>
          <p:cNvPr id="29" name="图片 28" descr="文本&#10;&#10;AI 生成的内容可能不正确。">
            <a:extLst>
              <a:ext uri="{FF2B5EF4-FFF2-40B4-BE49-F238E27FC236}">
                <a16:creationId xmlns:a16="http://schemas.microsoft.com/office/drawing/2014/main" id="{F5471B2A-2936-4714-B64A-75219377E53C}"/>
              </a:ext>
            </a:extLst>
          </p:cNvPr>
          <p:cNvPicPr>
            <a:picLocks noChangeAspect="1"/>
          </p:cNvPicPr>
          <p:nvPr/>
        </p:nvPicPr>
        <p:blipFill>
          <a:blip r:embed="rId15"/>
          <a:stretch>
            <a:fillRect/>
          </a:stretch>
        </p:blipFill>
        <p:spPr>
          <a:xfrm>
            <a:off x="9326632" y="0"/>
            <a:ext cx="2865368" cy="541067"/>
          </a:xfrm>
          <a:prstGeom prst="rect">
            <a:avLst/>
          </a:prstGeom>
        </p:spPr>
      </p:pic>
    </p:spTree>
    <p:extLst>
      <p:ext uri="{BB962C8B-B14F-4D97-AF65-F5344CB8AC3E}">
        <p14:creationId xmlns:p14="http://schemas.microsoft.com/office/powerpoint/2010/main" val="777281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latin typeface="+mn-ea"/>
              <a:ea typeface="+mn-ea"/>
            </a:endParaRPr>
          </a:p>
        </p:txBody>
      </p:sp>
      <p:sp>
        <p:nvSpPr>
          <p:cNvPr id="3" name="AutoShape 3"/>
          <p:cNvSpPr/>
          <p:nvPr/>
        </p:nvSpPr>
        <p:spPr>
          <a:xfrm>
            <a:off x="0" y="1905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FFFFFF"/>
                </a:solidFill>
                <a:latin typeface="+mn-ea"/>
                <a:ea typeface="+mn-ea"/>
                <a:cs typeface="Noto Sans SC"/>
                <a:sym typeface="Noto Sans SC"/>
              </a:rPr>
              <a:t>感谢聆听</a:t>
            </a:r>
            <a:endParaRPr lang="en-US" sz="1100">
              <a:latin typeface="+mn-ea"/>
              <a:ea typeface="+mn-ea"/>
            </a:endParaRPr>
          </a:p>
        </p:txBody>
      </p:sp>
      <p:sp>
        <p:nvSpPr>
          <p:cNvPr id="4" name="AutoShape 4"/>
          <p:cNvSpPr/>
          <p:nvPr/>
        </p:nvSpPr>
        <p:spPr>
          <a:xfrm>
            <a:off x="0" y="3302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2DD4BF"/>
                </a:solidFill>
                <a:latin typeface="+mn-ea"/>
                <a:ea typeface="+mn-ea"/>
                <a:cs typeface="Noto Sans SC"/>
                <a:sym typeface="Noto Sans SC"/>
              </a:rPr>
              <a:t>Q &amp; A</a:t>
            </a:r>
            <a:endParaRPr lang="en-US" sz="1100">
              <a:latin typeface="+mn-ea"/>
              <a:ea typeface="+mn-ea"/>
            </a:endParaRPr>
          </a:p>
        </p:txBody>
      </p:sp>
      <p:sp>
        <p:nvSpPr>
          <p:cNvPr id="5" name="AutoShape 5"/>
          <p:cNvSpPr/>
          <p:nvPr/>
        </p:nvSpPr>
        <p:spPr>
          <a:xfrm>
            <a:off x="0" y="5207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E5E7EB">
                    <a:alpha val="90196"/>
                  </a:srgbClr>
                </a:solidFill>
                <a:latin typeface="+mn-ea"/>
                <a:ea typeface="+mn-ea"/>
                <a:cs typeface="Noto Sans SC"/>
                <a:sym typeface="Noto Sans SC"/>
              </a:rPr>
              <a:t>欢迎各位批评指正与提问</a:t>
            </a:r>
            <a:endParaRPr lang="en-US" sz="1100">
              <a:latin typeface="+mn-ea"/>
              <a:ea typeface="+mn-ea"/>
            </a:endParaRPr>
          </a:p>
        </p:txBody>
      </p:sp>
      <p:pic>
        <p:nvPicPr>
          <p:cNvPr id="6" name="图片 5">
            <a:extLst>
              <a:ext uri="{FF2B5EF4-FFF2-40B4-BE49-F238E27FC236}">
                <a16:creationId xmlns:a16="http://schemas.microsoft.com/office/drawing/2014/main" id="{7E4765F2-34E3-4E14-AA79-19E2CEDA65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2580" y="88496"/>
            <a:ext cx="4459272" cy="676502"/>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TotalTime>
  <Words>1705</Words>
  <Application>Microsoft Office PowerPoint</Application>
  <PresentationFormat>宽屏</PresentationFormat>
  <Paragraphs>385</Paragraphs>
  <Slides>28</Slides>
  <Notes>28</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28</vt:i4>
      </vt:variant>
    </vt:vector>
  </HeadingPairs>
  <TitlesOfParts>
    <vt:vector size="34" baseType="lpstr">
      <vt:lpstr>inherit</vt:lpstr>
      <vt:lpstr>黑体</vt:lpstr>
      <vt:lpstr>宋体</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light star</cp:lastModifiedBy>
  <cp:revision>43</cp:revision>
  <dcterms:modified xsi:type="dcterms:W3CDTF">2026-05-18T12:59:11Z</dcterms:modified>
</cp:coreProperties>
</file>