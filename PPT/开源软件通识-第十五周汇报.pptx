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3.svg" ContentType="image/svg+xml"/>
  <Override PartName="/ppt/media/image105.svg" ContentType="image/svg+xml"/>
  <Override PartName="/ppt/media/image12.svg" ContentType="image/svg+xml"/>
  <Override PartName="/ppt/media/image14.svg" ContentType="image/svg+xml"/>
  <Override PartName="/ppt/media/image149.svg" ContentType="image/svg+xml"/>
  <Override PartName="/ppt/media/image151.svg" ContentType="image/svg+xml"/>
  <Override PartName="/ppt/media/image153.svg" ContentType="image/svg+xml"/>
  <Override PartName="/ppt/media/image155.svg" ContentType="image/svg+xml"/>
  <Override PartName="/ppt/media/image157.svg" ContentType="image/svg+xml"/>
  <Override PartName="/ppt/media/image159.svg" ContentType="image/svg+xml"/>
  <Override PartName="/ppt/media/image16.svg" ContentType="image/svg+xml"/>
  <Override PartName="/ppt/media/image161.svg" ContentType="image/svg+xml"/>
  <Override PartName="/ppt/media/image163.svg" ContentType="image/svg+xml"/>
  <Override PartName="/ppt/media/image165.svg" ContentType="image/svg+xml"/>
  <Override PartName="/ppt/media/image167.svg" ContentType="image/svg+xml"/>
  <Override PartName="/ppt/media/image169.svg" ContentType="image/svg+xml"/>
  <Override PartName="/ppt/media/image171.svg" ContentType="image/svg+xml"/>
  <Override PartName="/ppt/media/image173.svg" ContentType="image/svg+xml"/>
  <Override PartName="/ppt/media/image175.svg" ContentType="image/svg+xml"/>
  <Override PartName="/ppt/media/image177.svg" ContentType="image/svg+xml"/>
  <Override PartName="/ppt/media/image179.svg" ContentType="image/svg+xml"/>
  <Override PartName="/ppt/media/image18.svg" ContentType="image/svg+xml"/>
  <Override PartName="/ppt/media/image181.svg" ContentType="image/svg+xml"/>
  <Override PartName="/ppt/media/image183.svg" ContentType="image/svg+xml"/>
  <Override PartName="/ppt/media/image185.svg" ContentType="image/svg+xml"/>
  <Override PartName="/ppt/media/image187.svg" ContentType="image/svg+xml"/>
  <Override PartName="/ppt/media/image189.svg" ContentType="image/svg+xml"/>
  <Override PartName="/ppt/media/image191.svg" ContentType="image/svg+xml"/>
  <Override PartName="/ppt/media/image193.svg" ContentType="image/svg+xml"/>
  <Override PartName="/ppt/media/image195.svg" ContentType="image/svg+xml"/>
  <Override PartName="/ppt/media/image197.svg" ContentType="image/svg+xml"/>
  <Override PartName="/ppt/media/image199.svg" ContentType="image/svg+xml"/>
  <Override PartName="/ppt/media/image20.svg" ContentType="image/svg+xml"/>
  <Override PartName="/ppt/media/image201.svg" ContentType="image/svg+xml"/>
  <Override PartName="/ppt/media/image203.svg" ContentType="image/svg+xml"/>
  <Override PartName="/ppt/media/image205.svg" ContentType="image/svg+xml"/>
  <Override PartName="/ppt/media/image207.svg" ContentType="image/svg+xml"/>
  <Override PartName="/ppt/media/image209.svg" ContentType="image/svg+xml"/>
  <Override PartName="/ppt/media/image211.svg" ContentType="image/svg+xml"/>
  <Override PartName="/ppt/media/image213.svg" ContentType="image/svg+xml"/>
  <Override PartName="/ppt/media/image215.svg" ContentType="image/svg+xml"/>
  <Override PartName="/ppt/media/image217.svg" ContentType="image/svg+xml"/>
  <Override PartName="/ppt/media/image219.svg" ContentType="image/svg+xml"/>
  <Override PartName="/ppt/media/image2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5.svg" ContentType="image/svg+xml"/>
  <Override PartName="/ppt/media/image69.svg" ContentType="image/svg+xml"/>
  <Override PartName="/ppt/media/image72.svg" ContentType="image/svg+xml"/>
  <Override PartName="/ppt/media/image74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2.svg" ContentType="image/svg+xml"/>
  <Override PartName="/ppt/media/image84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4.svg" ContentType="image/svg+xml"/>
  <Override PartName="/ppt/media/image9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280" r:id="rId5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85139CC-8629-429D-AF3D-B1C0E38B988B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0" Type="http://schemas.openxmlformats.org/officeDocument/2006/relationships/tableStyles" Target="tableStyles.xml"/><Relationship Id="rId6" Type="http://schemas.openxmlformats.org/officeDocument/2006/relationships/slide" Target="slides/slide2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大家好，欢迎参加本次汇报。今天我们将向大家介绍“面向专业认证的毕业要求达成度统一计算平台”第十四周的项目进展，并详细分享我们团队在项目开发过程中的开源协作流程和AI辅助开发实践。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三个部分。首先，我们会介绍系统的研发进度，包括本周的工作成果、新功能演示以及遇到的技术难点和解决方案。接着，我们将详细展示我们团队的GitHub开源协作流程，并分享AI辅助开发的实践经验。最后是问答环节，欢迎大家提问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现在，我们进入第一部分：系统研发进度。在这一章，我们将详细介绍过去一周我们团队所完成的核心任务、展示新上线的功能，并分享我们在解决技术难题过程中的经验。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在过去的一周，我们团队7位成员高效协作，完成了多项核心任务。这张表格清晰地展示了每位成员的具体工作内容，以及它们对应的Issue和PR。本周我们总共合并了11个PR，涉及超过20个功能分支，项目进展显著。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更直观地展示本周的进展，我们进行了量化统计。本周我们合并了11个PR，新增了超过20个功能分支，有7位成员参与了代码提交，前端新增代码约400行。这些数据充分体现了我们团队的开发活力和项目的快速迭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为大家演示第一个新功能：宏观看板的图表展示。我们使用ECharts为宏观看板增加了核心指标卡、趋势图、柱状图和环形图，极大地提升了数据的可读性和直观性，帮助管理者快速把握平台的整体运行状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新功能是个人达成度计算。我们现在可以按单个学生来计算和查看其达成度，并支持Excel导出。这为精细化教学评估提供了强大的数据支持。后端我们编写了新的服务和控制器，前端也开发了相应的页面，整个功能已经通过了完整的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周我们还进行了全面的前端UI优化。我们对超过13个页面的样式进行了统一调整，包括登录页、表格、按钮等，使整个平台的视觉风格更加一致和专业。我们遵循只修改样式不改动逻辑的原则，确保了优化过程的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功能演示是课程计算页面的可视化。我们为教师端引入了雷达图、柱状图和趋势图，帮助教师更直观地分析课程目标的达成情况。图表还能自动计算平均值、极值和弱项数量，为教学改进提供了直接的数据依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们遇到了一个难点：穿透式Excel无法导出。经过排查，我们发现是Axios请求的配置错误，`responseType`被放在了错误的位置。我们通过将所有配置项合并到一个对象中，成功解决了问题。这个经验提醒我们要深入理解所使用库的API规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一个难点是课程报表导出时的数据缺失问题。我们通过重构数据组装逻辑、新增专门的Excel导出器以及修正数据映射，彻底解决了这个问题。这次修复让我们认识到，将不同类型的修改分不同的PR提交，是一种更安全、更专业的做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在后端测试中，我们遇到了`@WebMvcTest`加载了不必要组件的问题。我们的解决方案是将配置类进行合理拆分，确保切片测试的纯净性。这个经验告诉我们，良好的配置结构对于编写高质量的自动化测试至关重要。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接下来，我们将进入第二部分，详细分享我们团队的开源协作流程。我们将以具体的案例，演示我们如何利用GitHub进行高效、规范的团队协作。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我们团队协作的核心是“一个Issue、一个分支、一个PR”模式。这个流程从创建Issue开始，经过分支开发、提交PR，最后到Code Review和合并，形成了一个完整的闭环。清晰的命名规范和PR描述规范是保证流程顺畅的关键。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协作的第一步是创建Issue。以这个“为专业负责人增加宏观看板”的需求为例，我们在Issue中详细描述了需求，并指派给了相关的开发同学。这确保了所有人对任务有统一、清晰的理解。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同学认领任务后，会首先从主分支拉取最新代码，然后创建一个新的功能分支。我们有严格的分支命名规范，比如这个任务的分支就是qjk_74。所有的开发工作都在这个独立的分支上进行，确保不会影响主分支的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开发完成后，开发者会发起一个Pull Request。在PR中，我们会清晰地说明这次提交做了什么，并且通过`closes #74`关联对应的Issue。然后，请求其他同事来审查我们的代码。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Code Review是我们流程中至关重要的一步。审查者会仔细检查代码，并可以针对具体代码行提出修改意见。开发者会根据意见进行修改并回复。这个互动过程确保了代码的质量和知识的共享。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当所有审查意见都解决后，审查者会批准这次PR。然后，由团队负责人执行合并操作。由于我们在PR描述中关联了Issue，合并完成后，对应的Issue也会被自动关闭，整个流程闭环。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我们以“增加个人达成度计算功能”这个任务为例，完整回顾了它的生命周期。从创建Issue到最终合并，整个过程清晰、透明，充分体现了我们协作流程的规范性和有效性。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周的协作数据显示，我们合并了11个PR，所有Issue都有对应的PR，这表明我们的流程执行得非常到位。同时，我们还实现了同一Issue的多人并行开发，以及功能与配置修复的分离提交，这些都是我们协作效率的体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我们团队也积极探索AI辅助开发。我们使用Codex、ChatGPT和Claude等工具来辅助代码编写、测试和文档工作，显著提升了开发效率。当然，我们也遵循严格的使用原则，确保AI生成的代码安全、可靠。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我们已经完成了本次的汇报，现在是问答环节。我们非常乐意回答其他小组的提问，与大家进行深入的交流和探讨。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为了方便交流，我们预设了几个可能会被问到的问题，涵盖了Code Review流程、多人协作、代码质量保证等关键技术点。我们相信这些问题的讨论能帮助大家更深入地理解我们的工作。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2" name="Google Shape;232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6" name="Google Shape;276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2" name="Google Shape;302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梳理我们团队关于企业微信通知系统的实现方案。本次分享主要围绕浙江师范大学校讯推平台的集成展开，旨在展示我们如何通过技术手段，实现高效、可靠的消息触达。我们将深入探讨系统架构、核心技术、通知场景以及可靠性设计等关键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六个部分。首先，我们会对系统的整体架构进行一个概览。接着，深入探讨核心技术的实现细节。然后，我们会详细介绍不同的通知类型及其调用链路。之后，将展示系统覆盖的所有通知场景。第五部分会重点讲解系统的可靠性设计和群发机制。最后，对整个方案进行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系统的整体架构。我们采用了双通道通知模式，即数据库的站内通知和企业微信的API推送相结合。这种设计的核心思路是解耦，确保即使微信推送失败，也不会影响请假、出差等核心业务的正常流转。所有的微信推送请求都会通过我们的中转服务，再调用校讯推平台的接口，最终发送到用户的企业微信客户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技术实现的细节。首先是配置管理，我们通过application.yml文件集中管理所有关键配置，如应用ID、密钥和接口地址。其次是Token管理，这是调用校讯推接口的凭证。我们实现了一套自动缓存和刷新机制，Token有效期为2小时，并会提前5分钟自动刷新，同时通过同步锁保证了线程安全，避免了并发请求时重复获取Token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消息发送方面，我们支持两种类型：纯文本消息和卡片消息。卡片消息支持跳转，体验更好。系统会根据是否能构建有效的跳转URL来自动选择发送哪种类型。同时，我们还设计了智能的按钮文字规则，比如标题包含“待审批”，按钮就会显示“去审批”，让通知更具场景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通知定义为三种类型：审批通知、系统通知和抄送通知。审批通知是最核心的，用于触发审批流程。系统通知主要用于系统级的广播或状态变更告知。抄送通知则用于信息同步，不要求接收者采取行动。这种分类有助于我们对不同场景的通知进行统一管理和差异化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完整的调用链路图。当用户在前端进行操作后，请求会到达Controller，然后进入相应的业务Service。在业务逻辑中，我们首先会写入站内通知到数据库，保证消息的可靠记录。接着，调用微信通知服务，根据业务场景构建URL和按钮文字，判断后选择发送卡片或文本消息，最终完成推送。整个流程清晰、解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看具体的通知场景。我们的系统主要覆盖了请假和出差两大核心流程。以请假为例，从提交申请到最终销假，每一步都会触发相应的通知。比如，学生提交请假后，系统会立即通知审批人；审批通过后，会通知院办和考勤老师。这些通知都以卡片形式发送，并带有明确的操作按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汇总了我们系统覆盖的核心通知场景。可以看到，无论是请假提交、审批驳回，还是调课审核、销假，我们都设计了对应的通知逻辑，并明确了通知对象和通知类型。例如，审批通过后，不仅要通知系统角色（院办），还要通知抄送人，确保信息同步无遗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系统的稳定性，我们设计了多层防护机制。从功能开关、用户验证，到Token获取和HTTP调用，每一步都有异常处理和日志记录，确保任何环节的失败都不会导致整个系统崩溃。在可靠性设计上，我们遵循“站内通知高可靠，微信推送尽力而为”的原则，确保主业务流程不受外部API调用的影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需要通知多个人的场景，比如通知院办所有成员，我们实现了按角色群发的机制。系统会先根据角色查询到所有用户，然后为每个人写入站内通知，最后收集用户ID，调用批量接口一次性发送微信通知。我们预设了院办、考勤老师等核心角色，覆盖了大部分群发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进行总结。我们的企业微信通知系统有四大核心亮点：双通道通知、灵活的消息策略、高可用设计以及对业务场景的全面覆盖。整个设计遵循了业务与通知解耦、外部调用尽力而为、以及配置化可扩展的原则，确保了系统的稳定性和易用性。我的分享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我的汇报到此结束，感谢大家的聆听。现在，我们非常欢迎大家提问。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1.jpe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svg"/><Relationship Id="rId8" Type="http://schemas.openxmlformats.org/officeDocument/2006/relationships/image" Target="../media/image28.png"/><Relationship Id="rId7" Type="http://schemas.openxmlformats.org/officeDocument/2006/relationships/image" Target="../media/image27.sv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0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41.svg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42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svg"/><Relationship Id="rId8" Type="http://schemas.openxmlformats.org/officeDocument/2006/relationships/image" Target="../media/image47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0.svg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66.png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6.svg"/><Relationship Id="rId4" Type="http://schemas.openxmlformats.org/officeDocument/2006/relationships/image" Target="../media/image63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7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svg"/><Relationship Id="rId8" Type="http://schemas.openxmlformats.org/officeDocument/2006/relationships/image" Target="../media/image73.png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48.svg"/><Relationship Id="rId4" Type="http://schemas.openxmlformats.org/officeDocument/2006/relationships/image" Target="../media/image70.png"/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75.jpe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79.svg"/><Relationship Id="rId4" Type="http://schemas.openxmlformats.org/officeDocument/2006/relationships/image" Target="../media/image78.png"/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5.png"/><Relationship Id="rId7" Type="http://schemas.openxmlformats.org/officeDocument/2006/relationships/image" Target="../media/image84.svg"/><Relationship Id="rId6" Type="http://schemas.openxmlformats.org/officeDocument/2006/relationships/image" Target="../media/image83.png"/><Relationship Id="rId5" Type="http://schemas.openxmlformats.org/officeDocument/2006/relationships/image" Target="../media/image82.svg"/><Relationship Id="rId4" Type="http://schemas.openxmlformats.org/officeDocument/2006/relationships/image" Target="../media/image81.png"/><Relationship Id="rId3" Type="http://schemas.openxmlformats.org/officeDocument/2006/relationships/image" Target="../media/image12.svg"/><Relationship Id="rId2" Type="http://schemas.openxmlformats.org/officeDocument/2006/relationships/image" Target="../media/image80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2.png"/><Relationship Id="rId7" Type="http://schemas.openxmlformats.org/officeDocument/2006/relationships/image" Target="../media/image91.svg"/><Relationship Id="rId6" Type="http://schemas.openxmlformats.org/officeDocument/2006/relationships/image" Target="../media/image90.png"/><Relationship Id="rId5" Type="http://schemas.openxmlformats.org/officeDocument/2006/relationships/image" Target="../media/image89.svg"/><Relationship Id="rId4" Type="http://schemas.openxmlformats.org/officeDocument/2006/relationships/image" Target="../media/image88.png"/><Relationship Id="rId3" Type="http://schemas.openxmlformats.org/officeDocument/2006/relationships/image" Target="../media/image87.svg"/><Relationship Id="rId2" Type="http://schemas.openxmlformats.org/officeDocument/2006/relationships/image" Target="../media/image86.pn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5.jpeg"/><Relationship Id="rId7" Type="http://schemas.openxmlformats.org/officeDocument/2006/relationships/image" Target="../media/image60.svg"/><Relationship Id="rId6" Type="http://schemas.openxmlformats.org/officeDocument/2006/relationships/image" Target="../media/image59.png"/><Relationship Id="rId5" Type="http://schemas.openxmlformats.org/officeDocument/2006/relationships/image" Target="../media/image94.svg"/><Relationship Id="rId4" Type="http://schemas.openxmlformats.org/officeDocument/2006/relationships/image" Target="../media/image93.png"/><Relationship Id="rId3" Type="http://schemas.openxmlformats.org/officeDocument/2006/relationships/image" Target="../media/image10.svg"/><Relationship Id="rId2" Type="http://schemas.openxmlformats.org/officeDocument/2006/relationships/image" Target="../media/image66.pn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66.png"/><Relationship Id="rId7" Type="http://schemas.openxmlformats.org/officeDocument/2006/relationships/image" Target="../media/image14.svg"/><Relationship Id="rId6" Type="http://schemas.openxmlformats.org/officeDocument/2006/relationships/image" Target="../media/image98.png"/><Relationship Id="rId5" Type="http://schemas.openxmlformats.org/officeDocument/2006/relationships/image" Target="../media/image97.svg"/><Relationship Id="rId4" Type="http://schemas.openxmlformats.org/officeDocument/2006/relationships/image" Target="../media/image96.png"/><Relationship Id="rId3" Type="http://schemas.openxmlformats.org/officeDocument/2006/relationships/image" Target="../media/image12.svg"/><Relationship Id="rId2" Type="http://schemas.openxmlformats.org/officeDocument/2006/relationships/image" Target="../media/image80.png"/><Relationship Id="rId13" Type="http://schemas.openxmlformats.org/officeDocument/2006/relationships/notesSlide" Target="../notesSlides/notesSlide2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6.svg"/><Relationship Id="rId10" Type="http://schemas.openxmlformats.org/officeDocument/2006/relationships/image" Target="../media/image55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6.svg"/><Relationship Id="rId7" Type="http://schemas.openxmlformats.org/officeDocument/2006/relationships/image" Target="../media/image63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101.jpeg"/><Relationship Id="rId3" Type="http://schemas.openxmlformats.org/officeDocument/2006/relationships/image" Target="../media/image100.jpeg"/><Relationship Id="rId2" Type="http://schemas.openxmlformats.org/officeDocument/2006/relationships/image" Target="../media/image99.jpeg"/><Relationship Id="rId16" Type="http://schemas.openxmlformats.org/officeDocument/2006/relationships/notesSlide" Target="../notesSlides/notesSlide2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05.svg"/><Relationship Id="rId13" Type="http://schemas.openxmlformats.org/officeDocument/2006/relationships/image" Target="../media/image104.png"/><Relationship Id="rId12" Type="http://schemas.openxmlformats.org/officeDocument/2006/relationships/image" Target="../media/image10.svg"/><Relationship Id="rId11" Type="http://schemas.openxmlformats.org/officeDocument/2006/relationships/image" Target="../media/image66.png"/><Relationship Id="rId10" Type="http://schemas.openxmlformats.org/officeDocument/2006/relationships/image" Target="../media/image103.sv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6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12.png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6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3.png"/><Relationship Id="rId1" Type="http://schemas.openxmlformats.org/officeDocument/2006/relationships/image" Target="../media/image106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19.png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image" Target="../media/image106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image" Target="../media/image120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25.png"/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image" Target="../media/image10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7.png"/><Relationship Id="rId1" Type="http://schemas.openxmlformats.org/officeDocument/2006/relationships/image" Target="../media/image126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image" Target="../media/image106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image" Target="../media/image106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image" Target="../media/image106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image" Target="../media/image106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tags" Target="../tags/tag2.xml"/><Relationship Id="rId3" Type="http://schemas.openxmlformats.org/officeDocument/2006/relationships/image" Target="../media/image136.png"/><Relationship Id="rId2" Type="http://schemas.openxmlformats.org/officeDocument/2006/relationships/tags" Target="../tags/tag1.xml"/><Relationship Id="rId17" Type="http://schemas.openxmlformats.org/officeDocument/2006/relationships/notesSlide" Target="../notesSlides/notesSlide36.xml"/><Relationship Id="rId16" Type="http://schemas.openxmlformats.org/officeDocument/2006/relationships/slideLayout" Target="../slideLayouts/slideLayout13.xml"/><Relationship Id="rId15" Type="http://schemas.openxmlformats.org/officeDocument/2006/relationships/image" Target="../media/image141.png"/><Relationship Id="rId14" Type="http://schemas.openxmlformats.org/officeDocument/2006/relationships/image" Target="../media/image140.png"/><Relationship Id="rId13" Type="http://schemas.openxmlformats.org/officeDocument/2006/relationships/tags" Target="../tags/tag8.xml"/><Relationship Id="rId12" Type="http://schemas.openxmlformats.org/officeDocument/2006/relationships/image" Target="../media/image139.png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106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2.png"/><Relationship Id="rId1" Type="http://schemas.openxmlformats.org/officeDocument/2006/relationships/image" Target="../media/image106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44.png"/><Relationship Id="rId21" Type="http://schemas.openxmlformats.org/officeDocument/2006/relationships/notesSlide" Target="../notesSlides/notesSlide38.xml"/><Relationship Id="rId20" Type="http://schemas.openxmlformats.org/officeDocument/2006/relationships/slideLayout" Target="../slideLayouts/slideLayout13.xml"/><Relationship Id="rId2" Type="http://schemas.openxmlformats.org/officeDocument/2006/relationships/image" Target="../media/image143.png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image" Target="../media/image106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47.png"/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image" Target="../media/image10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png"/><Relationship Id="rId8" Type="http://schemas.openxmlformats.org/officeDocument/2006/relationships/image" Target="../media/image155.svg"/><Relationship Id="rId7" Type="http://schemas.openxmlformats.org/officeDocument/2006/relationships/image" Target="../media/image154.png"/><Relationship Id="rId6" Type="http://schemas.openxmlformats.org/officeDocument/2006/relationships/image" Target="../media/image153.svg"/><Relationship Id="rId5" Type="http://schemas.openxmlformats.org/officeDocument/2006/relationships/image" Target="../media/image152.png"/><Relationship Id="rId4" Type="http://schemas.openxmlformats.org/officeDocument/2006/relationships/image" Target="../media/image151.svg"/><Relationship Id="rId3" Type="http://schemas.openxmlformats.org/officeDocument/2006/relationships/image" Target="../media/image150.png"/><Relationship Id="rId2" Type="http://schemas.openxmlformats.org/officeDocument/2006/relationships/image" Target="../media/image149.svg"/><Relationship Id="rId16" Type="http://schemas.openxmlformats.org/officeDocument/2006/relationships/notesSlide" Target="../notesSlides/notesSlide4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61.svg"/><Relationship Id="rId13" Type="http://schemas.openxmlformats.org/officeDocument/2006/relationships/image" Target="../media/image160.png"/><Relationship Id="rId12" Type="http://schemas.openxmlformats.org/officeDocument/2006/relationships/image" Target="../media/image159.svg"/><Relationship Id="rId11" Type="http://schemas.openxmlformats.org/officeDocument/2006/relationships/image" Target="../media/image158.png"/><Relationship Id="rId10" Type="http://schemas.openxmlformats.org/officeDocument/2006/relationships/image" Target="../media/image157.svg"/><Relationship Id="rId1" Type="http://schemas.openxmlformats.org/officeDocument/2006/relationships/image" Target="../media/image148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8.png"/><Relationship Id="rId8" Type="http://schemas.openxmlformats.org/officeDocument/2006/relationships/image" Target="../media/image167.svg"/><Relationship Id="rId7" Type="http://schemas.openxmlformats.org/officeDocument/2006/relationships/image" Target="../media/image166.png"/><Relationship Id="rId6" Type="http://schemas.openxmlformats.org/officeDocument/2006/relationships/image" Target="../media/image157.svg"/><Relationship Id="rId5" Type="http://schemas.openxmlformats.org/officeDocument/2006/relationships/image" Target="../media/image156.png"/><Relationship Id="rId4" Type="http://schemas.openxmlformats.org/officeDocument/2006/relationships/image" Target="../media/image165.svg"/><Relationship Id="rId3" Type="http://schemas.openxmlformats.org/officeDocument/2006/relationships/image" Target="../media/image164.png"/><Relationship Id="rId2" Type="http://schemas.openxmlformats.org/officeDocument/2006/relationships/image" Target="../media/image163.svg"/><Relationship Id="rId14" Type="http://schemas.openxmlformats.org/officeDocument/2006/relationships/notesSlide" Target="../notesSlides/notesSlide4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71.svg"/><Relationship Id="rId11" Type="http://schemas.openxmlformats.org/officeDocument/2006/relationships/image" Target="../media/image170.png"/><Relationship Id="rId10" Type="http://schemas.openxmlformats.org/officeDocument/2006/relationships/image" Target="../media/image169.svg"/><Relationship Id="rId1" Type="http://schemas.openxmlformats.org/officeDocument/2006/relationships/image" Target="../media/image16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77.svg"/><Relationship Id="rId5" Type="http://schemas.openxmlformats.org/officeDocument/2006/relationships/image" Target="../media/image176.png"/><Relationship Id="rId4" Type="http://schemas.openxmlformats.org/officeDocument/2006/relationships/image" Target="../media/image175.svg"/><Relationship Id="rId3" Type="http://schemas.openxmlformats.org/officeDocument/2006/relationships/image" Target="../media/image174.png"/><Relationship Id="rId2" Type="http://schemas.openxmlformats.org/officeDocument/2006/relationships/image" Target="../media/image173.svg"/><Relationship Id="rId1" Type="http://schemas.openxmlformats.org/officeDocument/2006/relationships/image" Target="../media/image17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81.svg"/><Relationship Id="rId5" Type="http://schemas.openxmlformats.org/officeDocument/2006/relationships/image" Target="../media/image180.png"/><Relationship Id="rId4" Type="http://schemas.openxmlformats.org/officeDocument/2006/relationships/image" Target="../media/image159.svg"/><Relationship Id="rId3" Type="http://schemas.openxmlformats.org/officeDocument/2006/relationships/image" Target="../media/image158.png"/><Relationship Id="rId2" Type="http://schemas.openxmlformats.org/officeDocument/2006/relationships/image" Target="../media/image179.svg"/><Relationship Id="rId1" Type="http://schemas.openxmlformats.org/officeDocument/2006/relationships/image" Target="../media/image178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8.png"/><Relationship Id="rId8" Type="http://schemas.openxmlformats.org/officeDocument/2006/relationships/image" Target="../media/image149.svg"/><Relationship Id="rId7" Type="http://schemas.openxmlformats.org/officeDocument/2006/relationships/image" Target="../media/image148.png"/><Relationship Id="rId6" Type="http://schemas.openxmlformats.org/officeDocument/2006/relationships/image" Target="../media/image187.svg"/><Relationship Id="rId5" Type="http://schemas.openxmlformats.org/officeDocument/2006/relationships/image" Target="../media/image186.png"/><Relationship Id="rId4" Type="http://schemas.openxmlformats.org/officeDocument/2006/relationships/image" Target="../media/image185.svg"/><Relationship Id="rId3" Type="http://schemas.openxmlformats.org/officeDocument/2006/relationships/image" Target="../media/image184.png"/><Relationship Id="rId2" Type="http://schemas.openxmlformats.org/officeDocument/2006/relationships/image" Target="../media/image183.svg"/><Relationship Id="rId16" Type="http://schemas.openxmlformats.org/officeDocument/2006/relationships/notesSlide" Target="../notesSlides/notesSlide46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93.svg"/><Relationship Id="rId13" Type="http://schemas.openxmlformats.org/officeDocument/2006/relationships/image" Target="../media/image192.png"/><Relationship Id="rId12" Type="http://schemas.openxmlformats.org/officeDocument/2006/relationships/image" Target="../media/image191.svg"/><Relationship Id="rId11" Type="http://schemas.openxmlformats.org/officeDocument/2006/relationships/image" Target="../media/image190.png"/><Relationship Id="rId10" Type="http://schemas.openxmlformats.org/officeDocument/2006/relationships/image" Target="../media/image189.svg"/><Relationship Id="rId1" Type="http://schemas.openxmlformats.org/officeDocument/2006/relationships/image" Target="../media/image182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97.svg"/><Relationship Id="rId3" Type="http://schemas.openxmlformats.org/officeDocument/2006/relationships/image" Target="../media/image196.png"/><Relationship Id="rId2" Type="http://schemas.openxmlformats.org/officeDocument/2006/relationships/image" Target="../media/image195.svg"/><Relationship Id="rId1" Type="http://schemas.openxmlformats.org/officeDocument/2006/relationships/image" Target="../media/image194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9.svg"/><Relationship Id="rId1" Type="http://schemas.openxmlformats.org/officeDocument/2006/relationships/image" Target="../media/image198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4.png"/><Relationship Id="rId8" Type="http://schemas.openxmlformats.org/officeDocument/2006/relationships/image" Target="../media/image203.svg"/><Relationship Id="rId7" Type="http://schemas.openxmlformats.org/officeDocument/2006/relationships/image" Target="../media/image202.png"/><Relationship Id="rId6" Type="http://schemas.openxmlformats.org/officeDocument/2006/relationships/image" Target="../media/image165.svg"/><Relationship Id="rId5" Type="http://schemas.openxmlformats.org/officeDocument/2006/relationships/image" Target="../media/image164.png"/><Relationship Id="rId4" Type="http://schemas.openxmlformats.org/officeDocument/2006/relationships/image" Target="../media/image201.svg"/><Relationship Id="rId3" Type="http://schemas.openxmlformats.org/officeDocument/2006/relationships/image" Target="../media/image200.png"/><Relationship Id="rId2" Type="http://schemas.openxmlformats.org/officeDocument/2006/relationships/image" Target="../media/image191.svg"/><Relationship Id="rId16" Type="http://schemas.openxmlformats.org/officeDocument/2006/relationships/notesSlide" Target="../notesSlides/notesSlide49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207.svg"/><Relationship Id="rId13" Type="http://schemas.openxmlformats.org/officeDocument/2006/relationships/image" Target="../media/image206.png"/><Relationship Id="rId12" Type="http://schemas.openxmlformats.org/officeDocument/2006/relationships/image" Target="../media/image205.svg"/><Relationship Id="rId11" Type="http://schemas.openxmlformats.org/officeDocument/2006/relationships/image" Target="../media/image204.png"/><Relationship Id="rId10" Type="http://schemas.openxmlformats.org/officeDocument/2006/relationships/image" Target="../media/image185.svg"/><Relationship Id="rId1" Type="http://schemas.openxmlformats.org/officeDocument/2006/relationships/image" Target="../media/image19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13.svg"/><Relationship Id="rId5" Type="http://schemas.openxmlformats.org/officeDocument/2006/relationships/image" Target="../media/image212.png"/><Relationship Id="rId4" Type="http://schemas.openxmlformats.org/officeDocument/2006/relationships/image" Target="../media/image211.svg"/><Relationship Id="rId3" Type="http://schemas.openxmlformats.org/officeDocument/2006/relationships/image" Target="../media/image210.png"/><Relationship Id="rId2" Type="http://schemas.openxmlformats.org/officeDocument/2006/relationships/image" Target="../media/image209.svg"/><Relationship Id="rId1" Type="http://schemas.openxmlformats.org/officeDocument/2006/relationships/image" Target="../media/image208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6.png"/><Relationship Id="rId8" Type="http://schemas.openxmlformats.org/officeDocument/2006/relationships/image" Target="../media/image219.svg"/><Relationship Id="rId7" Type="http://schemas.openxmlformats.org/officeDocument/2006/relationships/image" Target="../media/image218.png"/><Relationship Id="rId6" Type="http://schemas.openxmlformats.org/officeDocument/2006/relationships/image" Target="../media/image171.svg"/><Relationship Id="rId5" Type="http://schemas.openxmlformats.org/officeDocument/2006/relationships/image" Target="../media/image170.png"/><Relationship Id="rId4" Type="http://schemas.openxmlformats.org/officeDocument/2006/relationships/image" Target="../media/image217.svg"/><Relationship Id="rId3" Type="http://schemas.openxmlformats.org/officeDocument/2006/relationships/image" Target="../media/image216.png"/><Relationship Id="rId2" Type="http://schemas.openxmlformats.org/officeDocument/2006/relationships/image" Target="../media/image215.svg"/><Relationship Id="rId17" Type="http://schemas.openxmlformats.org/officeDocument/2006/relationships/notesSlide" Target="../notesSlides/notesSlide51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222.png"/><Relationship Id="rId14" Type="http://schemas.openxmlformats.org/officeDocument/2006/relationships/image" Target="../media/image163.svg"/><Relationship Id="rId13" Type="http://schemas.openxmlformats.org/officeDocument/2006/relationships/image" Target="../media/image162.png"/><Relationship Id="rId12" Type="http://schemas.openxmlformats.org/officeDocument/2006/relationships/image" Target="../media/image221.svg"/><Relationship Id="rId11" Type="http://schemas.openxmlformats.org/officeDocument/2006/relationships/image" Target="../media/image220.png"/><Relationship Id="rId10" Type="http://schemas.openxmlformats.org/officeDocument/2006/relationships/image" Target="../media/image187.svg"/><Relationship Id="rId1" Type="http://schemas.openxmlformats.org/officeDocument/2006/relationships/image" Target="../media/image21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0" y="2286000"/>
            <a:ext cx="5486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面向专业认证的毕业要求达成度统一计算平台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4381500"/>
            <a:ext cx="5486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第十</a:t>
            </a:r>
            <a:r>
              <a:rPr lang="zh-CN" alt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</a:t>
            </a: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周项目进展与开源协作汇报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0" y="5588000"/>
            <a:ext cx="54864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248400" y="56896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汇报时间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2026年6月10日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14074">
            <a:off x="7683500" y="59881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026400" y="56896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汇报小组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第一组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14074">
            <a:off x="9423400" y="59881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753600" y="5689600"/>
            <a:ext cx="171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刘辉艺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3B82F6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413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系统研发进度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2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回顾本周系统开发的量化进展，演示核心功能模块的实现效果，并深入剖析项目中遇到的关键技术难点及攻克方案。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413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70500" y="2413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开源协作实践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342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解析从Issue创建、PR提交到Code Review的完整协作流程，结合真实案例数据统计，分享团队在AI辅助开发工具上的落地应用经验。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413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90000" y="2413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开放交流与答疑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255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42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进入开放提问环节，针对系统研发细节、开源协作流程及技术选型进行深入探讨，解答团队成员的疑问并交流宝贵建议。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以技术为核心，以协作为纽带，通过系统化的研发与开放的交流机制，推动项目高质量迭代与团队共同成长。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3B82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系统研发进度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810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431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 Development Progress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533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回顾核心任务交付，聚焦新功能上线亮点，深度复盘技术攻坚过程中的关键突破与经验沉淀，为系统迭代夯实基础。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本周工作总览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651000"/>
          <a:ext cx="10668000" cy="3873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4572000"/>
                <a:gridCol w="2032000"/>
                <a:gridCol w="2159000"/>
              </a:tblGrid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成员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核心工作内容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关联 Issue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关联 PR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15000"/>
                      </a:srgbClr>
                    </a:solidFill>
                  </a:tcPr>
                </a:tc>
              </a:tr>
              <a:tr h="1079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qjkzzz3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负责宏观看板图表展示模块开发，完成个人达成度数据计算逻辑编写，并修复了报表导出功能的关键异常。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#50, #51, #74</a:t>
                      </a:r>
                      <a:br>
                        <a:rPr lang="en-US" sz="1300" b="0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300" b="0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#76, #78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#88, #89</a:t>
                      </a:r>
                      <a:br>
                        <a:rPr lang="en-US" sz="1300" b="0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1300" b="0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#91, #92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9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wusiyu545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主导全平台UI样式标准化优化，覆盖13+核心业务页面，统一视觉规范，提升用户交互体验一致性。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#80, #82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#90, #93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9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lwp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修复后端MVC环境测试配置错误，解决权限校验模块的临界值Bug，保障系统核心流程的稳定性。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#81, #83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#94, #95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702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55880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本周成果总结：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团队高效协作，本周共合并</a:t>
            </a: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个 PR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，成功上线与迭代了</a:t>
            </a: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20+ 个远程功能分支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，核心功能模块交付进度符合预期。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本周项目整体进展量化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222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159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549">
            <a:off x="1079509" y="3041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31750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本周合并PR数量，涵盖新功能开发、核心Bug修复及UI交互细节优化，代码质量符合规范。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2222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93000" y="2159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</a:t>
            </a:r>
            <a:r>
              <a:rPr lang="en-US" sz="2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549">
            <a:off x="6667509" y="3041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67500" y="31750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新增功能分支数量充足，体现团队高并发的开发活动，并行推进多个模块的迭代任务。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381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05000" y="4318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549">
            <a:off x="1079509" y="520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3340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核心开发团队全员参与代码提交，成员贡献度分布均衡，形成了良好的协作与知识分享氛围。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419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43815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93000" y="4318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400</a:t>
            </a:r>
            <a:r>
              <a:rPr lang="en-US" sz="2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549">
            <a:off x="6667509" y="520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67500" y="53340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前端新增核心业务代码约400行，后端同步完成了多模块文件的结构重构与功能新增开发。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 1：宏观看板图表展示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58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为宏观看板集成了多维度的数据可视化能力，将复杂的平台数据转化为直观的图表与指标，帮助管理者快速洞悉全局态势，辅助精准决策。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5588000" cy="25400"/>
          </a:xfrm>
          <a:prstGeom prst="roundRect">
            <a:avLst>
              <a:gd name="adj" fmla="val 0"/>
            </a:avLst>
          </a:prstGeom>
          <a:solidFill>
            <a:srgbClr val="3B82F6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2667000" cy="1397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3327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20800" y="3327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核心指标总览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3810000"/>
            <a:ext cx="2362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实时呈现课程总数、已锁定数及待计算数，关键数据一目了然，快速掌握大盘基数。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83000" y="3175000"/>
            <a:ext cx="2667000" cy="1397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5400" y="3327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241800" y="3327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趋势与状态对比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35400" y="3810000"/>
            <a:ext cx="2362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通过折线图追踪锁定进度变化，柱状图对比多课程状态差异，清晰展现发展脉络。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558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89000" y="5207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Vue 3 Composition API 开发，集成 ECharts 图表库，封装于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GlobalDashboard.vue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核心组件，实现高性能数据渲染与交互。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89889">
            <a:off x="4699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rcRect l="25558" r="25558"/>
          <a:stretch>
            <a:fillRect/>
          </a:stretch>
        </p:blipFill>
        <p:spPr>
          <a:xfrm>
            <a:off x="7112000" y="2032000"/>
            <a:ext cx="4445000" cy="3302000"/>
          </a:xfrm>
          <a:prstGeom prst="rect">
            <a:avLst/>
          </a:prstGeom>
          <a:noFill/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7112000" y="5588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宏观看板界面示意图，集成了多种图表类型，实现了从宏观数据到细节状态的全景式展示。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 2：个人达成度计算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25600"/>
            <a:ext cx="4826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核心功能：单生维度的精细化评估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新增按单个学生维度，完整实现达成度的自动计算、可视化查看与数据导出功能，将评估粒度从集体下沉至个人，为针对性教学干预提供精准依据。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111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0226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科学的计算逻辑模型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综合达成度 = 学生各关键指标点达成度的算术平均值，算法透明可追溯，确保评估结果客观公正。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171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4318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89000" y="4699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精准检索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支持按姓名或学号快速定位学生，高效获取数据。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565400" y="4191000"/>
            <a:ext cx="171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92400" y="4318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692400" y="4699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状态可视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清晰展示各项指标的达标状态，结果一目了然。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381500" y="4191000"/>
            <a:ext cx="171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8500" y="4318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508500" y="4699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多维导出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一键生成含“汇总+明细”双表的Excel文件。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651500"/>
            <a:ext cx="5334000" cy="825500"/>
          </a:xfrm>
          <a:prstGeom prst="roundRect">
            <a:avLst>
              <a:gd name="adj" fmla="val 0"/>
            </a:avLst>
          </a:prstGeom>
          <a:solidFill>
            <a:srgbClr val="1F293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89000" y="57404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技术栈实现：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后端基于 PersonalAchievementService 封装核心逻辑，通过 Controller 提供接口；前端采用 Vue 组件化开发，配合 ExcelExporter 实现高效数据导出。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90953">
            <a:off x="4064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rcRect l="5607" r="5607"/>
          <a:stretch>
            <a:fillRect/>
          </a:stretch>
        </p:blipFill>
        <p:spPr>
          <a:xfrm>
            <a:off x="6731000" y="1905000"/>
            <a:ext cx="4699000" cy="3048000"/>
          </a:xfrm>
          <a:prstGeom prst="rect">
            <a:avLst/>
          </a:prstGeom>
          <a:noFill/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6731000" y="5334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可视化成果界面展示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系统自动生成个人达成度结果表，清晰罗列各指标点的达成度数值与状态。用户可直接在界面查看达标详情，并随时导出数据用于存档或进一步分析。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 3：前端UI全面优化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4132" r="4132"/>
          <a:stretch>
            <a:fillRect/>
          </a:stretch>
        </p:blipFill>
        <p:spPr>
          <a:xfrm>
            <a:off x="762000" y="1651000"/>
            <a:ext cx="5080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优化后的课程体系管理页面，统一了表格行高、按钮圆角与色彩规范，角色标签层级分明，视觉一致性大幅提升。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708">
            <a:off x="3873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77000" y="16510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1841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7780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全域覆盖，统一视觉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对全平台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13+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核心业务页面进行UI重构，从用户登录入口到深层管理后台，建立标准化视觉语言。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477000" y="3175000"/>
            <a:ext cx="2387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04000" y="3276600"/>
            <a:ext cx="2133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关键界面重塑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重设计登录页提升品牌感，优化顶部导航栏，整合用户信息展示，强化界面层级。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042400" y="3175000"/>
            <a:ext cx="2387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169400" y="3276600"/>
            <a:ext cx="2133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交互组件规范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统一表格列宽与行高，按钮采用“编辑浅紫、删除粉红”的语义化配色，操作意图清晰。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7000" y="4445000"/>
            <a:ext cx="2387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4546600"/>
            <a:ext cx="2133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角色视觉区分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为不同权限角色配置专属标签色，实现身份可视化，让复杂的权限体系更易识别。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042400" y="4445000"/>
            <a:ext cx="2387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169400" y="4546600"/>
            <a:ext cx="2133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数据状态预警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表格合计值等于1.00显示绿色，异常值则红色加粗提示，帮助用户快速发现数据问题。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477000" y="5715000"/>
            <a:ext cx="4953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58928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5816600"/>
            <a:ext cx="4254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安全原则：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仅修改CSS与模板层，完全隔离业务逻辑代码，确保系统运行稳定无风险。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 4：课程计算页面可视化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核心功能升级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为教师端课程计算页面深度集成 ECharts 图表分析引擎，将枯燥的数字表格转化为直观的可视化图形，帮助教师快速洞察课程目标达成全貌。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1689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3302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889000" y="3810000"/>
            <a:ext cx="146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多维雷达图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全景展示知识、技能等各维度的达成度均衡情况，识别能力短板。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616200" y="3175000"/>
            <a:ext cx="1689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3200" y="3302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743200" y="3810000"/>
            <a:ext cx="146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对比柱状图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直观对比不同项目达成度，内置颜色预警机制，异常数据一目了然。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32300" y="3175000"/>
            <a:ext cx="16891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9300" y="3302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559300" y="3810000"/>
            <a:ext cx="146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变化趋势图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展示阶段性达成度变化曲线，叠加达标线与预警线，预判教学成效。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00" y="5334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270000" y="5334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智能数据洞察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自动计算均值与极值，精准统计低于达标线的弱项指标，为教学改进提供量化依据。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318000" y="5207000"/>
            <a:ext cx="1778000" cy="1143000"/>
          </a:xfrm>
          <a:prstGeom prst="roundRect">
            <a:avLst>
              <a:gd name="adj" fmla="val 0"/>
            </a:avLst>
          </a:prstGeom>
          <a:solidFill>
            <a:srgbClr val="3B82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445000" y="5397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新增核心代码量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~400</a:t>
            </a:r>
            <a:r>
              <a:rPr lang="en-US" sz="1300" b="0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</a:t>
            </a:r>
            <a:endParaRPr lang="en-US" sz="1300" b="0" i="0" u="none" strike="noStrike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5390708">
            <a:off x="4254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rcRect l="18185" r="18185"/>
          <a:stretch>
            <a:fillRect/>
          </a:stretch>
        </p:blipFill>
        <p:spPr>
          <a:xfrm>
            <a:off x="6858000" y="2032000"/>
            <a:ext cx="4572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6858000" y="5461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图表看板预览：集成趋势图与状态占比环形图，数据实时渲染，让教师无需专业数据分析能力，也能一眼掌握班级整体学习进度与质量。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难点攻克 1：穿透式Excel导出修复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415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问题现象：配置失效导致下载失败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03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在使用Axios请求后端接口获取Excel文件时，已配置 `responseType: 'blob'`，但实际响应并未返回二进制数据流，导致前端无法正常触发文件下载弹窗。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127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18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43180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根因分析：参数位置配置错误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1016008" y="488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5080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Axios的`get`请求方法仅接收两个参数：URL和配置对象。开发中错误地将`responseType`放在了第三个参数的独立对象中，导致该配置被库忽略，未生效。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86500" y="1651000"/>
            <a:ext cx="5270500" cy="2857500"/>
          </a:xfrm>
          <a:prstGeom prst="roundRect">
            <a:avLst>
              <a:gd name="adj" fmla="val 0"/>
            </a:avLst>
          </a:prstGeom>
          <a:solidFill>
            <a:srgbClr val="EFF6FF">
              <a:alpha val="8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1841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048500" y="18415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解决方案：合并配置至同一对象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167">
            <a:off x="6540508" y="240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540500" y="2667000"/>
            <a:ext cx="4762500" cy="15875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67500" y="2768600"/>
            <a:ext cx="450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正确写法：将params与responseType合并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axios.get(url, {</a:t>
            </a:r>
            <a:endParaRPr lang="en-US" sz="1300" b="0" i="0" u="none" strike="noStrike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params: queryParams,</a:t>
            </a:r>
            <a:r>
              <a:rPr lang="en-US" sz="1300" b="0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// 请求参数</a:t>
            </a:r>
            <a:endParaRPr lang="en-US" sz="1300" b="0" i="0" u="none" strike="noStrike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responseType: 'blob'</a:t>
            </a:r>
            <a:r>
              <a:rPr lang="en-US" sz="1300" b="0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// 响应类型配置</a:t>
            </a:r>
            <a:endParaRPr lang="en-US" sz="1300" b="0" i="0" u="none" strike="noStrike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lang="en-US" sz="1300" b="0" i="0" u="none" strike="noStrike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86500" y="4826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5016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048500" y="50165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经验总结：严守API规范细节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167">
            <a:off x="6540508" y="5518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540500" y="56515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Axios请求配置必须统一放置在第二个参数的配置对象中，这是容易忽略但至关重要的细节，直接决定了特殊响应类型的处理逻辑是否生效。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难点攻克 2：课程报表导出数据缺失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2032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2095500"/>
            <a:ext cx="463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问题核心现象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18">
            <a:off x="1079509" y="2660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8575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导出功能出现异常，生成的PDF文件存在关键内容缺失；同时Excel报表的数据结构混乱，核心指标点数据映射错误，严重影响业务数据的准确性。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BEB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79500" y="4508500"/>
            <a:ext cx="463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工程实践沉淀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418">
            <a:off x="1079509" y="5073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79500" y="5207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建议将功能修复代码与基础配置修改拆分，通过独立PR提交。这种方式能显著降低上线风险，便于后续问题的追溯定位和版本快速回滚。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9889">
            <a:off x="41275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540500" y="1905000"/>
            <a:ext cx="488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0" y="20955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66000" y="2032000"/>
            <a:ext cx="387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重构报表数据组装逻辑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梳理全链路数据流向，修复数据加载中的异步竞态问题，确保导出任务能完整拉取所有必要的课程和用户维度数据，从源头杜绝缺失。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540500" y="3429000"/>
            <a:ext cx="488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3619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66000" y="3556000"/>
            <a:ext cx="387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新增专用 Excel 导出器组件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开发独立的 `CourseExcelExporter` 模块，专门处理多工作表的生成与格式化，分离PDF与Excel的导出逻辑，提升代码可维护性。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540500" y="4953000"/>
            <a:ext cx="4889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51435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66000" y="5080000"/>
            <a:ext cx="387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修正指标点编号映射关系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核对并修正指标点ID到名称的映射字典，解决因配置错误导致的数据错乱，同时增加单元测试覆盖关键映射逻辑，防止问题复现。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难点攻克 3：后端MVC测试配置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57400"/>
            <a:ext cx="23622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问题现象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048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@WebMvcTest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进行切片测试时，Spring 容器错误加载了 MyBatis Mapper 等非必要数据访问组件，导致上下文初始化失败，进而引发自动化测试用例执行异常。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68900" y="2057400"/>
            <a:ext cx="23622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3048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MyBatis Mapper 的扫描配置独立封装到单独的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@Configuration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类中，在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@WebMvcTest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注解中通过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excludeFilters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精准排除该配置类，确保仅加载 Web 层核心组件。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1778000"/>
            <a:ext cx="33782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095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13800" y="2057400"/>
            <a:ext cx="23622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经验总结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3048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合理的配置类拆分是实现测试隔离的基石。保持配置类的单一职责，让切片测试按需加载最小依赖集，能显著提升测试的稳定性与执行效率。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588000"/>
            <a:ext cx="762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58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核心启示：在后端工程中，良好的配置结构不仅利于生产环境维护，更是编写高质量、可维护自动化测试的关键前提。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254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B82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开源协作详细过程分享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457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 Source Collaboration Process: From Idea to Repository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协作流程总览：一个Issue、一个分支、一个PR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我们遵循</a:t>
            </a: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一个Issue对应一个分支、一个PR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的核心规范，确保每个任务都有清晰的边界和完整的生命周期管理，从需求提出到代码合并形成闭环，提升协作效率与质量。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25400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2540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048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073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Issue分派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0221">
            <a:off x="952519" y="3676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873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在项目管理工具中创建需求或Bug单，明确任务目标与验收标准，并指派给对应的开发者，确立任务起点。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2794000"/>
            <a:ext cx="25400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492500" y="2794000"/>
            <a:ext cx="2540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3048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91000" y="3073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分支开发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20221">
            <a:off x="3683019" y="3676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683000" y="3873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从主分支 `main` 拉取新的功能分支进行开发，保持主干代码的稳定性，实现任务代码的隔离与独立演进。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2794000"/>
            <a:ext cx="25400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2794000"/>
            <a:ext cx="2540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3048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3073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提交PR申请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0221">
            <a:off x="6413519" y="3676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13500" y="3873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功能开发完成后，向主干分支发起合并请求（PR），清晰描述修改内容，邀请团队成员进行代码审查。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953500" y="2794000"/>
            <a:ext cx="25400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953500" y="2794000"/>
            <a:ext cx="2540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0" y="30480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652000" y="3073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审查与合并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20221">
            <a:off x="9144019" y="3676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144000" y="3873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团队成员检查代码质量、逻辑与规范，提出改进意见，达成一致且问题修复后，将分支合并入主干，完成任务闭环。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461000"/>
            <a:ext cx="69850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52500" y="55626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分支命名规范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格式为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成员缩写_Issue编号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，例如：qjk_51，便于快速定位归属。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" name="Connector 31"/>
          <p:cNvCxnSpPr/>
          <p:nvPr/>
        </p:nvCxnSpPr>
        <p:spPr>
          <a:xfrm rot="5347115">
            <a:off x="3841750" y="5994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4381500" y="55626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🔗 PR描述规范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closes #Issue编号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关联议题，合并后自动关闭对应Issue，保持追踪完整。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0"/>
          <a:srcRect t="2941" b="2941"/>
          <a:stretch>
            <a:fillRect/>
          </a:stretch>
        </p:blipFill>
        <p:spPr>
          <a:xfrm>
            <a:off x="8636000" y="5461000"/>
            <a:ext cx="1270000" cy="1079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4" name="AutoShape 34"/>
          <p:cNvSpPr/>
          <p:nvPr/>
        </p:nvSpPr>
        <p:spPr>
          <a:xfrm>
            <a:off x="10160000" y="5461000"/>
            <a:ext cx="177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依托GitHub Flow工作流，实现标准化、可视化的代码版本管理与协作。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步骤1：如何分派任务？(演示Issue)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588000" cy="1143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案例：Issue #74 “宏观看板 — 专业负责人也需要有”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针对团队协作中的信息不对称问题，通过创建结构化Issue，明确功能需求与责任人，确保任务目标清晰可执行。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36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327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创建Issue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9098">
            <a:off x="952518" y="380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937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在GitHub上发起议题，详细阐述需求的业务背景、核心功能要求以及潜在的注意事项，作为任务的源头。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83000" y="3175000"/>
            <a:ext cx="266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3500" y="336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318000" y="3327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填写描述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9098">
            <a:off x="3873518" y="380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873500" y="3937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用清晰、简洁的语言明确“做什么”和“怎么做”，避免歧义，让开发者快速理解任务的核心目标与执行路径。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266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207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51689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分类打标签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9098">
            <a:off x="952518" y="56451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952500" y="571500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添加如 `feature`、`UI`、`bug` 等标签，便于任务分类管理与后续检索统计。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83000" y="5080000"/>
            <a:ext cx="266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73500" y="5207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318000" y="51689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指派责任人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9098">
            <a:off x="3873518" y="56451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3873500" y="5715000"/>
            <a:ext cx="228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`Assignees` 功能或 `@` 提及，将任务落实到具体开发人员，确保权责分明。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/>
          <a:srcRect t="3464" b="3464"/>
          <a:stretch>
            <a:fillRect/>
          </a:stretch>
        </p:blipFill>
        <p:spPr>
          <a:xfrm>
            <a:off x="7112000" y="2032000"/>
            <a:ext cx="4318000" cy="3302000"/>
          </a:xfrm>
          <a:prstGeom prst="rect">
            <a:avLst/>
          </a:prstGeom>
          <a:noFill/>
          <a:ln w="25400" cap="flat" cmpd="sng">
            <a:solidFill>
              <a:srgbClr val="3B82F6">
                <a:alpha val="4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8" name="AutoShape 28"/>
          <p:cNvSpPr/>
          <p:nvPr/>
        </p:nvSpPr>
        <p:spPr>
          <a:xfrm>
            <a:off x="7112000" y="5588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 Issues 是团队协作的核心枢纽，通过结构化的任务描述与可视化的看板管理，让每一个需求都有迹可循。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步骤2：如何开始写代码？(演示Branch)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案例实践：基于项目 Issue #74，创建并使用功能分支</a:t>
            </a: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qjk_74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进行开发，保障主干稳定性。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15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667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921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95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拉取最新主干代码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348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683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切换到本地 main 分支，执行 pull 操作，确保本地代码与远程仓库保持一致，避免后续冲突。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79500" y="4927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  <a:t>git checkout main</a:t>
            </a:r>
            <a:br>
              <a:rPr lang="en-US" sz="12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  <a:t>git pull origin main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81500" y="2667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381500" y="266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921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016500" y="2895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创建规范功能分支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4572013" y="348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572000" y="3683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遵循统一命名规范「成员缩写_Issue编号」创建新分支，确保分支语义清晰，便于追溯管理。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720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699000" y="4927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  <a:t># 创建并切换到新分支</a:t>
            </a:r>
            <a:br>
              <a:rPr lang="en-US" sz="12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  <a:t>git checkout -b qjk_74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01000" y="2667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001000" y="2667000"/>
            <a:ext cx="3429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921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636000" y="2895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开发完成推送远程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323">
            <a:off x="8191513" y="348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191500" y="3683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在独立分支完成功能开发，提交时注明清晰的信息，最后将分支推送到远程仓库，准备进行代码审查。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91500" y="4826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318500" y="49276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  <a:t>git add . &amp;&amp; git commit -m "feat: add dashboard"</a:t>
            </a:r>
            <a:br>
              <a:rPr lang="en-US" sz="12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  <a:t>git push -u origin qjk_74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步骤3：如何提交申请？(演示PR)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588000" cy="1143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778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参考案例：PR #88 (关联 Issue #74)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以实际需求为例，展示从功能开发完成到发起代码审查的完整闭环，确保每一次提交都有迹可循、责任明确。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302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2766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发起 Pull Request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GitHub 仓库的 Compare 页面，确认分支差异无误后，点击“Compare &amp; pull request”按钮，正式发起合并请求。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44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572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5466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规范填写 PR 信息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标题简明扼要并关联 Issue；描述中详述修改内容、涉及文件及验证方式，并务必添加关键字 `closes #74` 以自动关闭对应议题。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778500"/>
            <a:ext cx="55880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" y="5892800"/>
            <a:ext cx="228600" cy="228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70000" y="58674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最后在“Reviewers”中邀请团队负责人或核心成员进行代码审查。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0" y="5778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 PR 提交界面示意：清晰的信息结构有助于评审者快速理解代码变更的背景与意图。</a:t>
            </a:r>
            <a:endParaRPr lang="en-US" sz="11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6855" y="1143000"/>
            <a:ext cx="5114290" cy="43326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步骤4：组员如何审查？(演示Code Review)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核心原则：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 Review 是保证代码质量、统一团队规范、以及知识共享的关键环节，通过双向互动确保代码的健壮性。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984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28956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查看代码改动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Pull Request 的 “Files changed” 标签页，逐行查看代码差异，确认逻辑正确性、规范一致性以及潜在的性能或安全问题。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254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1656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精准反馈与讨论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针对具体代码行直接留言，指出疑问或改进建议。例如：“@qjkzzz3 你好，这里指标点编号的映射逻辑似乎有问题，请确认一下。”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524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4356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迭代修改与闭环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开发者在本地分支修改后 Push，PR 自动更新，随后回复评论：“@iconle 感谢指出！已修复此问题，请再次审查。” 直至所有问题 resolve。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90708">
            <a:off x="4381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985000" y="5461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图示：GitHub 代码审查界面，展示了代码变更对比与实时评论互动，这是高效 Code Review 的典型场景。</a:t>
            </a:r>
            <a:endParaRPr lang="en-US" sz="11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700" y="1852295"/>
            <a:ext cx="5375910" cy="25723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步骤4：如何达成一致并合并？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304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796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审查者批准 (Approve)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当所有代码审查意见都得到妥善处理和回复后，指定的审查者确认无误，点击“Approve”按钮，标志着代码质量符合团队标准。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2385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909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3401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组长合并 (Merge)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团队负责人或项目维护者确认自动化检查（CI/CD）和人工审查均已通过后，执行“Merge pull request”操作，将代码合并入目标分支。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514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8006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自动关闭 Issue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由于PR描述中包含了关键字 `closes #74`，代码合并完成后，GitHub 会自动检测并关闭关联的 Issue #74，形成完整的任务闭环。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t="6438" b="6438"/>
          <a:stretch>
            <a:fillRect/>
          </a:stretch>
        </p:blipFill>
        <p:spPr>
          <a:xfrm>
            <a:off x="6858000" y="2032000"/>
            <a:ext cx="4572000" cy="3048000"/>
          </a:xfrm>
          <a:prstGeom prst="rect">
            <a:avLst/>
          </a:prstGeom>
          <a:noFill/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858000" y="5397500"/>
            <a:ext cx="4572000" cy="952500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985000" y="5461000"/>
            <a:ext cx="431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任务闭环标志：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从提出Issue，到代码开发、审查、合并，最后自动关闭Issue，这一系列自动化的流程不仅规范了开发行为，更确保了每一个任务都有据可查、有始有终。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协作流程完整案例回顾：Issue #51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核心任务：为系统增加个人达成度计算功能，通过标准化流程实现从需求到上线的闭环管理。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095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Day 1：任务发起与指派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 Issue #51 并详细描述个人达成度计算的业务逻辑与验收标准，正式将任务指派给开发人员 qjkzzz3，确立项目责任人。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492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Day 2：分支创建与开发启动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qjkzzz3 基于规范创建功能分支 qjk_51，从 main 分支拉取最新代码，严格遵循分支管理策略，正式启动后端核心逻辑的开发工作。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889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Day 3：功能开发完成与PR提交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完成个人达成度计算的算法编写与单元测试，确保核心逻辑无误后，提交 Pull Request #92，请求团队进行代码评审与合并。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203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2095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Day 4：代码评审与反馈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资深工程师 iconle 负责 PR #92 的 Code Review，重点检查代码规范性与逻辑严谨性，提出2处关于异常处理与性能优化的关键修改意见。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3429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342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3492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Day 5：代码迭代与更新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qjkzzz3 针对评审意见逐一优化代码，修复潜在边界问题，并更新 PR 描述与提交记录，确保修改点清晰可追溯，再次进入评审队列。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23000" y="482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482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4889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Day 6：批准合并与闭环收尾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iconle 确认修改符合预期并 Approve，qjkzzz3 将代码 Merge 至 main 分支，Issue #51 自动触发关闭流程，标志着该功能完整上线。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本周协作数据统计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8415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857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合并PR数：实现了高效的版本迭代与功能交付，代码审查流程顺畅。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05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18415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20+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78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857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远程功能分支数：反映了团队高并发的开发活动，并行任务推进有序。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64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905000" y="40005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016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参与开发成员：核心与协作成员紧密配合，充分发挥了团队协作的规模优势。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810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0640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66000" y="40005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477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5016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Issue关联PR覆盖率：确保每个任务都有对应的代码变更记录，流程规范无遗漏。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905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6032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460500" y="5994400"/>
            <a:ext cx="977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协作亮点：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支持同一Issue多人并行开发，提升效率；严格执行功能修复与配置修复分PR提交，保障代码库整洁。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AI辅助开发实践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我们积极拥抱AI技术，通过整合多款前沿工具赋能研发全流程，在代码编写、测试验证与文档管理中实现效率的跨越式提升。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202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413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12499" r="12499"/>
          <a:stretch>
            <a:fillRect/>
          </a:stretch>
        </p:blipFill>
        <p:spPr>
          <a:xfrm>
            <a:off x="952500" y="2603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159000" y="26035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Codex (OpenAI)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覆盖代码分析、实现、测试及Git操作，自动整理项目文档，夯实研发基础。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14323">
            <a:off x="9525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937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优势：精准理解上下文，生成代码符合工程规范，大幅降低基础编码耗时。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2413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 l="21874" r="21875"/>
          <a:stretch>
            <a:fillRect/>
          </a:stretch>
        </p:blipFill>
        <p:spPr>
          <a:xfrm>
            <a:off x="4635500" y="2603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5842000" y="26035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ChatGPT (GPT-5.5)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聚焦前端体验，提供页面美化方案、样式优化建议与交互逻辑的代码示例。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6355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937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优势：自然语言交互流畅，能快速将产品需求转化为可执行的前端代码片段。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2413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 l="39232" r="39232"/>
          <a:stretch>
            <a:fillRect/>
          </a:stretch>
        </p:blipFill>
        <p:spPr>
          <a:xfrm>
            <a:off x="8318500" y="2603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9525000" y="26035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Claude Code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深耕复杂逻辑与数据可视化，高效实现ECharts图表配置及业务核心算法。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14323">
            <a:off x="83185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18500" y="3937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优势：处理长文本与复杂代码逻辑能力突出，在可视化场景下表现尤为优异。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080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核心使用原则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5208">
            <a:off x="3048005" y="5264150"/>
            <a:ext cx="838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62000" y="5651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7785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206500" y="571500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先理解再使用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拒绝盲目复制，确保理解AI生成代码的逻辑与风险。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2997200" y="5651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24200" y="57785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3441700" y="571500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优先复用代码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优先参考现有成熟代码库，保持项目风格统一。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232400" y="5651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59400" y="5778500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5676900" y="571500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独立分支验证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在隔离分支中运行测试，避免影响主干代码稳定性。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7467600" y="5651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94600" y="5778500"/>
            <a:ext cx="254000" cy="254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912100" y="571500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提交前强校验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人工复审逻辑漏洞与安全风险，严禁未审即合入。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702800" y="5651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29800" y="5778500"/>
            <a:ext cx="254000" cy="254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10147300" y="571500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保护敏感配置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绝不提交AI生成的本地密钥、路径等隐私配置文件。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3B82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组间交流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810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431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Session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我们非常乐意回答各小组的提问，与大家进行深入的观点碰撞和经验探讨，共同探索更多可能性。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预备Q&amp;A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0800" cy="1460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1778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Q1: 你们的Code Review流程是怎样的？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采用异步审查机制，审查者进行逐行评论，开发者根据建议修改后回复，审查通过后由项目负责人统一批准并合并代码，确保代码质量可控。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50800" cy="1460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429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Q2: 多人如何协作同一个Issue？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支持创建多个功能分支，团队成员可并行开发同一个Issue的不同子模块，完成后分别发起PR进行独立审查，最后再整合到主分支，提升协作效率。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50800" cy="1460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5080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Q3: 如何保证代码复用和一致性？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通过推行组件化开发模式、维护统一的UI组件库，并在Code Review中严格执行代码规范，确保项目整体风格和逻辑实现的一致性与可复用性。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0800" cy="1460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13500" y="1778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Q4: UI优化的原则是什么？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坚持“只动表现层”的原则，仅修改CSS样式和页面模板文件，绝不触碰核心业务逻辑代码，从而最大程度降低优化过程中的风险，确保系统稳定运行。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3302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3302000"/>
            <a:ext cx="50800" cy="1460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13500" y="3429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Q5: 如何保证AI生成代码的质量？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遵循“先理解再使用”的原则，将AI代码在独立分支中进行充分的功能与逻辑验证，提交合并前必须经过严格的人工审查，确保符合业务需求和编码规范。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23000" y="4953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4953000"/>
            <a:ext cx="50800" cy="1460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13500" y="5080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Q6: 自动化测试覆盖率如何？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目前核心业务逻辑已实现100%的单元测试覆盖，能够有效拦截基础逻辑错误。后续将持续推进集成测试与E2E测试的覆盖范围，完善全链路质量保障体系。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16128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CAS 单点登录（SSO）认证实现详解</a:t>
            </a:r>
            <a:endParaRPr lang="en-US" sz="3600" b="1" i="0" u="none" strike="noStrike" cap="none">
              <a:solidFill>
                <a:srgbClr val="1E3A8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875915"/>
            <a:ext cx="11076940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基于体育学院请销假系统的实践案例</a:t>
            </a:r>
            <a:endParaRPr lang="en-US" sz="15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208014"/>
            <a:ext cx="3530649" cy="254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30749" y="2208014"/>
            <a:ext cx="3530649" cy="254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89999" y="2208014"/>
            <a:ext cx="3530649" cy="254674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933896" y="4897635"/>
            <a:ext cx="10324058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24396" y="5040510"/>
            <a:ext cx="994305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1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讲解备注：</a:t>
            </a:r>
            <a:r>
              <a:rPr lang="en-US" sz="1050" b="0" i="1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简单来说，学校有很多系统（教务、请销假等）。每个系统独立做登录安全性差且开发烦琐，CAS 就像是在中间加一个“认证中心”，所有系统都绝对信任它。 </a:t>
            </a:r>
            <a:endParaRPr lang="en-US" sz="1050" b="0" i="1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933896" y="4897635"/>
            <a:ext cx="381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2998589"/>
            <a:ext cx="1200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核心协议定义</a:t>
            </a:r>
            <a:endParaRPr lang="en-US" sz="15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3370064"/>
            <a:ext cx="30543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 (Central Authentication Service)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是一种通用的工业级单点登录协议，核心思想是“一次登录，处处通行”。最初由耶鲁大学发起，现为 Apereo 基金会项目。</a:t>
            </a:r>
            <a:endParaRPr lang="en-US" sz="12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568874" y="2998589"/>
            <a:ext cx="1400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解决的业务痛点</a:t>
            </a:r>
            <a:endParaRPr lang="en-US" sz="15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568874" y="3370064"/>
            <a:ext cx="30543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彻底解决多套应用系统需要各自维护独立账户体系的弊端。保障用户只需记忆一套核心凭证，无需反复输入，实现账户的安全收口与集约化管理。</a:t>
            </a:r>
            <a:endParaRPr lang="en-US" sz="12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328124" y="2998589"/>
            <a:ext cx="1200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统一认证入口</a:t>
            </a:r>
            <a:endParaRPr lang="en-US" sz="15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8328124" y="3370064"/>
            <a:ext cx="30543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将应用系统本身的认证逻辑上浮，依托统一的企业级认证中心。不仅提升了各业务系统的独立敏捷开发效率，也极大地简化了系统安全审计。</a:t>
            </a:r>
            <a:endParaRPr lang="en-US" sz="12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09625" y="2522339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568874" y="2522339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328124" y="2522339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CAS 是什么？为什么需要它？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81050" y="1468120"/>
            <a:ext cx="8331200" cy="73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集成目标平台：</a:t>
            </a: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全面对接</a:t>
            </a:r>
            <a:r>
              <a:rPr lang="en-US" sz="1600" b="1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浙江师范大学统一身份认证平台</a:t>
            </a: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，统一账户鉴权体系</a:t>
            </a:r>
            <a:r>
              <a:rPr lang="en-US" sz="1125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25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781050" y="1971675"/>
            <a:ext cx="647128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 服务根地址：</a:t>
            </a: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https://authserver.zjnu.edu.cn/authserver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81050" y="2695575"/>
            <a:ext cx="512445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分离部署架构：</a:t>
            </a:r>
            <a:endParaRPr lang="en-US" sz="1600" b="0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81050" y="3949700"/>
            <a:ext cx="5124450" cy="56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双轨认证设计：</a:t>
            </a:r>
            <a:endParaRPr lang="en-US" sz="2000" b="0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19125" y="19716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19125" y="233362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19125" y="26955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781050" y="3155950"/>
            <a:ext cx="5124450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前端采用 Vue 3 + Element Plus，后端使用 Spring Boot 2.7 + MyBatis，前后端完全分离部署。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19125" y="3531691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81050" y="4713605"/>
            <a:ext cx="5569585" cy="150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</a:t>
            </a:r>
            <a:r>
              <a:rPr lang="en-US" sz="1600" b="1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教师账户：</a:t>
            </a:r>
            <a:r>
              <a:rPr lang="en-US" sz="1600" b="0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一律强制通过 CAS 统一进行安全登录</a:t>
            </a:r>
            <a:br>
              <a:rPr lang="en-US" sz="1600" b="0" i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✅ </a:t>
            </a:r>
            <a:r>
              <a:rPr lang="en-US" sz="1600" b="1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系统管理员：</a:t>
            </a:r>
            <a:r>
              <a:rPr lang="en-US" sz="1600" b="0" i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留有备用密码通道，保障极端环境下的紧急控制</a:t>
            </a:r>
            <a:endParaRPr lang="en-US" sz="1600" b="0" i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本项目的认证需求与对接目标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962150"/>
            <a:ext cx="11049000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2356842" y="5143500"/>
            <a:ext cx="7478166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2547342" y="5286375"/>
            <a:ext cx="709716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1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讲解备注：</a:t>
            </a:r>
            <a:r>
              <a:rPr lang="en-US" sz="1050" b="0" i="1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理解这五个基本概念是理解整个流程的基础。Ticket（服务票据）是鉴权运转的关键，用完即废，不可复用。 </a:t>
            </a:r>
            <a:endParaRPr lang="en-US" sz="1050" b="0" i="1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356842" y="5143500"/>
            <a:ext cx="381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81025" y="1971675"/>
            <a:ext cx="11029950" cy="30194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41" name="Google Shape;141;p16"/>
          <p:cNvGraphicFramePr/>
          <p:nvPr/>
        </p:nvGraphicFramePr>
        <p:xfrm>
          <a:off x="581025" y="1971675"/>
          <a:ext cx="11029950" cy="3019375"/>
        </p:xfrm>
        <a:graphic>
          <a:graphicData uri="http://schemas.openxmlformats.org/drawingml/2006/table">
            <a:tbl>
              <a:tblPr firstRow="1" bandRow="1">
                <a:noFill/>
                <a:tableStyleId>{D85139CC-8629-429D-AF3D-B1C0E38B988B}</a:tableStyleId>
              </a:tblPr>
              <a:tblGrid>
                <a:gridCol w="2205925"/>
                <a:gridCol w="8824025"/>
              </a:tblGrid>
              <a:tr h="50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概念名词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名词释义与技术职能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CAS Server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认证中心服务器，专门负责全局用户身份验证，如学校统一身份认证大厅。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CAS Client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具体的接入端应用程序，在本案例中即指“体育学院请销假系统”。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Service URL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应用的回调地址，例如：http://localhost:3000/cas/callback，用于接收认证返回的票据。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Service Ticket (ST)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CAS 颁发的</a:t>
                      </a: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单次性验证票据</a:t>
                      </a: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。时效极短，验证一次后在 CAS 服务端永久作废失效。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</a:tr>
              <a:tr h="503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Assertion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断言。后端使用 ST 票据向服务器通信验证后，由服务器回馈的包含用户工号、姓名等要素的断言。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16"/>
          <p:cNvSpPr/>
          <p:nvPr/>
        </p:nvSpPr>
        <p:spPr>
          <a:xfrm>
            <a:off x="581025" y="2462212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2786955" y="2462212"/>
            <a:ext cx="8824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81025" y="2967037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786955" y="2967037"/>
            <a:ext cx="8824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81025" y="3471862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2786955" y="3471862"/>
            <a:ext cx="8824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81025" y="3976687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786955" y="3976687"/>
            <a:ext cx="8824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81025" y="4481512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2786955" y="4481512"/>
            <a:ext cx="88240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CAS 协议中的核心概念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529929"/>
            <a:ext cx="5037236" cy="72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88013" y="2529929"/>
            <a:ext cx="5037236" cy="72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6750" y="3836640"/>
            <a:ext cx="5036343" cy="72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489055" y="3836640"/>
            <a:ext cx="5036343" cy="72568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4800451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*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设计本质：</a:t>
            </a:r>
            <a:r>
              <a:rPr lang="en-US" sz="105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 在登录初段作为第三方凭证来源，确认身份后，系统内部则彻底转换为高内聚的自签发 JWT 验证链路。</a:t>
            </a:r>
            <a:endParaRPr lang="en-US" sz="105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66750" y="344611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④-⑤ 安全校票及断言</a:t>
            </a:r>
            <a:endParaRPr lang="en-US" sz="1200" b="0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700839" y="2682329"/>
            <a:ext cx="496905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用户浏览器</a:t>
            </a:r>
            <a:endParaRPr lang="en-US" sz="1125" b="1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19150" y="2920454"/>
            <a:ext cx="4732436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发起登录动作 / 取得 ST 票据并最终保存 JWT 维持会话状态</a:t>
            </a:r>
            <a:endParaRPr lang="en-US" sz="9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7" name="Google Shape;167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029176" y="2735609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5818286" y="2907059"/>
            <a:ext cx="55542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① 跳转认证</a:t>
            </a:r>
            <a:endParaRPr lang="en-US" sz="825" b="0" i="0" u="none" strike="noStrike" cap="none">
              <a:solidFill>
                <a:srgbClr val="64748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522102" y="2682329"/>
            <a:ext cx="496905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CAS Server (校认证大厅)</a:t>
            </a:r>
            <a:endParaRPr lang="en-US" sz="1125" b="1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640413" y="2920454"/>
            <a:ext cx="4732436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负责账号密码物理身份验证。通过后产生一次性 ST 并回调</a:t>
            </a:r>
            <a:endParaRPr lang="en-US" sz="9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5283100" y="3465165"/>
            <a:ext cx="118616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700861" y="3989040"/>
            <a:ext cx="496812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本地前端 (Vue 3 APP)</a:t>
            </a:r>
            <a:endParaRPr lang="en-US" sz="1125" b="1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819150" y="4227165"/>
            <a:ext cx="4731543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抓取回调路由中的 Ticket 属性，并作为参数传送给本地后端</a:t>
            </a:r>
            <a:endParaRPr lang="en-US" sz="9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4" name="Google Shape;174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029325" y="4042320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5817393" y="4213770"/>
            <a:ext cx="55736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⑥ 签发 JWT</a:t>
            </a:r>
            <a:endParaRPr lang="en-US" sz="825" b="0" i="0" u="none" strike="noStrike" cap="none">
              <a:solidFill>
                <a:srgbClr val="64748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6523166" y="3989040"/>
            <a:ext cx="496812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本地后端 (Spring Boot API)</a:t>
            </a:r>
            <a:endParaRPr lang="en-US" sz="1125" b="1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6641455" y="4227165"/>
            <a:ext cx="4731543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调用校验证服务安全解析 ST 并签发专属的 JWT Token 供会话持久化</a:t>
            </a:r>
            <a:endParaRPr lang="en-US" sz="9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CAS 单点登录完整流程架构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64897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65530" y="2257425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297805" y="1679575"/>
            <a:ext cx="5600700" cy="805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1. 触发前端跳转逻辑</a:t>
            </a:r>
            <a:endParaRPr lang="en-US" sz="20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5298440" y="2106930"/>
            <a:ext cx="5673090" cy="72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当用户在入口选择页点击“统一身份认证登录”，前端程序执行高优先级的整页跳转：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5637530" y="4803140"/>
            <a:ext cx="5334000" cy="959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注意要点：</a:t>
            </a:r>
            <a:r>
              <a:rPr lang="en-US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service 参数声明的回调目标地址必须在学校 CAS 白名单中注册过，否则会被服务端直接拦截抛错。</a:t>
            </a:r>
            <a:endParaRPr lang="en-US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9" name="Google Shape;189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75055" y="2266950"/>
            <a:ext cx="30289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65405" y="571500"/>
            <a:ext cx="11451431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第一步：重定向至 CAS 官方认证</a:t>
            </a:r>
            <a:endParaRPr lang="en-US" sz="28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-7747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1285875" y="1854835"/>
            <a:ext cx="10048875" cy="3192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统一接管的输入认证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用户被重定向到 ZJNU 统一认证域名页面，在此过程中请销假系统的服务器与前端对此账号密码全无感知，完美隔离核心凭证。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1285875" y="2929255"/>
            <a:ext cx="10048875" cy="283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产生 Service Ticket (ST)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用户输入确准后，CAS 系统在服务器内存中临时寄存一道与该用户绑定的单次口令凭证 ST，并立刻组装到重定向服务地址中。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1285875" y="4109085"/>
            <a:ext cx="10048875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发起回调重定向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浏览器执行 302 重定向重回请销假前端路由，形式如：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http://localhost:3000/cas/callback?ticket=ST-1-abc123xyz-xxx</a:t>
            </a:r>
            <a:endParaRPr lang="en-US" sz="1800" b="0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0" name="Google Shape;200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2044680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57250" y="2774751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57250" y="4157602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第二步：用户身份校验与票据回调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70" y="1391920"/>
            <a:ext cx="4600575" cy="3308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445" y="1566545"/>
            <a:ext cx="6433820" cy="30759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755775"/>
            <a:ext cx="5334000" cy="46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1756410"/>
            <a:ext cx="5524500" cy="454469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847725" y="1756410"/>
            <a:ext cx="5020310" cy="466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客户端处理：cas-callback.vue</a:t>
            </a:r>
            <a:endParaRPr lang="en-US" sz="20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847725" y="2121535"/>
            <a:ext cx="4781550" cy="105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该页面挂载后作为过渡路由。它立刻嗅探 URL Parameters，拿到 ticket 参数并将其回传后端，确保回调无卡顿：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62725" y="2042160"/>
            <a:ext cx="5020310" cy="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安全红线：为什么前端不直接验证？</a:t>
            </a:r>
            <a:endParaRPr lang="en-US" sz="20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562725" y="2635299"/>
            <a:ext cx="4781550" cy="1329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防止客户端篡改：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Ticket 的安全校验属于服务器信任级操作，前端容易遭到截获、伪造及重放攻击。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562725" y="4057015"/>
            <a:ext cx="4781550" cy="188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跨源鉴权限制：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前端直接向 CAS 发起校验请求会触犯 CORS 同源策略。只有通过后端发送端对端校验报文（Backchannel Channel）才是符合 CAS 规范的安全做法。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第三步：前端拦截获取票据信息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1285875" y="1863090"/>
            <a:ext cx="10048875" cy="130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后端反向通信确认票据有效性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后端提供 /auth/cas/validate 控制器接口，接收前端提取的 ticket，在服务器背后发起 HTTP 请求同 ZJNU 统一身份服务器核对。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1285875" y="3340735"/>
            <a:ext cx="10048875" cy="223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CAS SDK 工具库解析 Assertions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后端使用 CAS20ServiceTicketValidator 安全连接库解析返回的 XML 流文件，析出工号与名字： Cas20ServiceTicketValidator validator = new Cas20ServiceTicketValidator(casServerUrl); Assertion assertion = validator.validate(ticket, service); String uid = assertion.getPrincipal().getName(); // 提取工号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15670" y="2099667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15670" y="3525063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第四步：后端服务安全校验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1285875" y="1626235"/>
            <a:ext cx="10048875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本地逻辑落库检测与角色赋予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当校方 CAS 通信核准了当前的工号（Employee ID）后，系统的本地 users 表负责拉取具体的班级、学院以及角色等私有数据，进行应用层赋权。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1285875" y="3249295"/>
            <a:ext cx="10048875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发放应用独立的 JWT 会话 Token</a:t>
            </a:r>
            <a:r>
              <a:rPr lang="en-US" sz="18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匹配正常，本地生成高强度的 JWT Token，将工号和对应角色绑定在 Claim 中，供后续调用 API 时装载： String token = jwtUtil.generateToken( user.getId(), user.getEmployeeId(), roleCodes, user.getName() ); return Map.of("token", token, "user", user);</a:t>
            </a:r>
            <a:endParaRPr lang="en-US" sz="18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7" name="Google Shape;237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1843821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57250" y="3482578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第五步：本地账户匹配与 JWT 颁发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762760"/>
            <a:ext cx="5372735" cy="405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1762760"/>
            <a:ext cx="5334000" cy="405638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847725" y="1951355"/>
            <a:ext cx="5020310" cy="82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1. 前端存储 Token</a:t>
            </a:r>
            <a:endParaRPr lang="en-US" sz="18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847725" y="2247265"/>
            <a:ext cx="4781550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cas-callback.vue 接受后端返回数据后，写入 LocalStorage / Cookie 并激活前端主页：</a:t>
            </a:r>
            <a:endParaRPr lang="en-US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6562725" y="1951355"/>
            <a:ext cx="5020310" cy="82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2. 后续通信自动承载 JWT</a:t>
            </a:r>
            <a:endParaRPr lang="en-US" sz="18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6562725" y="2361565"/>
            <a:ext cx="4781550" cy="1049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登录宣告结束后，在整个系统生命周期中，浏览器都会使用 Axios 请求拦截器机制自动读取 Token 并组装：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562725" y="4782185"/>
            <a:ext cx="4781550" cy="60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安全效益：</a:t>
            </a:r>
            <a:r>
              <a:rPr lang="en-US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系统从此不再依赖 CAS 服务器，减轻统一认证中心的瞬时高负载。</a:t>
            </a:r>
            <a:endParaRPr lang="en-US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第六步：客户端存储会话成功登录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503170"/>
            <a:ext cx="3607435" cy="32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330700" y="2503170"/>
            <a:ext cx="3684270" cy="3194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089900" y="2503170"/>
            <a:ext cx="3763010" cy="313118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>
            <p:custDataLst>
              <p:tags r:id="rId7"/>
            </p:custDataLst>
          </p:nvPr>
        </p:nvSpPr>
        <p:spPr>
          <a:xfrm>
            <a:off x="809625" y="2682875"/>
            <a:ext cx="2513965" cy="86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白名单路由豁免</a:t>
            </a:r>
            <a:endParaRPr lang="en-US" sz="18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64" name="Google Shape;264;p24"/>
          <p:cNvSpPr txBox="1"/>
          <p:nvPr>
            <p:custDataLst>
              <p:tags r:id="rId8"/>
            </p:custDataLst>
          </p:nvPr>
        </p:nvSpPr>
        <p:spPr>
          <a:xfrm>
            <a:off x="809625" y="3665339"/>
            <a:ext cx="3054399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/auth/cas/** 鉴权网格接口必须独立放行，保证未取得本地 JWT 的用户在大厅验证重定向阶段，流量不被 Security 拦截器直接阻断。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5" name="Google Shape;265;p24"/>
          <p:cNvSpPr txBox="1"/>
          <p:nvPr>
            <p:custDataLst>
              <p:tags r:id="rId9"/>
            </p:custDataLst>
          </p:nvPr>
        </p:nvSpPr>
        <p:spPr>
          <a:xfrm>
            <a:off x="4568825" y="2397125"/>
            <a:ext cx="3070225" cy="93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单次与失效控制</a:t>
            </a:r>
            <a:endParaRPr lang="en-US" sz="18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66" name="Google Shape;266;p24"/>
          <p:cNvSpPr txBox="1"/>
          <p:nvPr>
            <p:custDataLst>
              <p:tags r:id="rId10"/>
            </p:custDataLst>
          </p:nvPr>
        </p:nvSpPr>
        <p:spPr>
          <a:xfrm>
            <a:off x="4568874" y="3665339"/>
            <a:ext cx="3054399" cy="1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 在核心算法层保证每个 ST 只能执行单次物理验证，并在后台缓存已校验 ST ID，彻底拦截任何试图重播会话（Replay Attack）的行为。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8328025" y="2682875"/>
            <a:ext cx="2815590" cy="50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Service 地址绑定</a:t>
            </a:r>
            <a:endParaRPr lang="en-US" sz="1800" b="0" i="0" u="none" strike="noStrike" cap="none">
              <a:solidFill>
                <a:srgbClr val="1E3A8A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8328124" y="3665339"/>
            <a:ext cx="3054399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 端严格限制可执行跳转的 Service 回调白名单，避免恶意分子构造钓鱼地址骗取 ST 产生跨域凭证泄露。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9" name="Google Shape;269;p24" descr="image.png"/>
          <p:cNvPicPr preferRelativeResize="0"/>
          <p:nvPr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266065" y="2682875"/>
            <a:ext cx="30543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>
            <p:custDataLst>
              <p:tags r:id="rId13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>
            <a:off x="4102149" y="2682994"/>
            <a:ext cx="23708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7865209" y="2682994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CAS + JWT 统一安全设计要点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2603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514600"/>
            <a:ext cx="1104900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/>
          <p:nvPr/>
        </p:nvSpPr>
        <p:spPr>
          <a:xfrm>
            <a:off x="581025" y="2524125"/>
            <a:ext cx="11029950" cy="2514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281" name="Google Shape;281;p25"/>
          <p:cNvGraphicFramePr/>
          <p:nvPr/>
        </p:nvGraphicFramePr>
        <p:xfrm>
          <a:off x="581025" y="1330325"/>
          <a:ext cx="11029950" cy="4648200"/>
        </p:xfrm>
        <a:graphic>
          <a:graphicData uri="http://schemas.openxmlformats.org/drawingml/2006/table">
            <a:tbl>
              <a:tblPr firstRow="1" bandRow="1">
                <a:noFill/>
                <a:tableStyleId>{D85139CC-8629-429D-AF3D-B1C0E38B988B}</a:tableStyleId>
              </a:tblPr>
              <a:tblGrid>
                <a:gridCol w="1349375"/>
                <a:gridCol w="3285490"/>
                <a:gridCol w="3284855"/>
                <a:gridCol w="3110230"/>
              </a:tblGrid>
              <a:tr h="929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对比核心项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方式A：前端驱动（本项目使用）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方式B：Servlet 过滤器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0F172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方式C：代理认证模式</a:t>
                      </a:r>
                      <a:endParaRPr lang="en-US" sz="1125" b="1" i="0" u="none" strike="noStrike" cap="none">
                        <a:solidFill>
                          <a:srgbClr val="0F172A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适合场景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前后端分离 SPA 应用</a:t>
                      </a:r>
                      <a:endParaRPr lang="en-US" sz="1125" b="0" i="0" u="none" strike="noStrike" cap="none">
                        <a:solidFill>
                          <a:srgbClr val="2563E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传统单体服务端渲染应用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第三方代录入 / 批量管理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页面控制权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跳转 CAS 原生页面 / 自定义回调页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完全依靠后台 Filter 拦截重定向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使用请销假系统自有定制登录页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安全系数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高（双端验证，防 ST 伪造）</a:t>
                      </a:r>
                      <a:endParaRPr lang="en-US" sz="1125" b="0" i="0" u="none" strike="noStrike" cap="none">
                        <a:solidFill>
                          <a:srgbClr val="2563E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高（后端过滤器拦截直接通信）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较低（需代理收集用户校方账号）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维护复杂度</a:t>
                      </a:r>
                      <a:endParaRPr lang="en-US" sz="1125" b="1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中等（前后台需编写专门回调逻辑）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简单（开箱即用，通过配置类映射）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高（需要完全代理并发模拟发送）</a:t>
                      </a:r>
                      <a:endParaRPr lang="en-US" sz="1125" b="0" i="0" u="none" strike="noStrike" cap="none">
                        <a:solidFill>
                          <a:srgbClr val="33415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282" name="Google Shape;282;p25"/>
          <p:cNvSpPr/>
          <p:nvPr/>
        </p:nvSpPr>
        <p:spPr>
          <a:xfrm>
            <a:off x="581025" y="3014662"/>
            <a:ext cx="134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1930300" y="3014662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215681" y="3014662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8501062" y="3014662"/>
            <a:ext cx="31099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81025" y="3519487"/>
            <a:ext cx="134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1930300" y="3519487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215681" y="3519487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8501062" y="3519487"/>
            <a:ext cx="31099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81025" y="4024312"/>
            <a:ext cx="134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1930300" y="4024312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215681" y="4024312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8501062" y="4024312"/>
            <a:ext cx="31099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81025" y="4529137"/>
            <a:ext cx="1349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1930300" y="4529137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215681" y="4529137"/>
            <a:ext cx="32853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8501062" y="4529137"/>
            <a:ext cx="31099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常见三种 CAS 对接架构设计对比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892300"/>
            <a:ext cx="5449570" cy="413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86500" y="1892935"/>
            <a:ext cx="5516880" cy="413639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847725" y="2028825"/>
            <a:ext cx="5020310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🖥️ 客户端前端资源 (Vue 3 Codebase)</a:t>
            </a:r>
            <a:endParaRPr lang="en-US" sz="20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308" name="Google Shape;308;p26"/>
          <p:cNvSpPr txBox="1"/>
          <p:nvPr/>
        </p:nvSpPr>
        <p:spPr>
          <a:xfrm>
            <a:off x="6562725" y="2028825"/>
            <a:ext cx="5020310" cy="678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⚙️</a:t>
            </a:r>
            <a:r>
              <a:rPr lang="en-US" sz="18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 后端微</a:t>
            </a:r>
            <a:r>
              <a:rPr lang="en-US" sz="24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服务</a:t>
            </a:r>
            <a:r>
              <a:rPr lang="en-US" sz="1800" b="0" i="0" u="none" strike="noStrike" cap="none">
                <a:solidFill>
                  <a:srgbClr val="2563EB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资源 (Spring Boot Project)</a:t>
            </a:r>
            <a:endParaRPr lang="en-US" sz="1800" b="0" i="0" u="none" strike="noStrike" cap="none">
              <a:solidFill>
                <a:srgbClr val="2563EB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309" name="Google Shape;309;p26"/>
          <p:cNvSpPr txBox="1"/>
          <p:nvPr>
            <p:custDataLst>
              <p:tags r:id="rId4"/>
            </p:custDataLst>
          </p:nvPr>
        </p:nvSpPr>
        <p:spPr>
          <a:xfrm>
            <a:off x="1057275" y="2505710"/>
            <a:ext cx="4572000" cy="1033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src/views/login/choice.vue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登录分发控制，点击构建 ZJNU 回调 Service URL 跳转。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0" name="Google Shape;310;p26"/>
          <p:cNvSpPr txBox="1"/>
          <p:nvPr>
            <p:custDataLst>
              <p:tags r:id="rId5"/>
            </p:custDataLst>
          </p:nvPr>
        </p:nvSpPr>
        <p:spPr>
          <a:xfrm>
            <a:off x="1057275" y="3308350"/>
            <a:ext cx="4572000" cy="82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src/views/login/cas-callback.vue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回调专用空白容器，提取 URL 中的 Ticket 并向后端传送。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1" name="Google Shape;311;p26"/>
          <p:cNvSpPr txBox="1"/>
          <p:nvPr>
            <p:custDataLst>
              <p:tags r:id="rId6"/>
            </p:custDataLst>
          </p:nvPr>
        </p:nvSpPr>
        <p:spPr>
          <a:xfrm>
            <a:off x="1057275" y="4211320"/>
            <a:ext cx="4572000" cy="47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src/api/auth.js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封装 CAS 登录与 ST 效验 Axios 传输协议。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2" name="Google Shape;312;p26"/>
          <p:cNvSpPr txBox="1"/>
          <p:nvPr>
            <p:custDataLst>
              <p:tags r:id="rId7"/>
            </p:custDataLst>
          </p:nvPr>
        </p:nvSpPr>
        <p:spPr>
          <a:xfrm>
            <a:off x="1057275" y="4756150"/>
            <a:ext cx="4572000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src/router/index.js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路由导航守卫，免登录、免拦截白名单配置。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3" name="Google Shape;313;p26"/>
          <p:cNvSpPr txBox="1"/>
          <p:nvPr>
            <p:custDataLst>
              <p:tags r:id="rId8"/>
            </p:custDataLst>
          </p:nvPr>
        </p:nvSpPr>
        <p:spPr>
          <a:xfrm>
            <a:off x="6772275" y="2550795"/>
            <a:ext cx="4572000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AuthController.java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暴露验证入口，接收请求验证参数，调取 Service。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4" name="Google Shape;314;p26"/>
          <p:cNvSpPr txBox="1"/>
          <p:nvPr>
            <p:custDataLst>
              <p:tags r:id="rId9"/>
            </p:custDataLst>
          </p:nvPr>
        </p:nvSpPr>
        <p:spPr>
          <a:xfrm>
            <a:off x="6772275" y="3391535"/>
            <a:ext cx="4572000" cy="73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AuthService.java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校验逻辑，比对本地库用户，生成 JWT 授权凭证。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5" name="Google Shape;315;p26"/>
          <p:cNvSpPr txBox="1"/>
          <p:nvPr>
            <p:custDataLst>
              <p:tags r:id="rId10"/>
            </p:custDataLst>
          </p:nvPr>
        </p:nvSpPr>
        <p:spPr>
          <a:xfrm>
            <a:off x="6772275" y="4128770"/>
            <a:ext cx="4572000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CasConfig.java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注册 CAS 基础服务器参数，提供证书验证机制。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6" name="Google Shape;316;p26"/>
          <p:cNvSpPr txBox="1"/>
          <p:nvPr>
            <p:custDataLst>
              <p:tags r:id="rId11"/>
            </p:custDataLst>
          </p:nvPr>
        </p:nvSpPr>
        <p:spPr>
          <a:xfrm>
            <a:off x="6772275" y="4686300"/>
            <a:ext cx="4572000" cy="83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InterceptorConfig.java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00" b="0" i="0" u="none" strike="noStrike" cap="non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安全网格防线，对 CAS 回调鉴权地址配置例外规则。</a:t>
            </a:r>
            <a:endParaRPr lang="en-US" sz="1600" b="0" i="0" u="none" strike="noStrike" cap="non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7" name="Google Shape;317;p26"/>
          <p:cNvSpPr txBox="1"/>
          <p:nvPr>
            <p:custDataLst>
              <p:tags r:id="rId12"/>
            </p:custDataLst>
          </p:nvPr>
        </p:nvSpPr>
        <p:spPr>
          <a:xfrm>
            <a:off x="895350" y="28003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8" name="Google Shape;318;p26"/>
          <p:cNvSpPr txBox="1"/>
          <p:nvPr>
            <p:custDataLst>
              <p:tags r:id="rId13"/>
            </p:custDataLst>
          </p:nvPr>
        </p:nvSpPr>
        <p:spPr>
          <a:xfrm>
            <a:off x="895350" y="339090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9" name="Google Shape;319;p26"/>
          <p:cNvSpPr txBox="1"/>
          <p:nvPr>
            <p:custDataLst>
              <p:tags r:id="rId14"/>
            </p:custDataLst>
          </p:nvPr>
        </p:nvSpPr>
        <p:spPr>
          <a:xfrm>
            <a:off x="895350" y="39814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0" name="Google Shape;320;p26"/>
          <p:cNvSpPr txBox="1"/>
          <p:nvPr>
            <p:custDataLst>
              <p:tags r:id="rId15"/>
            </p:custDataLst>
          </p:nvPr>
        </p:nvSpPr>
        <p:spPr>
          <a:xfrm>
            <a:off x="895350" y="457200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1" name="Google Shape;321;p26"/>
          <p:cNvSpPr txBox="1"/>
          <p:nvPr>
            <p:custDataLst>
              <p:tags r:id="rId16"/>
            </p:custDataLst>
          </p:nvPr>
        </p:nvSpPr>
        <p:spPr>
          <a:xfrm>
            <a:off x="6610350" y="28003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2" name="Google Shape;322;p26"/>
          <p:cNvSpPr txBox="1"/>
          <p:nvPr>
            <p:custDataLst>
              <p:tags r:id="rId17"/>
            </p:custDataLst>
          </p:nvPr>
        </p:nvSpPr>
        <p:spPr>
          <a:xfrm>
            <a:off x="6610350" y="339090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3" name="Google Shape;323;p26"/>
          <p:cNvSpPr txBox="1"/>
          <p:nvPr>
            <p:custDataLst>
              <p:tags r:id="rId18"/>
            </p:custDataLst>
          </p:nvPr>
        </p:nvSpPr>
        <p:spPr>
          <a:xfrm>
            <a:off x="6610350" y="39814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4" name="Google Shape;324;p26"/>
          <p:cNvSpPr txBox="1"/>
          <p:nvPr>
            <p:custDataLst>
              <p:tags r:id="rId19"/>
            </p:custDataLst>
          </p:nvPr>
        </p:nvSpPr>
        <p:spPr>
          <a:xfrm>
            <a:off x="6610350" y="457200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125" b="1" i="0" u="none" strike="noStrike" cap="non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项目 CAS 统一模块文件清单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/>
        </p:nvSpPr>
        <p:spPr>
          <a:xfrm>
            <a:off x="1285875" y="1692910"/>
            <a:ext cx="10048875" cy="167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信任机制的彻底下放 (CAS)</a:t>
            </a: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系统将最底层繁琐的用户注册、口令加密、密码找回等敏感服务，完全外包并下放至专业的校级 CAS 统一认证中心，极大地减轻了自身的合规压力。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3" name="Google Shape;333;p27"/>
          <p:cNvSpPr txBox="1"/>
          <p:nvPr/>
        </p:nvSpPr>
        <p:spPr>
          <a:xfrm>
            <a:off x="1285875" y="2816225"/>
            <a:ext cx="1004887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安全权限的高效自控 (JWT)</a:t>
            </a: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校方 CAS 仅承担“证明你确实是浙师大某教师”的义务；而进入系统后“你属于哪个系、能否批准事假、是否为审批流一员”等微观角色权限，依旧依靠自签 JWT 来完美实现。</a:t>
            </a:r>
            <a:endParaRPr lang="en-US" sz="1600" b="0" i="0" u="none" strike="noStrike" cap="non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4" name="Google Shape;334;p27"/>
          <p:cNvSpPr txBox="1"/>
          <p:nvPr/>
        </p:nvSpPr>
        <p:spPr>
          <a:xfrm>
            <a:off x="1285875" y="3961130"/>
            <a:ext cx="10048875" cy="68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一句话闭环概括：</a:t>
            </a:r>
            <a:r>
              <a:rPr lang="en-US" sz="16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“CAS 服务用于确立我是谁，JWT 技术保障我的行为是否合理。”</a:t>
            </a:r>
            <a:endParaRPr lang="en-US" sz="1600" b="1" i="0" u="none" strike="noStrike" cap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35" name="Google Shape;335;p2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57250" y="1885324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57250" y="2998936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57250" y="4062958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7"/>
          <p:cNvSpPr txBox="1"/>
          <p:nvPr/>
        </p:nvSpPr>
        <p:spPr>
          <a:xfrm>
            <a:off x="714375" y="57150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总结：核心要素与设计反思</a:t>
            </a:r>
            <a:endParaRPr lang="en-US" sz="24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571500" y="571500"/>
            <a:ext cx="5715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016000"/>
            <a:ext cx="4572000" cy="4572000"/>
          </a:xfrm>
          <a:prstGeom prst="ellipse">
            <a:avLst/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906000" y="4318000"/>
            <a:ext cx="3048000" cy="3048000"/>
          </a:xfrm>
          <a:prstGeom prst="ellipse">
            <a:avLst/>
          </a:prstGeom>
          <a:solidFill>
            <a:srgbClr val="07C16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1016000" cy="762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企业微信通知系统实现梳理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380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419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浙江师范大学校讯推平台集成方案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570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5905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技术部   |   2026年6月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50892">
            <a:off x="1460500" y="2406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095500" y="1905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系统架构概览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95500" y="2413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梳理系统的核心架构分层，解析设计思路与整体技术选型，为后续模块实现奠定基础。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778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778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40500" y="19050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50892">
            <a:off x="6985000" y="2406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620000" y="1905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核心技术实现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0" y="2413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深入剖析配置管理体系、安全Token验证机制，以及高效灵活的消息分发与处理策略。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365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33655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34925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50892">
            <a:off x="1460500" y="3994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2095500" y="3492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通知类型与调用链路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095500" y="40005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定义系统支持的各类通知类型，梳理从触发到触达的端到端完整调用流程与节点交互。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86500" y="33655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86500" y="33655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40500" y="34925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50892">
            <a:off x="6985000" y="3994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620000" y="3492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通知场景全景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0" y="40005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全景展示系统覆盖的核心业务通知场景，涵盖不同业务线、不同用户角色的消息触达需求。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4953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762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16000" y="50800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5350892">
            <a:off x="14605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2095500" y="5080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可靠性设计与群发机制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2095500" y="5588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详解异常错误处理方案、消息可靠性保障机制，以及面向角色与群体的高效群发策略。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86500" y="4953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2865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540500" y="5080000"/>
            <a:ext cx="63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7C160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5350892">
            <a:off x="69850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7620000" y="5080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620000" y="55880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回顾系统设计的核心亮点与关键原则，梳理当前成果，并对未来的优化方向进行展望。</a:t>
            </a:r>
            <a:endParaRPr lang="en-US"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系统架构概览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032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006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双通道通知：可靠触达的双重保障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795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667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结合数据库持久化的站内通知与企业微信API推送，构建“本地+云端”双重通道，确保关键业务消息100%即时触达用户终端。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3683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87500" y="3657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解耦设计：隔离核心与非核心链路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1079508" y="418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79500" y="4318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将微信推送作为异步非核心业务剥离，采用事件驱动模式处理。即使推送服务异常，也不会阻塞请假、调课等主业务流程的正常执行。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1435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143500"/>
            <a:ext cx="76200" cy="13335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270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87500" y="52451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中转策略：统一网关简化认证管理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167">
            <a:off x="1079508" y="5772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8420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通过校讯推平台作为统一中转网关，集中处理企业微信的鉴权与API调用逻辑，避免业务系统重复对接，降低维护成本与安全风险。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390450">
            <a:off x="4191000" y="4184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731000" y="20320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2159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21336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业务系统层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858000" y="2667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请假、出差、调课等核心业务触发通知事件，同步写入数据库日志。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271000" y="20320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8000" y="2159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779000" y="21336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通知服务层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398000" y="2667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WeChatNotify Service 异步接管推送任务，实现业务与通知逻辑的彻底解耦。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5285450">
            <a:off x="7708900" y="3486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id="32" name="Connector 32"/>
          <p:cNvCxnSpPr/>
          <p:nvPr/>
        </p:nvCxnSpPr>
        <p:spPr>
          <a:xfrm rot="5285450">
            <a:off x="10248900" y="3486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3" name="AutoShape 33"/>
          <p:cNvSpPr/>
          <p:nvPr/>
        </p:nvSpPr>
        <p:spPr>
          <a:xfrm>
            <a:off x="6731000" y="3810000"/>
            <a:ext cx="4889500" cy="10795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58000" y="39370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366000" y="3937000"/>
            <a:ext cx="400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统一中转网关：校讯推平台 (xxt.zjnu.edu.cn)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858000" y="44450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集中处理企业微信的AccessToken管理与接口调用，标准化请求参数，统一日志监控与异常重试机制。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5262563">
            <a:off x="9010650" y="52325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8" name="AutoShape 38"/>
          <p:cNvSpPr/>
          <p:nvPr/>
        </p:nvSpPr>
        <p:spPr>
          <a:xfrm>
            <a:off x="6731000" y="5461000"/>
            <a:ext cx="4889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58000" y="5613400"/>
            <a:ext cx="355600" cy="3556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7366000" y="5588000"/>
            <a:ext cx="400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终端触达：企业微信客户端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858000" y="60325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用户在企业微信端实时接收消息卡片，支持点击跳转查看详情，形成完整的闭环体验。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核心技术实现 - 配置与Token管理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540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778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7526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功能总控配置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221">
            <a:off x="952519" y="2279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配置项：</a:t>
            </a:r>
            <a:r>
              <a:rPr lang="en-US" sz="13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xxt.enabled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系统功能的全局开关，控制校讯推相关服务启停，适配多环境部署与维护需求。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152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67100" y="1524000"/>
            <a:ext cx="2540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1778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02100" y="17526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应用认证密钥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0221">
            <a:off x="3657619" y="2279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5941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配置项：</a:t>
            </a:r>
            <a:r>
              <a:rPr lang="en-US" sz="13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app-id / app-pwd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平台应用的唯一身份标识与鉴权密钥，保障接口调用的合法性与安全性校验。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72200" y="152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172200" y="1524000"/>
            <a:ext cx="2540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2700" y="1778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07200" y="17526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核心接口配置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0221">
            <a:off x="6362719" y="2279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2992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配置项：</a:t>
            </a:r>
            <a:r>
              <a:rPr lang="en-US" sz="13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 / send / card-url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集中管理Token获取、消息发送及卡片生成接口地址，实现接口端点的统一维护与变更。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77300" y="1524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77300" y="1524000"/>
            <a:ext cx="2540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67800" y="1778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12300" y="17526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前端路由配置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221">
            <a:off x="9067819" y="2279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004300" y="2413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配置项：</a:t>
            </a:r>
            <a:r>
              <a:rPr lang="en-US" sz="13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xxt.frontend-url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配置前端业务根地址，支持在消息卡片中动态拼接业务路由，实现端到端的无缝链接跳转。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4092">
            <a:off x="762004" y="393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62000" y="4318000"/>
            <a:ext cx="5842000" cy="2032000"/>
          </a:xfrm>
          <a:prstGeom prst="roundRect">
            <a:avLst>
              <a:gd name="adj" fmla="val 0"/>
            </a:avLst>
          </a:prstGeom>
          <a:solidFill>
            <a:srgbClr val="07C160">
              <a:alpha val="5000"/>
            </a:srgbClr>
          </a:solidFill>
          <a:ln w="12700" cap="flat" cmpd="sng">
            <a:solidFill>
              <a:srgbClr val="07C16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52500" y="4572000"/>
            <a:ext cx="1397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16000" y="4699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请求发起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首次/后续业务请求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85925">
            <a:off x="2413079" y="494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7C160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32" name="AutoShape 32"/>
          <p:cNvSpPr/>
          <p:nvPr/>
        </p:nvSpPr>
        <p:spPr>
          <a:xfrm>
            <a:off x="2984500" y="4572000"/>
            <a:ext cx="1524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3048000" y="46990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 管控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缓存检查/刷新获取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85925">
            <a:off x="4572079" y="4946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7C160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35" name="AutoShape 35"/>
          <p:cNvSpPr/>
          <p:nvPr/>
        </p:nvSpPr>
        <p:spPr>
          <a:xfrm>
            <a:off x="5143500" y="4572000"/>
            <a:ext cx="1333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5207000" y="4699000"/>
            <a:ext cx="120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复用/存储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缓存Token与过期时间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52500" y="5588000"/>
            <a:ext cx="5461000" cy="571500"/>
          </a:xfrm>
          <a:prstGeom prst="roundRect">
            <a:avLst>
              <a:gd name="adj" fmla="val 0"/>
            </a:avLst>
          </a:prstGeom>
          <a:solidFill>
            <a:srgbClr val="07C16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1079500" y="56896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机制说明：优先检查本地缓存Token状态，未过期直接复用；若已过期或即将过期，则自动发起GET请求重新获取并更新缓存。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985000" y="4318000"/>
            <a:ext cx="2222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75500" y="4508500"/>
            <a:ext cx="355600" cy="3556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7620000" y="4508500"/>
            <a:ext cx="146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智能时效管控</a:t>
            </a:r>
            <a:endParaRPr lang="en-US" sz="1100"/>
          </a:p>
        </p:txBody>
      </p:sp>
      <p:cxnSp>
        <p:nvCxnSpPr>
          <p:cNvPr id="42" name="Connector 42"/>
          <p:cNvCxnSpPr/>
          <p:nvPr/>
        </p:nvCxnSpPr>
        <p:spPr>
          <a:xfrm rot="-23708">
            <a:off x="7175522" y="50736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7112000" y="5207000"/>
            <a:ext cx="196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Token有效期7200秒，系统配置提前5分钟自动刷新，避免因Token过期导致业务请求失败，保障服务稳定性。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398000" y="4318000"/>
            <a:ext cx="2222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88500" y="4508500"/>
            <a:ext cx="355600" cy="355600"/>
          </a:xfrm>
          <a:prstGeom prst="rect">
            <a:avLst/>
          </a:prstGeom>
        </p:spPr>
      </p:pic>
      <p:sp>
        <p:nvSpPr>
          <p:cNvPr id="46" name="AutoShape 46"/>
          <p:cNvSpPr/>
          <p:nvPr/>
        </p:nvSpPr>
        <p:spPr>
          <a:xfrm>
            <a:off x="9969500" y="4508500"/>
            <a:ext cx="146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并发安全防护</a:t>
            </a:r>
            <a:endParaRPr lang="en-US" sz="1100"/>
          </a:p>
        </p:txBody>
      </p:sp>
      <p:cxnSp>
        <p:nvCxnSpPr>
          <p:cNvPr id="47" name="Connector 47"/>
          <p:cNvCxnSpPr/>
          <p:nvPr/>
        </p:nvCxnSpPr>
        <p:spPr>
          <a:xfrm rot="-23708">
            <a:off x="9588522" y="5073650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AutoShape 48"/>
          <p:cNvSpPr/>
          <p:nvPr/>
        </p:nvSpPr>
        <p:spPr>
          <a:xfrm>
            <a:off x="9525000" y="5207000"/>
            <a:ext cx="196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synchronized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同步锁机制，防止高并发场景下重复获取Token，减少无效请求，提升接口调用效率。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核心技术实现 - 消息类型与发送策略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两种消息类型对比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762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65200" y="25400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纯文本消息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接口格式为POST (form表单)，接收人需传JSON数组。适用于无跳转链接的简单通知场景，传输轻量、送达稳定。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445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762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65200" y="45720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卡片消息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接口格式为POST (JSON)，接收人工号竖线分隔。支持配置按钮与跳转链接，适合需引导用户进入系统页面操作的复杂通知。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389889">
            <a:off x="23495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1778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智能消息选择策略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667000"/>
            <a:ext cx="3429000" cy="3492500"/>
          </a:xfrm>
          <a:prstGeom prst="roundRect">
            <a:avLst>
              <a:gd name="adj" fmla="val 0"/>
            </a:avLst>
          </a:prstGeom>
          <a:solidFill>
            <a:srgbClr val="07C160">
              <a:alpha val="5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889500" y="2921000"/>
            <a:ext cx="304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16500" y="3111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588000" y="3022600"/>
            <a:ext cx="2286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核心判断：URL有效性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系统自动校验是否能构建有效的业务跳转链接，作为消息类型选择的依据。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889500" y="4191000"/>
            <a:ext cx="146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8400" y="4318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334000" y="4292600"/>
            <a:ext cx="95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有有效URL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发送卡片消息，配置跳转按钮，提升用户操作体验。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4191000"/>
            <a:ext cx="146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5900" y="4318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1500" y="4292600"/>
            <a:ext cx="95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无有效URL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发送纯文本消息，确保通知内容简洁、高效触达。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3" name="Connector 23"/>
          <p:cNvCxnSpPr/>
          <p:nvPr/>
        </p:nvCxnSpPr>
        <p:spPr>
          <a:xfrm rot="5389889">
            <a:off x="61595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509000" y="1778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场景化按钮文案规则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509000" y="2540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509000" y="2540000"/>
            <a:ext cx="34290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636000" y="2730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关键词：待审批 / 审核提醒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匹配按钮文案为“去审批”或“去审核”，引导用户快速进入审批流程，减少操作路径。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509000" y="38735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509000" y="3873500"/>
            <a:ext cx="34290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636000" y="4064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关键词：总结已提交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匹配按钮文案为“去审核”，明确下一步操作动作，让通知更具指令性和场景感。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509000" y="5207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509000" y="5207000"/>
            <a:ext cx="3429000" cy="381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636000" y="5397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关键词：抄送 / 其他通用场景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统一使用“查看详情”作为兜底按钮文案，适用于无明确操作指令的通知类消息。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通知类型与调用链路 - 通知类型定义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APPROVAL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审批通知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937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涉及审批动作的核心通知，如请假、出差、调课申请等场景。此类通知强交互性，需要接收者进行同意、驳回等后续操作。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349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435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3302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系统通知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3937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由院办、考勤老师等系统角色发出，或系统状态自动变更触发的通知。用于系统级广播、重要公告及流程节点的状态同步告知。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349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763000" y="231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CC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946">
            <a:off x="8255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55000" y="3302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抄送通知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55000" y="3937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纯信息同步类通知，不要求接收者执行操作。技术上URL会携带`from=cc`参数，支持前端进行差异化的视觉展示与交互弱化。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1016000" y="584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通过三类通知的标准化定义，实现了通知场景的全覆盖与精细化管控，既保障了核心审批流程的闭环，也兼顾了系统广播与信息同步的效率。</a:t>
            </a:r>
            <a:endParaRPr lang="en-US" sz="1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通知类型与调用链路 - 调用链路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2921000"/>
          </a:xfrm>
          <a:prstGeom prst="roundRect">
            <a:avLst>
              <a:gd name="adj" fmla="val 0"/>
            </a:avLst>
          </a:prstGeom>
          <a:solidFill>
            <a:srgbClr val="07C160">
              <a:alpha val="5000"/>
            </a:srgbClr>
          </a:solidFill>
          <a:ln cap="flat" cmpd="sng">
            <a:solidFill>
              <a:srgbClr val="00A85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1968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30400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请求接入层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1485">
            <a:off x="1206520" y="2533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143000" y="2730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用户在前端完成请假、差旅等业务操作，请求经由Controller层统一接收与分发，进入业务处理流程。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14549">
            <a:off x="3556106" y="2914650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0" name="AutoShape 10"/>
          <p:cNvSpPr/>
          <p:nvPr/>
        </p:nvSpPr>
        <p:spPr>
          <a:xfrm>
            <a:off x="4064000" y="1778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4500" y="1968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99000" y="1930400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业务处理与落库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1485">
            <a:off x="4254520" y="2533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191000" y="2730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业务Service执行业务逻辑，首先将通知记录写入数据库，确保站内通知的持久化存储，保障消息可追溯。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14549">
            <a:off x="6604106" y="2914650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6" name="AutoShape 16"/>
          <p:cNvSpPr/>
          <p:nvPr/>
        </p:nvSpPr>
        <p:spPr>
          <a:xfrm>
            <a:off x="7112000" y="1778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2500" y="1968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747000" y="1930400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分发与策略判断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1485">
            <a:off x="7302520" y="2533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7239000" y="2730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调用微信通知服务，动态构建跳转URL与按钮文案，智能判断URL有效性，选择最优的消息发送策略。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71744">
            <a:off x="9652159" y="29146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7C160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2" name="AutoShape 22"/>
          <p:cNvSpPr/>
          <p:nvPr/>
        </p:nvSpPr>
        <p:spPr>
          <a:xfrm>
            <a:off x="10033000" y="1778000"/>
            <a:ext cx="1397000" cy="2286000"/>
          </a:xfrm>
          <a:prstGeom prst="roundRect">
            <a:avLst>
              <a:gd name="adj" fmla="val 0"/>
            </a:avLst>
          </a:prstGeom>
          <a:solidFill>
            <a:srgbClr val="07C160">
              <a:alpha val="10000"/>
            </a:srgbClr>
          </a:solidFill>
          <a:ln w="12700" cap="flat" cmpd="sng">
            <a:solidFill>
              <a:srgbClr val="07C16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23500" y="1968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0160000" y="2476500"/>
            <a:ext cx="114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消息触达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卡片/文本消息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推送至企业微信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4092">
            <a:off x="762004" y="481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62000" y="5207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2000" y="5207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397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397000" y="53594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WeChatNotifyService.java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通知发送核心服务类，封装企业微信接口调用、Token管理及消息分发逻辑。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4381500" y="5207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4381500" y="5207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53975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5016500" y="53594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 Service (Leave/Travel)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各业务模块的触发源，在完成业务逻辑后调用通知服务，实现业务与通知解耦。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001000" y="5207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001000" y="5207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1500" y="53975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636000" y="53594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Notification.java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通知实体类，统一封装消息标题、内容、接收人及业务关联ID，规范数据结构。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通知场景全景 (1/2)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7C16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核心业务全流程覆盖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762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603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03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请假流程：闭环式节点触发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91">
            <a:off x="1016009" y="316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302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从提交申请到最终销假，全链路打通学生、审批人、教学老师及考勤管理员。每一步关键状态变更均自动触发定向通知，确保信息同步无延迟。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08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508500"/>
            <a:ext cx="76200" cy="1714500"/>
          </a:xfrm>
          <a:prstGeom prst="roundRect">
            <a:avLst>
              <a:gd name="adj" fmla="val 0"/>
            </a:avLst>
          </a:prstGeom>
          <a:solidFill>
            <a:srgbClr val="07C16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699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69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出差流程：多角色复杂协同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1016009" y="526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539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覆盖多级审批、行程调整、工作总结与费用报销等复杂环节。针对不同节点（如审批、调课、财务）推送定制化消息，串联校内多部门高效协作。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90450">
            <a:off x="4064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604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关键节点通知场景示例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2413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04000" y="2413000"/>
            <a:ext cx="508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794500" y="2540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请假提交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822">
            <a:off x="6794509" y="2978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794500" y="3111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面向审批人发送“请假申请待审批”卡片，包含事由与时长，直接嵌入“去审批”操作按钮，缩短处理路径。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3810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04000" y="3810000"/>
            <a:ext cx="508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794500" y="3937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调课审核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822">
            <a:off x="6794509" y="4375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794500" y="4508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自动触达教学老师推送“调课审核提醒”，附带调课时间与替代方案，支持老师一键审核或回复建议，保障教学秩序。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5207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604000" y="520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794500" y="5334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结果同步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822">
            <a:off x="6794509" y="5772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794500" y="5842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向院办与考勤老师同步“流程办结通知”，自动更新考勤系统数据，同时告知学生最终审批结果，实现信息对称。</a:t>
            </a:r>
            <a:endParaRPr lang="en-US" sz="11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通知场景全景 (2/2)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905000"/>
          <a:ext cx="10668000" cy="4724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3556000"/>
                <a:gridCol w="2921000"/>
                <a:gridCol w="2921000"/>
              </a:tblGrid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序号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C160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业务流程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C160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通知对象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C160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通知类型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C160">
                        <a:alpha val="10000"/>
                      </a:srgbClr>
                    </a:solidFill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请假/出差提交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审批人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7C16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APPROVAL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7C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审批驳回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申请人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7C16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APPROVAL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调课审核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教学老师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7C16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APPROVAL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审批通过（流程归档）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院办 / 考勤老师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SYSTEM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审批通过（信息同步）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抄送人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CC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销假确认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所有审批人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SYSTEM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6096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5969000"/>
            <a:ext cx="990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通过分层级、分角色的通知体系设计，确保审批全流程信息在申请人、审批人及系统角色间高效流转，避免关键节点遗漏，保障业务闭环完整性。</a:t>
            </a:r>
            <a:endParaRPr lang="en-US" sz="1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可靠性设计与群发机制 - 错误处理与可靠性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" cy="304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39800" y="1498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多层防护机制：全链路异常拦截与容错处理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349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311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请求准入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0834">
            <a:off x="9525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89000" y="298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请求进入系统网关，统一拦截非法请求与超限流量，确保入口合规，过滤无效负载。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2159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4925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349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64000" y="2311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基础核验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20834">
            <a:off x="36830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619500" y="298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检查功能开关状态，未启用则直接返回；校验用户工号有效性，无效则记录警告并跳过处理。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2159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349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94500" y="2311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鉴权保障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0834">
            <a:off x="64135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350000" y="298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尝试获取调用凭证Token，若获取失败则记录系统错误日志，直接跳过该批次推送，避免阻塞。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953500" y="2159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9535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2349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525000" y="2311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执行与兜底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20834">
            <a:off x="91440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080500" y="298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执行HTTP API调用，捕获所有异常并记录详细日志；调用成功则完成，失败则纳入补偿重试队列。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4092">
            <a:off x="762004" y="4375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762000" y="4699000"/>
            <a:ext cx="3556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62000" y="469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88950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460500" y="4851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站内通知：强一致性保障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14323">
            <a:off x="1016013" y="539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1016000" y="5524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采用数据库事务写入机制，确保核心通知数据落地可靠；写入失败则触发事务回滚，保障数据零丢失。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572000" y="4699000"/>
            <a:ext cx="3556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4572000" y="469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26000" y="4889500"/>
            <a:ext cx="355600" cy="3556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5270500" y="4851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企微推送：尽力而为策略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-14323">
            <a:off x="4826013" y="539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4826000" y="5524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依赖外部API调用，网络抖动或服务不可用属常态；调用失败不影响主流程，通过异步重试机制做最终补偿。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382000" y="4699000"/>
            <a:ext cx="3556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8382000" y="4699000"/>
            <a:ext cx="76200" cy="1651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36000" y="4889500"/>
            <a:ext cx="355600" cy="3556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9080500" y="4851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核心流程：解耦与高可用</a:t>
            </a:r>
            <a:endParaRPr lang="en-US" sz="1100"/>
          </a:p>
        </p:txBody>
      </p:sp>
      <p:cxnSp>
        <p:nvCxnSpPr>
          <p:cNvPr id="46" name="Connector 46"/>
          <p:cNvCxnSpPr/>
          <p:nvPr/>
        </p:nvCxnSpPr>
        <p:spPr>
          <a:xfrm rot="-14323">
            <a:off x="8636013" y="5391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/>
          <p:nvPr/>
        </p:nvSpPr>
        <p:spPr>
          <a:xfrm>
            <a:off x="8636000" y="5524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通知模块作为业务附属流程，完全异步解耦；即使通知全链路失败，也绝对不回滚主业务交易，确保核心闭环。</a:t>
            </a:r>
            <a:endParaRPr lang="en-US" sz="11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可靠性设计与群发机制 - 按角色群发机制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自动化群发执行流程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76200" cy="9525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730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6416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角色检索：精准定位目标用户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基于预设的角色标识（如院办、考勤老师），在系统中查询并拉取所有匹配的用户列表，确保通知对象无遗漏。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76200" cy="952500"/>
          </a:xfrm>
          <a:prstGeom prst="roundRect">
            <a:avLst>
              <a:gd name="adj" fmla="val 0"/>
            </a:avLst>
          </a:prstGeom>
          <a:solidFill>
            <a:srgbClr val="07C16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873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37846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站内留痕：写入通知日志记录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为检索到的每个用户逐条写入站内通知记录，留存完整的操作日志，作为后续消息送达与追溯的可靠凭证。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5080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76200" cy="9525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5181600"/>
            <a:ext cx="400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批量触达：聚合ID调用API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清洗并聚合用户唯一ID，调用企业微信批量通知接口，将消息一次性推送给所有目标用户，提升发送效率与稳定性。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5389257">
            <a:off x="4191000" y="4057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77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核心群发角色与应用场景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540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540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27305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院办行政角色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标识：yuanban_office</a:t>
            </a:r>
            <a:endParaRPr lang="en-US" sz="1100" b="0" i="0" u="none" strike="noStrike">
              <a:solidFill>
                <a:srgbClr val="07C1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覆盖负责行政统筹与事务审批的核心部门成员。主要用于审批通过确认、调课流程完成后的同步通知场景。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080500" y="2540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080500" y="2540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207500" y="2730500"/>
            <a:ext cx="222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考勤管理角色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标识：kaoqin_teacher</a:t>
            </a:r>
            <a:endParaRPr lang="en-US" sz="1100" b="0" i="0" u="none" strike="noStrike">
              <a:solidFill>
                <a:srgbClr val="07C1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针对负责学生考勤、异常跟进的教师群体。用于审批通过反馈、调课完成后的考勤数据同步提醒。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477000" y="4699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469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04000" y="4826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全局通用抄送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标识：COURSE_ADJUST_CC_ALL</a:t>
            </a:r>
            <a:endParaRPr lang="en-US" sz="1100" b="0" i="0" u="none" strike="noStrike">
              <a:solidFill>
                <a:srgbClr val="07C1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系统预设的关键管理节点抄送人，覆盖所有审批流程通过后的统一告知，确保管理链路信息透明。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9080500" y="4699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7C16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080500" y="469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207500" y="4826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授课教师角色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07C1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标识：under/post_teacher</a:t>
            </a:r>
            <a:endParaRPr lang="en-US" sz="1100" b="0" i="0" u="none" strike="noStrike">
              <a:solidFill>
                <a:srgbClr val="07C1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涵盖本科与研究生授课教师。专用于课程调整申请通过后的定向通知，保障教学环节信息同步及时。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2476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52500" y="2667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双通道通知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834">
            <a:off x="952519" y="3232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429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兼顾系统内通知的可靠性与企业微信触达的及时性，确保消息不丢失、必送达。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778000"/>
            <a:ext cx="2476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92500" y="177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032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683000" y="2667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灵活消息策略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0834">
            <a:off x="3683019" y="3232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683000" y="3429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支持文本与卡片消息自适应展示，按钮文案贴合业务场景，提升用户操作体验。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778000"/>
            <a:ext cx="2476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177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032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413500" y="2667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高可用架构设计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0834">
            <a:off x="6413519" y="3232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13500" y="3429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通过失败解耦、多层防护机制保障系统稳定，完善并发控制确保接口调用安全。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53500" y="1778000"/>
            <a:ext cx="2476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953500" y="1778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7C16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2032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144000" y="2667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业务场景全覆盖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834">
            <a:off x="9144019" y="3232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144000" y="3429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覆盖请假、出差、调课等全流程业务通知，适配员工、审批人、管理员等多角色。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4092">
            <a:off x="762004" y="469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7C16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62000" y="5080000"/>
            <a:ext cx="3467100" cy="12700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2705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460500" y="52324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业务与通知解耦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52500" y="5715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核心业务流程与通知发送逻辑分离，通知服务故障不影响主业务流转，保障系统核心可用性。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394200" y="5080000"/>
            <a:ext cx="3467100" cy="12700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84700" y="5270500"/>
            <a:ext cx="355600" cy="3556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5092700" y="52324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外部调用“尽力而为”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4584700" y="5715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优先保障核心业务，外部接口调用允许失败，通过重试机制兜底，避免因外部依赖拖垮系统。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026400" y="5080000"/>
            <a:ext cx="3467100" cy="1270000"/>
          </a:xfrm>
          <a:prstGeom prst="roundRect">
            <a:avLst>
              <a:gd name="adj" fmla="val 0"/>
            </a:avLst>
          </a:prstGeom>
          <a:solidFill>
            <a:srgbClr val="07C16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16900" y="5270500"/>
            <a:ext cx="355600" cy="3556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8724900" y="52324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配置化与可扩展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216900" y="5715000"/>
            <a:ext cx="3086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通知规则、模板与接收人配置化管理，支持新增业务场景快速接入，降低系统维护成本。</a:t>
            </a:r>
            <a:endParaRPr lang="en-US" sz="1100"/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445000" y="3048000"/>
            <a:ext cx="713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445000" y="444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445000" y="4826000"/>
            <a:ext cx="7137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欢迎各位提出宝贵的意见与建议，我们共同探讨与交流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2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3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4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5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6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7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8.xml><?xml version="1.0" encoding="utf-8"?>
<p:tagLst xmlns:p="http://schemas.openxmlformats.org/presentationml/2006/main">
  <p:tag name="KSO_WM_DIAGRAM_VIRTUALLY_FRAME" val="{&quot;height&quot;:266.05,&quot;left&quot;:20.95,&quot;top&quot;:188.75,&quot;width&quot;:610.15}"/>
</p:tagLst>
</file>

<file path=ppt/tags/tag9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10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11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12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13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14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15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16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17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18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19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20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21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22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23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ags/tag24.xml><?xml version="1.0" encoding="utf-8"?>
<p:tagLst xmlns:p="http://schemas.openxmlformats.org/presentationml/2006/main">
  <p:tag name="KSO_WM_DIAGRAM_VIRTUALLY_FRAME" val="{&quot;height&quot;:237.3,&quot;left&quot;:70.5,&quot;top&quot;:197.3,&quot;width&quot;:822.7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15934</Words>
  <Application>WPS 演示</Application>
  <PresentationFormat/>
  <Paragraphs>1075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67" baseType="lpstr">
      <vt:lpstr>Arial</vt:lpstr>
      <vt:lpstr>宋体</vt:lpstr>
      <vt:lpstr>Wingdings</vt:lpstr>
      <vt:lpstr>Arial</vt:lpstr>
      <vt:lpstr>Noto Sans SC</vt:lpstr>
      <vt:lpstr>Roboto Mono</vt:lpstr>
      <vt:lpstr>Segoe Print</vt:lpstr>
      <vt:lpstr>微软雅黑</vt:lpstr>
      <vt:lpstr>Arial Unicode MS</vt:lpstr>
      <vt:lpstr>Poppins</vt:lpstr>
      <vt:lpstr>Calibri</vt:lpstr>
      <vt:lpstr>Poppins SemiBold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刘辉艺</cp:lastModifiedBy>
  <cp:revision>2</cp:revision>
  <dcterms:created xsi:type="dcterms:W3CDTF">2026-06-09T12:59:00Z</dcterms:created>
  <dcterms:modified xsi:type="dcterms:W3CDTF">2026-06-10T05:29:44Z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{"Label":"1","ContentProducer":"001191110102MACQD9K64010000","ProduceID":"7649366758637669333","ReservedCode1":"","ContentPropagator":"","PropagateID":"","ReservedCode2":""}</vt:lpwstr>
  </property>
  <property fmtid="{D5CDD505-2E9C-101B-9397-08002B2CF9AE}" pid="3" name="ICV">
    <vt:lpwstr>AE49F14FFACB4FAA8D4A3A69C8A5B11F_13</vt:lpwstr>
  </property>
  <property fmtid="{D5CDD505-2E9C-101B-9397-08002B2CF9AE}" pid="4" name="KSOProductBuildVer">
    <vt:lpwstr>2052-12.1.0.23542</vt:lpwstr>
  </property>
</Properties>
</file>