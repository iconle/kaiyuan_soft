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0.svg" ContentType="image/svg+xml"/>
  <Override PartName="/ppt/media/image102.svg" ContentType="image/svg+xml"/>
  <Override PartName="/ppt/media/image104.svg" ContentType="image/svg+xml"/>
  <Override PartName="/ppt/media/image106.svg" ContentType="image/svg+xml"/>
  <Override PartName="/ppt/media/image108.svg" ContentType="image/svg+xml"/>
  <Override PartName="/ppt/media/image110.svg" ContentType="image/svg+xml"/>
  <Override PartName="/ppt/media/image112.svg" ContentType="image/svg+xml"/>
  <Override PartName="/ppt/media/image114.svg" ContentType="image/svg+xml"/>
  <Override PartName="/ppt/media/image116.svg" ContentType="image/svg+xml"/>
  <Override PartName="/ppt/media/image118.svg" ContentType="image/svg+xml"/>
  <Override PartName="/ppt/media/image120.svg" ContentType="image/svg+xml"/>
  <Override PartName="/ppt/media/image122.svg" ContentType="image/svg+xml"/>
  <Override PartName="/ppt/media/image124.svg" ContentType="image/svg+xml"/>
  <Override PartName="/ppt/media/image126.svg" ContentType="image/svg+xml"/>
  <Override PartName="/ppt/media/image128.svg" ContentType="image/svg+xml"/>
  <Override PartName="/ppt/media/image130.svg" ContentType="image/svg+xml"/>
  <Override PartName="/ppt/media/image132.svg" ContentType="image/svg+xml"/>
  <Override PartName="/ppt/media/image134.svg" ContentType="image/svg+xml"/>
  <Override PartName="/ppt/media/image136.svg" ContentType="image/svg+xml"/>
  <Override PartName="/ppt/media/image138.svg" ContentType="image/svg+xml"/>
  <Override PartName="/ppt/media/image140.svg" ContentType="image/svg+xml"/>
  <Override PartName="/ppt/media/image142.svg" ContentType="image/svg+xml"/>
  <Override PartName="/ppt/media/image144.svg" ContentType="image/svg+xml"/>
  <Override PartName="/ppt/media/image146.svg" ContentType="image/svg+xml"/>
  <Override PartName="/ppt/media/image148.svg" ContentType="image/svg+xml"/>
  <Override PartName="/ppt/media/image150.svg" ContentType="image/svg+xml"/>
  <Override PartName="/ppt/media/image152.svg" ContentType="image/svg+xml"/>
  <Override PartName="/ppt/media/image154.svg" ContentType="image/svg+xml"/>
  <Override PartName="/ppt/media/image156.svg" ContentType="image/svg+xml"/>
  <Override PartName="/ppt/media/image158.svg" ContentType="image/svg+xml"/>
  <Override PartName="/ppt/media/image160.svg" ContentType="image/svg+xml"/>
  <Override PartName="/ppt/media/image162.svg" ContentType="image/svg+xml"/>
  <Override PartName="/ppt/media/image164.svg" ContentType="image/svg+xml"/>
  <Override PartName="/ppt/media/image166.svg" ContentType="image/svg+xml"/>
  <Override PartName="/ppt/media/image168.svg" ContentType="image/svg+xml"/>
  <Override PartName="/ppt/media/image96.svg" ContentType="image/svg+xml"/>
  <Override PartName="/ppt/media/image9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639" r:id="rId3"/>
    <p:sldId id="643" r:id="rId5"/>
    <p:sldId id="905" r:id="rId6"/>
    <p:sldId id="928" r:id="rId7"/>
    <p:sldId id="924" r:id="rId8"/>
    <p:sldId id="907" r:id="rId9"/>
    <p:sldId id="927" r:id="rId10"/>
    <p:sldId id="926" r:id="rId11"/>
    <p:sldId id="906" r:id="rId12"/>
    <p:sldId id="930" r:id="rId13"/>
    <p:sldId id="931" r:id="rId14"/>
    <p:sldId id="932" r:id="rId15"/>
    <p:sldId id="933" r:id="rId16"/>
    <p:sldId id="934" r:id="rId17"/>
    <p:sldId id="935" r:id="rId18"/>
    <p:sldId id="936" r:id="rId19"/>
    <p:sldId id="937" r:id="rId20"/>
    <p:sldId id="938" r:id="rId21"/>
    <p:sldId id="939" r:id="rId22"/>
    <p:sldId id="940" r:id="rId23"/>
    <p:sldId id="942" r:id="rId24"/>
    <p:sldId id="941" r:id="rId25"/>
    <p:sldId id="946" r:id="rId26"/>
    <p:sldId id="944" r:id="rId27"/>
    <p:sldId id="948" r:id="rId28"/>
    <p:sldId id="950" r:id="rId29"/>
    <p:sldId id="954" r:id="rId30"/>
    <p:sldId id="952" r:id="rId31"/>
    <p:sldId id="956" r:id="rId32"/>
    <p:sldId id="953" r:id="rId33"/>
    <p:sldId id="947" r:id="rId34"/>
    <p:sldId id="958" r:id="rId35"/>
    <p:sldId id="959" r:id="rId36"/>
    <p:sldId id="960" r:id="rId37"/>
    <p:sldId id="961" r:id="rId38"/>
    <p:sldId id="962" r:id="rId39"/>
    <p:sldId id="963" r:id="rId40"/>
    <p:sldId id="964" r:id="rId41"/>
    <p:sldId id="965" r:id="rId42"/>
    <p:sldId id="966" r:id="rId43"/>
    <p:sldId id="967" r:id="rId44"/>
    <p:sldId id="968" r:id="rId45"/>
    <p:sldId id="969" r:id="rId46"/>
    <p:sldId id="970" r:id="rId47"/>
    <p:sldId id="971" r:id="rId48"/>
    <p:sldId id="972" r:id="rId49"/>
    <p:sldId id="973" r:id="rId50"/>
    <p:sldId id="974" r:id="rId51"/>
    <p:sldId id="975" r:id="rId52"/>
    <p:sldId id="976" r:id="rId53"/>
    <p:sldId id="977" r:id="rId54"/>
    <p:sldId id="978" r:id="rId55"/>
    <p:sldId id="979" r:id="rId56"/>
    <p:sldId id="980" r:id="rId57"/>
    <p:sldId id="981" r:id="rId58"/>
    <p:sldId id="982" r:id="rId59"/>
    <p:sldId id="983" r:id="rId60"/>
    <p:sldId id="984" r:id="rId61"/>
    <p:sldId id="985" r:id="rId62"/>
    <p:sldId id="986" r:id="rId63"/>
    <p:sldId id="716" r:id="rId64"/>
  </p:sldIdLst>
  <p:sldSz cx="12192000" cy="6858000"/>
  <p:notesSz cx="6858000" cy="9144000"/>
  <p:custDataLst>
    <p:tags r:id="rId6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885EBCEA-17E7-46C7-8BF8-09EC538FBA5A}">
          <p14:sldIdLst>
            <p14:sldId id="639"/>
            <p14:sldId id="643"/>
            <p14:sldId id="905"/>
            <p14:sldId id="928"/>
            <p14:sldId id="924"/>
            <p14:sldId id="907"/>
            <p14:sldId id="927"/>
            <p14:sldId id="926"/>
            <p14:sldId id="906"/>
            <p14:sldId id="930"/>
            <p14:sldId id="931"/>
            <p14:sldId id="932"/>
            <p14:sldId id="933"/>
            <p14:sldId id="934"/>
            <p14:sldId id="935"/>
            <p14:sldId id="936"/>
            <p14:sldId id="937"/>
            <p14:sldId id="938"/>
            <p14:sldId id="939"/>
            <p14:sldId id="940"/>
            <p14:sldId id="942"/>
            <p14:sldId id="941"/>
            <p14:sldId id="946"/>
            <p14:sldId id="944"/>
            <p14:sldId id="948"/>
            <p14:sldId id="950"/>
            <p14:sldId id="954"/>
            <p14:sldId id="952"/>
            <p14:sldId id="956"/>
            <p14:sldId id="953"/>
            <p14:sldId id="947"/>
            <p14:sldId id="958"/>
            <p14:sldId id="959"/>
            <p14:sldId id="960"/>
            <p14:sldId id="961"/>
            <p14:sldId id="962"/>
            <p14:sldId id="963"/>
            <p14:sldId id="964"/>
            <p14:sldId id="965"/>
            <p14:sldId id="966"/>
            <p14:sldId id="967"/>
            <p14:sldId id="968"/>
            <p14:sldId id="969"/>
            <p14:sldId id="970"/>
            <p14:sldId id="971"/>
            <p14:sldId id="972"/>
            <p14:sldId id="973"/>
            <p14:sldId id="974"/>
            <p14:sldId id="975"/>
            <p14:sldId id="976"/>
            <p14:sldId id="977"/>
            <p14:sldId id="978"/>
            <p14:sldId id="979"/>
            <p14:sldId id="980"/>
            <p14:sldId id="981"/>
            <p14:sldId id="982"/>
            <p14:sldId id="983"/>
            <p14:sldId id="984"/>
            <p14:sldId id="985"/>
            <p14:sldId id="986"/>
            <p14:sldId id="71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BE3"/>
    <a:srgbClr val="66CCFF"/>
    <a:srgbClr val="FFFF66"/>
    <a:srgbClr val="FFFFFF"/>
    <a:srgbClr val="394761"/>
    <a:srgbClr val="023C99"/>
    <a:srgbClr val="D0B296"/>
    <a:srgbClr val="538B4B"/>
    <a:srgbClr val="E8FAE5"/>
    <a:srgbClr val="9DA9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85139CC-8629-429D-AF3D-B1C0E38B988B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6700" autoAdjust="0"/>
  </p:normalViewPr>
  <p:slideViewPr>
    <p:cSldViewPr snapToGrid="0" showGuides="1">
      <p:cViewPr varScale="1">
        <p:scale>
          <a:sx n="73" d="100"/>
          <a:sy n="73" d="100"/>
        </p:scale>
        <p:origin x="1070" y="67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8" Type="http://schemas.openxmlformats.org/officeDocument/2006/relationships/tags" Target="tags/tag76.xml"/><Relationship Id="rId67" Type="http://schemas.openxmlformats.org/officeDocument/2006/relationships/tableStyles" Target="tableStyles.xml"/><Relationship Id="rId66" Type="http://schemas.openxmlformats.org/officeDocument/2006/relationships/viewProps" Target="viewProps.xml"/><Relationship Id="rId65" Type="http://schemas.openxmlformats.org/officeDocument/2006/relationships/presProps" Target="presProps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" name="Google Shape;92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" name="Google Shape;114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3" name="Google Shape;133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6" name="Google Shape;156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2" name="Google Shape;182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4" name="Google Shape;194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7" name="Google Shape;207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1" name="Google Shape;221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2" name="Google Shape;232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3" name="Google Shape;243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7" name="Google Shape;257;p1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6" name="Google Shape;276;p1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2" name="Google Shape;302;p1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9" name="Google Shape;329;p1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为大家梳理我们团队关于企业微信通知系统的实现方案。本次分享主要围绕浙江师范大学校讯推平台的集成展开，旨在展示我们如何通过技术手段，实现高效、可靠的消息触达。我们将深入探讨系统架构、核心技术、通知场景以及可靠性设计等关键环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分享将分为六个部分。首先，我们会对系统的整体架构进行一个概览。接着，深入探讨核心技术的实现细节。然后，我们会详细介绍不同的通知类型及其调用链路。之后，将展示系统覆盖的所有通知场景。第五部分会重点讲解系统的可靠性设计和群发机制。最后，对整个方案进行总结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来看系统的整体架构。我们采用了双通道通知模式，即数据库的站内通知和企业微信的API推送相结合。这种设计的核心思路是解耦，确保即使微信推送失败，也不会影响请假、出差等核心业务的正常流转。所有的微信推送请求都会通过我们的中转服务，再调用校讯推平台的接口，最终发送到用户的企业微信客户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看技术实现的细节。首先是配置管理，我们通过application.yml文件集中管理所有关键配置，如应用ID、密钥和接口地址。其次是Token管理，这是调用校讯推接口的凭证。我们实现了一套自动缓存和刷新机制，Token有效期为2小时，并会提前5分钟自动刷新，同时通过同步锁保证了线程安全，避免了并发请求时重复获取Token的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消息发送方面，我们支持两种类型：纯文本消息和卡片消息。卡片消息支持跳转，体验更好。系统会根据是否能构建有效的跳转URL来自动选择发送哪种类型。同时，我们还设计了智能的按钮文字规则，比如标题包含“待审批”，按钮就会显示“去审批”，让通知更具场景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将通知定义为三种类型：审批通知、系统通知和抄送通知。审批通知是最核心的，用于触发审批流程。系统通知主要用于系统级的广播或状态变更告知。抄送通知则用于信息同步，不要求接收者采取行动。这种分类有助于我们对不同场景的通知进行统一管理和差异化处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一个完整的调用链路图。当用户在前端进行操作后，请求会到达Controller，然后进入相应的业务Service。在业务逻辑中，我们首先会写入站内通知到数据库，保证消息的可靠记录。接着，调用微信通知服务，根据业务场景构建URL和按钮文字，判断后选择发送卡片或文本消息，最终完成推送。整个流程清晰、解耦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看看具体的通知场景。我们的系统主要覆盖了请假和出差两大核心流程。以请假为例，从提交申请到最终销假，每一步都会触发相应的通知。比如，学生提交请假后，系统会立即通知审批人；审批通过后，会通知院办和考勤老师。这些通知都以卡片形式发送，并带有明确的操作按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表格汇总了我们系统覆盖的核心通知场景。可以看到，无论是请假提交、审批驳回，还是调课审核、销假，我们都设计了对应的通知逻辑，并明确了通知对象和通知类型。例如，审批通过后，不仅要通知系统角色（院办），还要通知抄送人，确保信息同步无遗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保证系统的稳定性，我们设计了多层防护机制。从功能开关、用户验证，到Token获取和HTTP调用，每一步都有异常处理和日志记录，确保任何环节的失败都不会导致整个系统崩溃。在可靠性设计上，我们遵循“站内通知高可靠，微信推送尽力而为”的原则，确保主业务流程不受外部API调用的影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需要通知多个人的场景，比如通知院办所有成员，我们实现了按角色群发的机制。系统会先根据角色查询到所有用户，然后为每个人写入站内通知，最后收集用户ID，调用批量接口一次性发送微信通知。我们预设了院办、考勤老师等核心角色，覆盖了大部分群发场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进行总结。我们的企业微信通知系统有四大核心亮点：双通道通知、灵活的消息策略、高可用设计以及对业务场景的全面覆盖。整个设计遵循了业务与通知解耦、外部调用尽力而为、以及配置化可扩展的原则，确保了系统的稳定性和易用性。我的分享到此结束，谢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012905" y="6394752"/>
            <a:ext cx="685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012905" y="6394752"/>
            <a:ext cx="685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3553758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2117179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accent2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5242560" y="3025032"/>
            <a:ext cx="1706880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  <p:sp>
        <p:nvSpPr>
          <p:cNvPr id="3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012905" y="6394752"/>
            <a:ext cx="685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798094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559444" y="196496"/>
            <a:ext cx="8225742" cy="460502"/>
          </a:xfrm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>
            <a:lvl1pPr>
              <a:defRPr lang="zh-CN" altLang="en-US" sz="28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ea"/>
              </a:defRPr>
            </a:lvl1pPr>
          </a:lstStyle>
          <a:p>
            <a:pPr lvl="0"/>
            <a:r>
              <a:rPr lang="zh-CN" altLang="en-US" dirty="0"/>
              <a:t>单击此处标题</a:t>
            </a:r>
            <a:endParaRPr lang="zh-CN" altLang="en-US" dirty="0"/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012905" y="6394752"/>
            <a:ext cx="685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BA3452-3CC8-4E8B-993B-C9E13B0C4846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7.xml"/><Relationship Id="rId7" Type="http://schemas.openxmlformats.org/officeDocument/2006/relationships/image" Target="../media/image1.png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notesSlide" Target="../notesSlides/notesSlide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8" Type="http://schemas.openxmlformats.org/officeDocument/2006/relationships/notesSlide" Target="../notesSlides/notesSlide2.xml"/><Relationship Id="rId17" Type="http://schemas.openxmlformats.org/officeDocument/2006/relationships/slideLayout" Target="../slideLayouts/slideLayout4.xml"/><Relationship Id="rId16" Type="http://schemas.openxmlformats.org/officeDocument/2006/relationships/tags" Target="../tags/tag23.xml"/><Relationship Id="rId15" Type="http://schemas.openxmlformats.org/officeDocument/2006/relationships/tags" Target="../tags/tag22.xml"/><Relationship Id="rId14" Type="http://schemas.openxmlformats.org/officeDocument/2006/relationships/tags" Target="../tags/tag21.xml"/><Relationship Id="rId13" Type="http://schemas.openxmlformats.org/officeDocument/2006/relationships/tags" Target="../tags/tag20.xml"/><Relationship Id="rId12" Type="http://schemas.openxmlformats.org/officeDocument/2006/relationships/tags" Target="../tags/tag19.xml"/><Relationship Id="rId11" Type="http://schemas.openxmlformats.org/officeDocument/2006/relationships/tags" Target="../tags/tag18.xml"/><Relationship Id="rId10" Type="http://schemas.openxmlformats.org/officeDocument/2006/relationships/tags" Target="../tags/tag1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24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25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4.xml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7.xml"/><Relationship Id="rId8" Type="http://schemas.openxmlformats.org/officeDocument/2006/relationships/slideLayout" Target="../slideLayouts/slideLayout4.xml"/><Relationship Id="rId7" Type="http://schemas.openxmlformats.org/officeDocument/2006/relationships/image" Target="../media/image31.png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2.png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3.png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0.x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38.png"/><Relationship Id="rId2" Type="http://schemas.openxmlformats.org/officeDocument/2006/relationships/tags" Target="../tags/tag42.xml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2.png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43.xml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9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4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3.png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2.xml"/><Relationship Id="rId8" Type="http://schemas.openxmlformats.org/officeDocument/2006/relationships/slideLayout" Target="../slideLayouts/slideLayout6.xml"/><Relationship Id="rId7" Type="http://schemas.openxmlformats.org/officeDocument/2006/relationships/image" Target="../media/image59.png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3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60.png"/><Relationship Id="rId1" Type="http://schemas.openxmlformats.org/officeDocument/2006/relationships/image" Target="../media/image53.png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5.xml"/><Relationship Id="rId8" Type="http://schemas.openxmlformats.org/officeDocument/2006/relationships/slideLayout" Target="../slideLayouts/slideLayout6.xml"/><Relationship Id="rId7" Type="http://schemas.openxmlformats.org/officeDocument/2006/relationships/image" Target="../media/image66.png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image" Target="../media/image53.png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6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image" Target="../media/image67.png"/></Relationships>
</file>

<file path=ppt/slides/_rels/slide3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7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72.png"/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image" Target="../media/image5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74.png"/><Relationship Id="rId1" Type="http://schemas.openxmlformats.org/officeDocument/2006/relationships/image" Target="../media/image73.png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8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image" Target="../media/image53.png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9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image" Target="../media/image53.png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0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image" Target="../media/image53.png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1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image" Target="../media/image53.png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tags" Target="../tags/tag46.xml"/><Relationship Id="rId3" Type="http://schemas.openxmlformats.org/officeDocument/2006/relationships/image" Target="../media/image83.png"/><Relationship Id="rId2" Type="http://schemas.openxmlformats.org/officeDocument/2006/relationships/tags" Target="../tags/tag45.xml"/><Relationship Id="rId17" Type="http://schemas.openxmlformats.org/officeDocument/2006/relationships/notesSlide" Target="../notesSlides/notesSlide42.xml"/><Relationship Id="rId16" Type="http://schemas.openxmlformats.org/officeDocument/2006/relationships/slideLayout" Target="../slideLayouts/slideLayout6.xml"/><Relationship Id="rId15" Type="http://schemas.openxmlformats.org/officeDocument/2006/relationships/image" Target="../media/image88.png"/><Relationship Id="rId14" Type="http://schemas.openxmlformats.org/officeDocument/2006/relationships/image" Target="../media/image87.png"/><Relationship Id="rId13" Type="http://schemas.openxmlformats.org/officeDocument/2006/relationships/tags" Target="../tags/tag52.xml"/><Relationship Id="rId12" Type="http://schemas.openxmlformats.org/officeDocument/2006/relationships/image" Target="../media/image86.png"/><Relationship Id="rId11" Type="http://schemas.openxmlformats.org/officeDocument/2006/relationships/tags" Target="../tags/tag51.xml"/><Relationship Id="rId10" Type="http://schemas.openxmlformats.org/officeDocument/2006/relationships/tags" Target="../tags/tag50.xml"/><Relationship Id="rId1" Type="http://schemas.openxmlformats.org/officeDocument/2006/relationships/image" Target="../media/image53.png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3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89.png"/><Relationship Id="rId1" Type="http://schemas.openxmlformats.org/officeDocument/2006/relationships/image" Target="../media/image53.png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tags" Target="../tags/tag58.xml"/><Relationship Id="rId8" Type="http://schemas.openxmlformats.org/officeDocument/2006/relationships/tags" Target="../tags/tag57.xml"/><Relationship Id="rId7" Type="http://schemas.openxmlformats.org/officeDocument/2006/relationships/tags" Target="../tags/tag56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image" Target="../media/image91.png"/><Relationship Id="rId21" Type="http://schemas.openxmlformats.org/officeDocument/2006/relationships/notesSlide" Target="../notesSlides/notesSlide44.xml"/><Relationship Id="rId20" Type="http://schemas.openxmlformats.org/officeDocument/2006/relationships/slideLayout" Target="../slideLayouts/slideLayout6.xml"/><Relationship Id="rId2" Type="http://schemas.openxmlformats.org/officeDocument/2006/relationships/image" Target="../media/image90.png"/><Relationship Id="rId19" Type="http://schemas.openxmlformats.org/officeDocument/2006/relationships/tags" Target="../tags/tag68.xml"/><Relationship Id="rId18" Type="http://schemas.openxmlformats.org/officeDocument/2006/relationships/tags" Target="../tags/tag67.xml"/><Relationship Id="rId17" Type="http://schemas.openxmlformats.org/officeDocument/2006/relationships/tags" Target="../tags/tag66.xml"/><Relationship Id="rId16" Type="http://schemas.openxmlformats.org/officeDocument/2006/relationships/tags" Target="../tags/tag65.xml"/><Relationship Id="rId15" Type="http://schemas.openxmlformats.org/officeDocument/2006/relationships/tags" Target="../tags/tag64.xml"/><Relationship Id="rId14" Type="http://schemas.openxmlformats.org/officeDocument/2006/relationships/tags" Target="../tags/tag63.xml"/><Relationship Id="rId13" Type="http://schemas.openxmlformats.org/officeDocument/2006/relationships/tags" Target="../tags/tag62.xml"/><Relationship Id="rId12" Type="http://schemas.openxmlformats.org/officeDocument/2006/relationships/tags" Target="../tags/tag61.xml"/><Relationship Id="rId11" Type="http://schemas.openxmlformats.org/officeDocument/2006/relationships/tags" Target="../tags/tag60.xml"/><Relationship Id="rId10" Type="http://schemas.openxmlformats.org/officeDocument/2006/relationships/tags" Target="../tags/tag59.xml"/><Relationship Id="rId1" Type="http://schemas.openxmlformats.org/officeDocument/2006/relationships/image" Target="../media/image53.png"/></Relationships>
</file>

<file path=ppt/slides/_rels/slide4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5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94.png"/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image" Target="../media/image53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3.png"/><Relationship Id="rId8" Type="http://schemas.openxmlformats.org/officeDocument/2006/relationships/image" Target="../media/image102.svg"/><Relationship Id="rId7" Type="http://schemas.openxmlformats.org/officeDocument/2006/relationships/image" Target="../media/image101.png"/><Relationship Id="rId6" Type="http://schemas.openxmlformats.org/officeDocument/2006/relationships/image" Target="../media/image100.svg"/><Relationship Id="rId5" Type="http://schemas.openxmlformats.org/officeDocument/2006/relationships/image" Target="../media/image99.png"/><Relationship Id="rId4" Type="http://schemas.openxmlformats.org/officeDocument/2006/relationships/image" Target="../media/image98.svg"/><Relationship Id="rId3" Type="http://schemas.openxmlformats.org/officeDocument/2006/relationships/image" Target="../media/image97.png"/><Relationship Id="rId2" Type="http://schemas.openxmlformats.org/officeDocument/2006/relationships/image" Target="../media/image96.svg"/><Relationship Id="rId16" Type="http://schemas.openxmlformats.org/officeDocument/2006/relationships/notesSlide" Target="../notesSlides/notesSlide48.xml"/><Relationship Id="rId15" Type="http://schemas.openxmlformats.org/officeDocument/2006/relationships/slideLayout" Target="../slideLayouts/slideLayout5.xml"/><Relationship Id="rId14" Type="http://schemas.openxmlformats.org/officeDocument/2006/relationships/image" Target="../media/image108.svg"/><Relationship Id="rId13" Type="http://schemas.openxmlformats.org/officeDocument/2006/relationships/image" Target="../media/image107.png"/><Relationship Id="rId12" Type="http://schemas.openxmlformats.org/officeDocument/2006/relationships/image" Target="../media/image106.svg"/><Relationship Id="rId11" Type="http://schemas.openxmlformats.org/officeDocument/2006/relationships/image" Target="../media/image105.png"/><Relationship Id="rId10" Type="http://schemas.openxmlformats.org/officeDocument/2006/relationships/image" Target="../media/image104.svg"/><Relationship Id="rId1" Type="http://schemas.openxmlformats.org/officeDocument/2006/relationships/image" Target="../media/image95.png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5.png"/><Relationship Id="rId8" Type="http://schemas.openxmlformats.org/officeDocument/2006/relationships/image" Target="../media/image114.svg"/><Relationship Id="rId7" Type="http://schemas.openxmlformats.org/officeDocument/2006/relationships/image" Target="../media/image113.png"/><Relationship Id="rId6" Type="http://schemas.openxmlformats.org/officeDocument/2006/relationships/image" Target="../media/image104.svg"/><Relationship Id="rId5" Type="http://schemas.openxmlformats.org/officeDocument/2006/relationships/image" Target="../media/image103.png"/><Relationship Id="rId4" Type="http://schemas.openxmlformats.org/officeDocument/2006/relationships/image" Target="../media/image112.svg"/><Relationship Id="rId3" Type="http://schemas.openxmlformats.org/officeDocument/2006/relationships/image" Target="../media/image111.png"/><Relationship Id="rId2" Type="http://schemas.openxmlformats.org/officeDocument/2006/relationships/image" Target="../media/image110.svg"/><Relationship Id="rId14" Type="http://schemas.openxmlformats.org/officeDocument/2006/relationships/notesSlide" Target="../notesSlides/notesSlide49.xml"/><Relationship Id="rId13" Type="http://schemas.openxmlformats.org/officeDocument/2006/relationships/slideLayout" Target="../slideLayouts/slideLayout5.xml"/><Relationship Id="rId12" Type="http://schemas.openxmlformats.org/officeDocument/2006/relationships/image" Target="../media/image118.svg"/><Relationship Id="rId11" Type="http://schemas.openxmlformats.org/officeDocument/2006/relationships/image" Target="../media/image117.png"/><Relationship Id="rId10" Type="http://schemas.openxmlformats.org/officeDocument/2006/relationships/image" Target="../media/image116.svg"/><Relationship Id="rId1" Type="http://schemas.openxmlformats.org/officeDocument/2006/relationships/image" Target="../media/image109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0.xml"/><Relationship Id="rId7" Type="http://schemas.openxmlformats.org/officeDocument/2006/relationships/slideLayout" Target="../slideLayouts/slideLayout5.xml"/><Relationship Id="rId6" Type="http://schemas.openxmlformats.org/officeDocument/2006/relationships/image" Target="../media/image124.svg"/><Relationship Id="rId5" Type="http://schemas.openxmlformats.org/officeDocument/2006/relationships/image" Target="../media/image123.png"/><Relationship Id="rId4" Type="http://schemas.openxmlformats.org/officeDocument/2006/relationships/image" Target="../media/image122.svg"/><Relationship Id="rId3" Type="http://schemas.openxmlformats.org/officeDocument/2006/relationships/image" Target="../media/image121.png"/><Relationship Id="rId2" Type="http://schemas.openxmlformats.org/officeDocument/2006/relationships/image" Target="../media/image120.svg"/><Relationship Id="rId1" Type="http://schemas.openxmlformats.org/officeDocument/2006/relationships/image" Target="../media/image119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1.xml"/><Relationship Id="rId7" Type="http://schemas.openxmlformats.org/officeDocument/2006/relationships/slideLayout" Target="../slideLayouts/slideLayout5.xml"/><Relationship Id="rId6" Type="http://schemas.openxmlformats.org/officeDocument/2006/relationships/image" Target="../media/image128.svg"/><Relationship Id="rId5" Type="http://schemas.openxmlformats.org/officeDocument/2006/relationships/image" Target="../media/image127.png"/><Relationship Id="rId4" Type="http://schemas.openxmlformats.org/officeDocument/2006/relationships/image" Target="../media/image106.svg"/><Relationship Id="rId3" Type="http://schemas.openxmlformats.org/officeDocument/2006/relationships/image" Target="../media/image105.png"/><Relationship Id="rId2" Type="http://schemas.openxmlformats.org/officeDocument/2006/relationships/image" Target="../media/image126.svg"/><Relationship Id="rId1" Type="http://schemas.openxmlformats.org/officeDocument/2006/relationships/image" Target="../media/image125.png"/></Relationships>
</file>

<file path=ppt/slides/_rels/slide5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5.png"/><Relationship Id="rId8" Type="http://schemas.openxmlformats.org/officeDocument/2006/relationships/image" Target="../media/image96.svg"/><Relationship Id="rId7" Type="http://schemas.openxmlformats.org/officeDocument/2006/relationships/image" Target="../media/image95.png"/><Relationship Id="rId6" Type="http://schemas.openxmlformats.org/officeDocument/2006/relationships/image" Target="../media/image134.svg"/><Relationship Id="rId5" Type="http://schemas.openxmlformats.org/officeDocument/2006/relationships/image" Target="../media/image133.png"/><Relationship Id="rId4" Type="http://schemas.openxmlformats.org/officeDocument/2006/relationships/image" Target="../media/image132.svg"/><Relationship Id="rId3" Type="http://schemas.openxmlformats.org/officeDocument/2006/relationships/image" Target="../media/image131.png"/><Relationship Id="rId2" Type="http://schemas.openxmlformats.org/officeDocument/2006/relationships/image" Target="../media/image130.svg"/><Relationship Id="rId16" Type="http://schemas.openxmlformats.org/officeDocument/2006/relationships/notesSlide" Target="../notesSlides/notesSlide52.xml"/><Relationship Id="rId15" Type="http://schemas.openxmlformats.org/officeDocument/2006/relationships/slideLayout" Target="../slideLayouts/slideLayout5.xml"/><Relationship Id="rId14" Type="http://schemas.openxmlformats.org/officeDocument/2006/relationships/image" Target="../media/image140.svg"/><Relationship Id="rId13" Type="http://schemas.openxmlformats.org/officeDocument/2006/relationships/image" Target="../media/image139.png"/><Relationship Id="rId12" Type="http://schemas.openxmlformats.org/officeDocument/2006/relationships/image" Target="../media/image138.svg"/><Relationship Id="rId11" Type="http://schemas.openxmlformats.org/officeDocument/2006/relationships/image" Target="../media/image137.png"/><Relationship Id="rId10" Type="http://schemas.openxmlformats.org/officeDocument/2006/relationships/image" Target="../media/image136.svg"/><Relationship Id="rId1" Type="http://schemas.openxmlformats.org/officeDocument/2006/relationships/image" Target="../media/image129.png"/></Relationships>
</file>

<file path=ppt/slides/_rels/slide5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3.xml"/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144.svg"/><Relationship Id="rId3" Type="http://schemas.openxmlformats.org/officeDocument/2006/relationships/image" Target="../media/image143.png"/><Relationship Id="rId2" Type="http://schemas.openxmlformats.org/officeDocument/2006/relationships/image" Target="../media/image142.svg"/><Relationship Id="rId1" Type="http://schemas.openxmlformats.org/officeDocument/2006/relationships/image" Target="../media/image141.png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4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46.svg"/><Relationship Id="rId1" Type="http://schemas.openxmlformats.org/officeDocument/2006/relationships/image" Target="../media/image145.png"/></Relationships>
</file>

<file path=ppt/slides/_rels/slide5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1.png"/><Relationship Id="rId8" Type="http://schemas.openxmlformats.org/officeDocument/2006/relationships/image" Target="../media/image150.svg"/><Relationship Id="rId7" Type="http://schemas.openxmlformats.org/officeDocument/2006/relationships/image" Target="../media/image149.png"/><Relationship Id="rId6" Type="http://schemas.openxmlformats.org/officeDocument/2006/relationships/image" Target="../media/image112.svg"/><Relationship Id="rId5" Type="http://schemas.openxmlformats.org/officeDocument/2006/relationships/image" Target="../media/image111.png"/><Relationship Id="rId4" Type="http://schemas.openxmlformats.org/officeDocument/2006/relationships/image" Target="../media/image148.svg"/><Relationship Id="rId3" Type="http://schemas.openxmlformats.org/officeDocument/2006/relationships/image" Target="../media/image147.png"/><Relationship Id="rId2" Type="http://schemas.openxmlformats.org/officeDocument/2006/relationships/image" Target="../media/image138.svg"/><Relationship Id="rId16" Type="http://schemas.openxmlformats.org/officeDocument/2006/relationships/notesSlide" Target="../notesSlides/notesSlide55.xml"/><Relationship Id="rId15" Type="http://schemas.openxmlformats.org/officeDocument/2006/relationships/slideLayout" Target="../slideLayouts/slideLayout5.xml"/><Relationship Id="rId14" Type="http://schemas.openxmlformats.org/officeDocument/2006/relationships/image" Target="../media/image154.svg"/><Relationship Id="rId13" Type="http://schemas.openxmlformats.org/officeDocument/2006/relationships/image" Target="../media/image153.png"/><Relationship Id="rId12" Type="http://schemas.openxmlformats.org/officeDocument/2006/relationships/image" Target="../media/image152.svg"/><Relationship Id="rId11" Type="http://schemas.openxmlformats.org/officeDocument/2006/relationships/image" Target="../media/image151.png"/><Relationship Id="rId10" Type="http://schemas.openxmlformats.org/officeDocument/2006/relationships/image" Target="../media/image132.svg"/><Relationship Id="rId1" Type="http://schemas.openxmlformats.org/officeDocument/2006/relationships/image" Target="../media/image137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6.xml"/><Relationship Id="rId7" Type="http://schemas.openxmlformats.org/officeDocument/2006/relationships/slideLayout" Target="../slideLayouts/slideLayout5.xml"/><Relationship Id="rId6" Type="http://schemas.openxmlformats.org/officeDocument/2006/relationships/image" Target="../media/image160.svg"/><Relationship Id="rId5" Type="http://schemas.openxmlformats.org/officeDocument/2006/relationships/image" Target="../media/image159.png"/><Relationship Id="rId4" Type="http://schemas.openxmlformats.org/officeDocument/2006/relationships/image" Target="../media/image158.svg"/><Relationship Id="rId3" Type="http://schemas.openxmlformats.org/officeDocument/2006/relationships/image" Target="../media/image157.png"/><Relationship Id="rId2" Type="http://schemas.openxmlformats.org/officeDocument/2006/relationships/image" Target="../media/image156.svg"/><Relationship Id="rId1" Type="http://schemas.openxmlformats.org/officeDocument/2006/relationships/image" Target="../media/image155.png"/></Relationships>
</file>

<file path=ppt/slides/_rels/slide6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3.png"/><Relationship Id="rId8" Type="http://schemas.openxmlformats.org/officeDocument/2006/relationships/image" Target="../media/image166.svg"/><Relationship Id="rId7" Type="http://schemas.openxmlformats.org/officeDocument/2006/relationships/image" Target="../media/image165.png"/><Relationship Id="rId6" Type="http://schemas.openxmlformats.org/officeDocument/2006/relationships/image" Target="../media/image118.svg"/><Relationship Id="rId5" Type="http://schemas.openxmlformats.org/officeDocument/2006/relationships/image" Target="../media/image117.png"/><Relationship Id="rId4" Type="http://schemas.openxmlformats.org/officeDocument/2006/relationships/image" Target="../media/image164.svg"/><Relationship Id="rId3" Type="http://schemas.openxmlformats.org/officeDocument/2006/relationships/image" Target="../media/image163.png"/><Relationship Id="rId2" Type="http://schemas.openxmlformats.org/officeDocument/2006/relationships/image" Target="../media/image162.svg"/><Relationship Id="rId17" Type="http://schemas.openxmlformats.org/officeDocument/2006/relationships/notesSlide" Target="../notesSlides/notesSlide57.xml"/><Relationship Id="rId16" Type="http://schemas.openxmlformats.org/officeDocument/2006/relationships/slideLayout" Target="../slideLayouts/slideLayout5.xml"/><Relationship Id="rId15" Type="http://schemas.openxmlformats.org/officeDocument/2006/relationships/image" Target="../media/image169.png"/><Relationship Id="rId14" Type="http://schemas.openxmlformats.org/officeDocument/2006/relationships/image" Target="../media/image110.svg"/><Relationship Id="rId13" Type="http://schemas.openxmlformats.org/officeDocument/2006/relationships/image" Target="../media/image109.png"/><Relationship Id="rId12" Type="http://schemas.openxmlformats.org/officeDocument/2006/relationships/image" Target="../media/image168.svg"/><Relationship Id="rId11" Type="http://schemas.openxmlformats.org/officeDocument/2006/relationships/image" Target="../media/image167.png"/><Relationship Id="rId10" Type="http://schemas.openxmlformats.org/officeDocument/2006/relationships/image" Target="../media/image134.svg"/><Relationship Id="rId1" Type="http://schemas.openxmlformats.org/officeDocument/2006/relationships/image" Target="../media/image161.png"/></Relationships>
</file>

<file path=ppt/slides/_rels/slide6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75.xml"/><Relationship Id="rId7" Type="http://schemas.openxmlformats.org/officeDocument/2006/relationships/image" Target="../media/image1.png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0" Type="http://schemas.openxmlformats.org/officeDocument/2006/relationships/notesSlide" Target="../notesSlides/notesSlide58.xml"/><Relationship Id="rId1" Type="http://schemas.openxmlformats.org/officeDocument/2006/relationships/tags" Target="../tags/tag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powerpoint template design by DAJU_PPT正版来源小红书大橘PPT微信DAJU_PPT请勿抄袭搬运！盗版必究！"/>
          <p:cNvGrpSpPr/>
          <p:nvPr/>
        </p:nvGrpSpPr>
        <p:grpSpPr>
          <a:xfrm>
            <a:off x="0" y="5283200"/>
            <a:ext cx="12192188" cy="1574800"/>
            <a:chOff x="1" y="5283225"/>
            <a:chExt cx="12191999" cy="1574776"/>
          </a:xfrm>
        </p:grpSpPr>
        <p:sp>
          <p:nvSpPr>
            <p:cNvPr id="7" name="powerpoint template design by DAJU_PPT正版来源小红书大橘PPT微信DAJU_PPT请勿抄袭搬运！盗版必究！-1"/>
            <p:cNvSpPr/>
            <p:nvPr/>
          </p:nvSpPr>
          <p:spPr>
            <a:xfrm>
              <a:off x="1" y="5283225"/>
              <a:ext cx="12191999" cy="1574776"/>
            </a:xfrm>
            <a:custGeom>
              <a:avLst/>
              <a:gdLst>
                <a:gd name="connsiteX0" fmla="*/ 0 w 12191999"/>
                <a:gd name="connsiteY0" fmla="*/ 0 h 1574776"/>
                <a:gd name="connsiteX1" fmla="*/ 121527 w 12191999"/>
                <a:gd name="connsiteY1" fmla="*/ 105084 h 1574776"/>
                <a:gd name="connsiteX2" fmla="*/ 6096001 w 12191999"/>
                <a:gd name="connsiteY2" fmla="*/ 1545053 h 1574776"/>
                <a:gd name="connsiteX3" fmla="*/ 12070473 w 12191999"/>
                <a:gd name="connsiteY3" fmla="*/ 105085 h 1574776"/>
                <a:gd name="connsiteX4" fmla="*/ 12191999 w 12191999"/>
                <a:gd name="connsiteY4" fmla="*/ 1 h 1574776"/>
                <a:gd name="connsiteX5" fmla="*/ 12191999 w 12191999"/>
                <a:gd name="connsiteY5" fmla="*/ 1574776 h 1574776"/>
                <a:gd name="connsiteX6" fmla="*/ 0 w 12191999"/>
                <a:gd name="connsiteY6" fmla="*/ 1574776 h 1574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1574776">
                  <a:moveTo>
                    <a:pt x="0" y="0"/>
                  </a:moveTo>
                  <a:lnTo>
                    <a:pt x="121527" y="105084"/>
                  </a:lnTo>
                  <a:cubicBezTo>
                    <a:pt x="1232752" y="959961"/>
                    <a:pt x="3490973" y="1545053"/>
                    <a:pt x="6096001" y="1545053"/>
                  </a:cubicBezTo>
                  <a:cubicBezTo>
                    <a:pt x="8701028" y="1545053"/>
                    <a:pt x="10959248" y="959962"/>
                    <a:pt x="12070473" y="105085"/>
                  </a:cubicBezTo>
                  <a:lnTo>
                    <a:pt x="12191999" y="1"/>
                  </a:lnTo>
                  <a:lnTo>
                    <a:pt x="12191999" y="1574776"/>
                  </a:lnTo>
                  <a:lnTo>
                    <a:pt x="0" y="1574776"/>
                  </a:lnTo>
                  <a:close/>
                </a:path>
              </a:pathLst>
            </a:cu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  <p:sp>
          <p:nvSpPr>
            <p:cNvPr id="8" name="powerpoint template design by DAJU_PPT正版来源小红书大橘PPT微信DAJU_PPT请勿抄袭搬运！盗版必究！-2" hidden="1"/>
            <p:cNvSpPr/>
            <p:nvPr userDrawn="1"/>
          </p:nvSpPr>
          <p:spPr>
            <a:xfrm>
              <a:off x="1" y="5804166"/>
              <a:ext cx="12191999" cy="1053835"/>
            </a:xfrm>
            <a:custGeom>
              <a:avLst/>
              <a:gdLst>
                <a:gd name="connsiteX0" fmla="*/ 0 w 12191999"/>
                <a:gd name="connsiteY0" fmla="*/ 0 h 1053835"/>
                <a:gd name="connsiteX1" fmla="*/ 84912 w 12191999"/>
                <a:gd name="connsiteY1" fmla="*/ 44439 h 1053835"/>
                <a:gd name="connsiteX2" fmla="*/ 6096001 w 12191999"/>
                <a:gd name="connsiteY2" fmla="*/ 918960 h 1053835"/>
                <a:gd name="connsiteX3" fmla="*/ 12107089 w 12191999"/>
                <a:gd name="connsiteY3" fmla="*/ 44439 h 1053835"/>
                <a:gd name="connsiteX4" fmla="*/ 12191999 w 12191999"/>
                <a:gd name="connsiteY4" fmla="*/ 1 h 1053835"/>
                <a:gd name="connsiteX5" fmla="*/ 12191999 w 12191999"/>
                <a:gd name="connsiteY5" fmla="*/ 1053835 h 1053835"/>
                <a:gd name="connsiteX6" fmla="*/ 0 w 12191999"/>
                <a:gd name="connsiteY6" fmla="*/ 1053835 h 1053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1053835">
                  <a:moveTo>
                    <a:pt x="0" y="0"/>
                  </a:moveTo>
                  <a:lnTo>
                    <a:pt x="84912" y="44439"/>
                  </a:lnTo>
                  <a:cubicBezTo>
                    <a:pt x="1182612" y="562756"/>
                    <a:pt x="3462028" y="918960"/>
                    <a:pt x="6096001" y="918960"/>
                  </a:cubicBezTo>
                  <a:cubicBezTo>
                    <a:pt x="8729972" y="918960"/>
                    <a:pt x="11009388" y="562756"/>
                    <a:pt x="12107089" y="44439"/>
                  </a:cubicBezTo>
                  <a:lnTo>
                    <a:pt x="12191999" y="1"/>
                  </a:lnTo>
                  <a:lnTo>
                    <a:pt x="12191999" y="1053835"/>
                  </a:lnTo>
                  <a:lnTo>
                    <a:pt x="0" y="1053835"/>
                  </a:lnTo>
                  <a:close/>
                </a:path>
              </a:pathLst>
            </a:custGeom>
            <a:solidFill>
              <a:srgbClr val="FFFFFF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  <p:sp>
          <p:nvSpPr>
            <p:cNvPr id="9" name="powerpoint template design by DAJU_PPT正版来源小红书大橘PPT微信DAJU_PPT请勿抄袭搬运！盗版必究！-3"/>
            <p:cNvSpPr/>
            <p:nvPr userDrawn="1"/>
          </p:nvSpPr>
          <p:spPr>
            <a:xfrm>
              <a:off x="1" y="5826095"/>
              <a:ext cx="12191999" cy="1031906"/>
            </a:xfrm>
            <a:custGeom>
              <a:avLst/>
              <a:gdLst>
                <a:gd name="connsiteX0" fmla="*/ 0 w 12191999"/>
                <a:gd name="connsiteY0" fmla="*/ 0 h 1031906"/>
                <a:gd name="connsiteX1" fmla="*/ 97612 w 12191999"/>
                <a:gd name="connsiteY1" fmla="*/ 51085 h 1031906"/>
                <a:gd name="connsiteX2" fmla="*/ 6108700 w 12191999"/>
                <a:gd name="connsiteY2" fmla="*/ 925606 h 1031906"/>
                <a:gd name="connsiteX3" fmla="*/ 12119789 w 12191999"/>
                <a:gd name="connsiteY3" fmla="*/ 51085 h 1031906"/>
                <a:gd name="connsiteX4" fmla="*/ 12191999 w 12191999"/>
                <a:gd name="connsiteY4" fmla="*/ 13293 h 1031906"/>
                <a:gd name="connsiteX5" fmla="*/ 12191999 w 12191999"/>
                <a:gd name="connsiteY5" fmla="*/ 1031906 h 1031906"/>
                <a:gd name="connsiteX6" fmla="*/ 0 w 12191999"/>
                <a:gd name="connsiteY6" fmla="*/ 1031906 h 1031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1031906">
                  <a:moveTo>
                    <a:pt x="0" y="0"/>
                  </a:moveTo>
                  <a:lnTo>
                    <a:pt x="97612" y="51085"/>
                  </a:lnTo>
                  <a:cubicBezTo>
                    <a:pt x="1195312" y="569402"/>
                    <a:pt x="3474728" y="925606"/>
                    <a:pt x="6108700" y="925606"/>
                  </a:cubicBezTo>
                  <a:cubicBezTo>
                    <a:pt x="8742672" y="925606"/>
                    <a:pt x="11022088" y="569402"/>
                    <a:pt x="12119789" y="51085"/>
                  </a:cubicBezTo>
                  <a:lnTo>
                    <a:pt x="12191999" y="13293"/>
                  </a:lnTo>
                  <a:lnTo>
                    <a:pt x="12191999" y="1031906"/>
                  </a:lnTo>
                  <a:lnTo>
                    <a:pt x="0" y="1031906"/>
                  </a:lnTo>
                  <a:close/>
                </a:path>
              </a:pathLst>
            </a:cu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</p:grpSp>
      <p:sp>
        <p:nvSpPr>
          <p:cNvPr id="4" name="powerpoint template design by DAJU_PPT正版来源小红书大橘PPT微信DAJU_PPT请勿抄袭搬运！盗版必究！"/>
          <p:cNvSpPr txBox="1"/>
          <p:nvPr/>
        </p:nvSpPr>
        <p:spPr>
          <a:xfrm>
            <a:off x="4457797" y="2145249"/>
            <a:ext cx="3276600" cy="92329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000" b="1" spc="300">
                <a:solidFill>
                  <a:schemeClr val="accent1"/>
                </a:solidFill>
                <a:cs typeface="+mn-ea"/>
                <a:sym typeface="+mn-lt"/>
              </a:rPr>
              <a:t>开源软件通识</a:t>
            </a:r>
            <a:endParaRPr lang="zh-CN" altLang="en-US" sz="4000" b="1" spc="30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79" name="powerpoint template design by DAJU_PPT正版来源小红书大橘PPT微信DAJU_PPT请勿抄袭搬运！盗版必究！"/>
          <p:cNvSpPr txBox="1"/>
          <p:nvPr/>
        </p:nvSpPr>
        <p:spPr>
          <a:xfrm>
            <a:off x="1242152" y="3261623"/>
            <a:ext cx="9707884" cy="6457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spc="300">
                <a:cs typeface="+mn-ea"/>
                <a:sym typeface="+mn-lt"/>
              </a:rPr>
              <a:t>第十</a:t>
            </a:r>
            <a:r>
              <a:rPr lang="zh-CN" altLang="en-US" sz="2800" spc="300">
                <a:cs typeface="+mn-ea"/>
                <a:sym typeface="+mn-lt"/>
              </a:rPr>
              <a:t>六周汇报</a:t>
            </a:r>
            <a:endParaRPr lang="zh-CN" altLang="en-US" sz="2800" spc="300">
              <a:cs typeface="+mn-ea"/>
              <a:sym typeface="+mn-lt"/>
            </a:endParaRPr>
          </a:p>
        </p:txBody>
      </p:sp>
      <p:sp>
        <p:nvSpPr>
          <p:cNvPr id="52" name="powerpoint template design by DAJU_PPT正版来源小红书大橘PPT微信DAJU_PPT请勿抄袭搬运！盗版必究！"/>
          <p:cNvSpPr txBox="1"/>
          <p:nvPr/>
        </p:nvSpPr>
        <p:spPr>
          <a:xfrm>
            <a:off x="3797300" y="5234940"/>
            <a:ext cx="4956175" cy="129794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>
                <a:latin typeface="+mn-ea"/>
              </a:rPr>
              <a:t>小组成员：查琪乐、邱志斌、邱嘉堃、刘辉艺、吴思雨、闫皇冲、李伟鹏、褚茂誉</a:t>
            </a:r>
            <a:endParaRPr lang="zh-CN" altLang="en-US" b="1">
              <a:latin typeface="+mn-ea"/>
            </a:endParaRPr>
          </a:p>
        </p:txBody>
      </p:sp>
      <p:sp>
        <p:nvSpPr>
          <p:cNvPr id="87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>
                <a:solidFill>
                  <a:schemeClr val="bg1"/>
                </a:solidFill>
              </a:rPr>
            </a:fld>
            <a:endParaRPr lang="zh-CN" altLang="en-US" dirty="0">
              <a:solidFill>
                <a:schemeClr val="bg1"/>
              </a:solidFill>
            </a:endParaRPr>
          </a:p>
        </p:txBody>
      </p:sp>
      <p:grpSp>
        <p:nvGrpSpPr>
          <p:cNvPr id="36" name="powerpoint template design by DAJU_PPT正版来源小红书大橘PPT微信DAJU_PPT请勿抄袭搬运！盗版必究！"/>
          <p:cNvGrpSpPr/>
          <p:nvPr/>
        </p:nvGrpSpPr>
        <p:grpSpPr>
          <a:xfrm>
            <a:off x="2656946" y="5016372"/>
            <a:ext cx="6878109" cy="160811"/>
            <a:chOff x="2656946" y="4546640"/>
            <a:chExt cx="6878109" cy="160811"/>
          </a:xfrm>
        </p:grpSpPr>
        <p:cxnSp>
          <p:nvCxnSpPr>
            <p:cNvPr id="12" name="powerpoint template design by DAJU_PPT正版来源小红书大橘PPT微信DAJU_PPT请勿抄袭搬运！盗版必究！-1"/>
            <p:cNvCxnSpPr/>
            <p:nvPr/>
          </p:nvCxnSpPr>
          <p:spPr>
            <a:xfrm>
              <a:off x="2978668" y="4627045"/>
              <a:ext cx="6234664" cy="0"/>
            </a:xfrm>
            <a:prstGeom prst="line">
              <a:avLst/>
            </a:prstGeom>
            <a:solidFill>
              <a:schemeClr val="accent2"/>
            </a:solidFill>
            <a:ln w="12700" cap="rnd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" name="组合 28"/>
            <p:cNvGrpSpPr/>
            <p:nvPr/>
          </p:nvGrpSpPr>
          <p:grpSpPr>
            <a:xfrm>
              <a:off x="2656946" y="4546640"/>
              <a:ext cx="6878109" cy="160811"/>
              <a:chOff x="3756540" y="4546640"/>
              <a:chExt cx="6878109" cy="160811"/>
            </a:xfrm>
          </p:grpSpPr>
          <p:grpSp>
            <p:nvGrpSpPr>
              <p:cNvPr id="13" name="组合 12"/>
              <p:cNvGrpSpPr/>
              <p:nvPr/>
            </p:nvGrpSpPr>
            <p:grpSpPr>
              <a:xfrm>
                <a:off x="10375329" y="4546640"/>
                <a:ext cx="259320" cy="160811"/>
                <a:chOff x="1624393" y="5255315"/>
                <a:chExt cx="1415847" cy="878001"/>
              </a:xfrm>
              <a:solidFill>
                <a:schemeClr val="accent2"/>
              </a:solidFill>
            </p:grpSpPr>
            <p:sp>
              <p:nvSpPr>
                <p:cNvPr id="14" name="powerpoint template design by DAJU_PPT正版来源小红书大橘PPT微信DAJU_PPT请勿抄袭搬运！盗版必究！-2"/>
                <p:cNvSpPr/>
                <p:nvPr>
                  <p:custDataLst>
                    <p:tags r:id="rId1"/>
                  </p:custDataLst>
                </p:nvPr>
              </p:nvSpPr>
              <p:spPr>
                <a:xfrm rot="16200000">
                  <a:off x="1390067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" name="powerpoint template design by DAJU_PPT正版来源小红书大橘PPT微信DAJU_PPT请勿抄袭搬运！盗版必究！-3"/>
                <p:cNvSpPr/>
                <p:nvPr>
                  <p:custDataLst>
                    <p:tags r:id="rId2"/>
                  </p:custDataLst>
                </p:nvPr>
              </p:nvSpPr>
              <p:spPr>
                <a:xfrm rot="16200000">
                  <a:off x="1893316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" name="powerpoint template design by DAJU_PPT正版来源小红书大橘PPT微信DAJU_PPT请勿抄袭搬运！盗版必究！-4"/>
                <p:cNvSpPr/>
                <p:nvPr>
                  <p:custDataLst>
                    <p:tags r:id="rId3"/>
                  </p:custDataLst>
                </p:nvPr>
              </p:nvSpPr>
              <p:spPr>
                <a:xfrm rot="16200000">
                  <a:off x="2396565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8" name="组合 17"/>
              <p:cNvGrpSpPr/>
              <p:nvPr/>
            </p:nvGrpSpPr>
            <p:grpSpPr>
              <a:xfrm flipH="1">
                <a:off x="3756540" y="4546640"/>
                <a:ext cx="259320" cy="160811"/>
                <a:chOff x="1624393" y="5255315"/>
                <a:chExt cx="1415847" cy="878001"/>
              </a:xfrm>
              <a:solidFill>
                <a:schemeClr val="accent2"/>
              </a:solidFill>
            </p:grpSpPr>
            <p:sp>
              <p:nvSpPr>
                <p:cNvPr id="19" name="powerpoint template design by DAJU_PPT正版来源小红书大橘PPT微信DAJU_PPT请勿抄袭搬运！盗版必究！-5"/>
                <p:cNvSpPr/>
                <p:nvPr>
                  <p:custDataLst>
                    <p:tags r:id="rId4"/>
                  </p:custDataLst>
                </p:nvPr>
              </p:nvSpPr>
              <p:spPr>
                <a:xfrm rot="16200000">
                  <a:off x="1390067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powerpoint template design by DAJU_PPT正版来源小红书大橘PPT微信DAJU_PPT请勿抄袭搬运！盗版必究！-6"/>
                <p:cNvSpPr/>
                <p:nvPr>
                  <p:custDataLst>
                    <p:tags r:id="rId5"/>
                  </p:custDataLst>
                </p:nvPr>
              </p:nvSpPr>
              <p:spPr>
                <a:xfrm rot="16200000">
                  <a:off x="1893316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powerpoint template design by DAJU_PPT正版来源小红书大橘PPT微信DAJU_PPT请勿抄袭搬运！盗版必究！-7"/>
                <p:cNvSpPr/>
                <p:nvPr>
                  <p:custDataLst>
                    <p:tags r:id="rId6"/>
                  </p:custDataLst>
                </p:nvPr>
              </p:nvSpPr>
              <p:spPr>
                <a:xfrm rot="16200000">
                  <a:off x="2396565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pic>
        <p:nvPicPr>
          <p:cNvPr id="20" name="图片 1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027" y="689877"/>
            <a:ext cx="1499612" cy="1499612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powerpoint template design by DAJU_PPT正版来源小红书大橘PPT微信DAJU_PPT请勿抄袭搬运！盗版必究！"/>
          <p:cNvGrpSpPr/>
          <p:nvPr/>
        </p:nvGrpSpPr>
        <p:grpSpPr>
          <a:xfrm>
            <a:off x="-188" y="5152472"/>
            <a:ext cx="12192188" cy="1705528"/>
            <a:chOff x="-188" y="4064715"/>
            <a:chExt cx="12192188" cy="2382647"/>
          </a:xfrm>
        </p:grpSpPr>
        <p:sp>
          <p:nvSpPr>
            <p:cNvPr id="36" name="powerpoint template design by DAJU_PPT正版来源小红书大橘PPT微信DAJU_PPT请勿抄袭搬运！盗版必究！-1"/>
            <p:cNvSpPr/>
            <p:nvPr/>
          </p:nvSpPr>
          <p:spPr>
            <a:xfrm>
              <a:off x="-188" y="4064715"/>
              <a:ext cx="12192188" cy="1574800"/>
            </a:xfrm>
            <a:custGeom>
              <a:avLst/>
              <a:gdLst>
                <a:gd name="connsiteX0" fmla="*/ 0 w 12191999"/>
                <a:gd name="connsiteY0" fmla="*/ 0 h 1574776"/>
                <a:gd name="connsiteX1" fmla="*/ 121527 w 12191999"/>
                <a:gd name="connsiteY1" fmla="*/ 105084 h 1574776"/>
                <a:gd name="connsiteX2" fmla="*/ 6096001 w 12191999"/>
                <a:gd name="connsiteY2" fmla="*/ 1545053 h 1574776"/>
                <a:gd name="connsiteX3" fmla="*/ 12070473 w 12191999"/>
                <a:gd name="connsiteY3" fmla="*/ 105085 h 1574776"/>
                <a:gd name="connsiteX4" fmla="*/ 12191999 w 12191999"/>
                <a:gd name="connsiteY4" fmla="*/ 1 h 1574776"/>
                <a:gd name="connsiteX5" fmla="*/ 12191999 w 12191999"/>
                <a:gd name="connsiteY5" fmla="*/ 1574776 h 1574776"/>
                <a:gd name="connsiteX6" fmla="*/ 0 w 12191999"/>
                <a:gd name="connsiteY6" fmla="*/ 1574776 h 1574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1574776">
                  <a:moveTo>
                    <a:pt x="0" y="0"/>
                  </a:moveTo>
                  <a:lnTo>
                    <a:pt x="121527" y="105084"/>
                  </a:lnTo>
                  <a:cubicBezTo>
                    <a:pt x="1232752" y="959961"/>
                    <a:pt x="3490973" y="1545053"/>
                    <a:pt x="6096001" y="1545053"/>
                  </a:cubicBezTo>
                  <a:cubicBezTo>
                    <a:pt x="8701028" y="1545053"/>
                    <a:pt x="10959248" y="959962"/>
                    <a:pt x="12070473" y="105085"/>
                  </a:cubicBezTo>
                  <a:lnTo>
                    <a:pt x="12191999" y="1"/>
                  </a:lnTo>
                  <a:lnTo>
                    <a:pt x="12191999" y="1574776"/>
                  </a:lnTo>
                  <a:lnTo>
                    <a:pt x="0" y="1574776"/>
                  </a:lnTo>
                  <a:close/>
                </a:path>
              </a:pathLst>
            </a:cu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  <p:sp>
          <p:nvSpPr>
            <p:cNvPr id="37" name="powerpoint template design by DAJU_PPT正版来源小红书大橘PPT微信DAJU_PPT请勿抄袭搬运！盗版必究！-2"/>
            <p:cNvSpPr/>
            <p:nvPr userDrawn="1"/>
          </p:nvSpPr>
          <p:spPr>
            <a:xfrm>
              <a:off x="-188" y="4607593"/>
              <a:ext cx="12192188" cy="1839769"/>
            </a:xfrm>
            <a:custGeom>
              <a:avLst/>
              <a:gdLst>
                <a:gd name="connsiteX0" fmla="*/ 0 w 12192188"/>
                <a:gd name="connsiteY0" fmla="*/ 0 h 1839769"/>
                <a:gd name="connsiteX1" fmla="*/ 97614 w 12192188"/>
                <a:gd name="connsiteY1" fmla="*/ 51086 h 1839769"/>
                <a:gd name="connsiteX2" fmla="*/ 6108795 w 12192188"/>
                <a:gd name="connsiteY2" fmla="*/ 925621 h 1839769"/>
                <a:gd name="connsiteX3" fmla="*/ 12119977 w 12192188"/>
                <a:gd name="connsiteY3" fmla="*/ 51086 h 1839769"/>
                <a:gd name="connsiteX4" fmla="*/ 12192188 w 12192188"/>
                <a:gd name="connsiteY4" fmla="*/ 13293 h 1839769"/>
                <a:gd name="connsiteX5" fmla="*/ 12192188 w 12192188"/>
                <a:gd name="connsiteY5" fmla="*/ 1008771 h 1839769"/>
                <a:gd name="connsiteX6" fmla="*/ 12192188 w 12192188"/>
                <a:gd name="connsiteY6" fmla="*/ 1031922 h 1839769"/>
                <a:gd name="connsiteX7" fmla="*/ 12192188 w 12192188"/>
                <a:gd name="connsiteY7" fmla="*/ 1839769 h 1839769"/>
                <a:gd name="connsiteX8" fmla="*/ 0 w 12192188"/>
                <a:gd name="connsiteY8" fmla="*/ 1839769 h 1839769"/>
                <a:gd name="connsiteX9" fmla="*/ 0 w 12192188"/>
                <a:gd name="connsiteY9" fmla="*/ 1031922 h 1839769"/>
                <a:gd name="connsiteX10" fmla="*/ 0 w 12192188"/>
                <a:gd name="connsiteY10" fmla="*/ 1008771 h 1839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192188" h="1839769">
                  <a:moveTo>
                    <a:pt x="0" y="0"/>
                  </a:moveTo>
                  <a:lnTo>
                    <a:pt x="97614" y="51086"/>
                  </a:lnTo>
                  <a:cubicBezTo>
                    <a:pt x="1195331" y="569411"/>
                    <a:pt x="3474782" y="925621"/>
                    <a:pt x="6108795" y="925621"/>
                  </a:cubicBezTo>
                  <a:cubicBezTo>
                    <a:pt x="8742808" y="925621"/>
                    <a:pt x="11022259" y="569411"/>
                    <a:pt x="12119977" y="51086"/>
                  </a:cubicBezTo>
                  <a:lnTo>
                    <a:pt x="12192188" y="13293"/>
                  </a:lnTo>
                  <a:lnTo>
                    <a:pt x="12192188" y="1008771"/>
                  </a:lnTo>
                  <a:lnTo>
                    <a:pt x="12192188" y="1031922"/>
                  </a:lnTo>
                  <a:lnTo>
                    <a:pt x="12192188" y="1839769"/>
                  </a:lnTo>
                  <a:lnTo>
                    <a:pt x="0" y="1839769"/>
                  </a:lnTo>
                  <a:lnTo>
                    <a:pt x="0" y="1031922"/>
                  </a:lnTo>
                  <a:lnTo>
                    <a:pt x="0" y="1008771"/>
                  </a:lnTo>
                  <a:close/>
                </a:path>
              </a:pathLst>
            </a:cu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</p:grpSp>
      <p:sp>
        <p:nvSpPr>
          <p:cNvPr id="6" name="powerpoint template design by DAJU_PPT正版来源小红书大橘PPT微信DAJU_PPT请勿抄袭搬运！盗版必究！" hidden="1"/>
          <p:cNvSpPr/>
          <p:nvPr userDrawn="1"/>
        </p:nvSpPr>
        <p:spPr>
          <a:xfrm>
            <a:off x="-188" y="4585664"/>
            <a:ext cx="12192188" cy="1053851"/>
          </a:xfrm>
          <a:custGeom>
            <a:avLst/>
            <a:gdLst>
              <a:gd name="connsiteX0" fmla="*/ 0 w 12191999"/>
              <a:gd name="connsiteY0" fmla="*/ 0 h 1053835"/>
              <a:gd name="connsiteX1" fmla="*/ 84912 w 12191999"/>
              <a:gd name="connsiteY1" fmla="*/ 44439 h 1053835"/>
              <a:gd name="connsiteX2" fmla="*/ 6096001 w 12191999"/>
              <a:gd name="connsiteY2" fmla="*/ 918960 h 1053835"/>
              <a:gd name="connsiteX3" fmla="*/ 12107089 w 12191999"/>
              <a:gd name="connsiteY3" fmla="*/ 44439 h 1053835"/>
              <a:gd name="connsiteX4" fmla="*/ 12191999 w 12191999"/>
              <a:gd name="connsiteY4" fmla="*/ 1 h 1053835"/>
              <a:gd name="connsiteX5" fmla="*/ 12191999 w 12191999"/>
              <a:gd name="connsiteY5" fmla="*/ 1053835 h 1053835"/>
              <a:gd name="connsiteX6" fmla="*/ 0 w 12191999"/>
              <a:gd name="connsiteY6" fmla="*/ 1053835 h 1053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1053835">
                <a:moveTo>
                  <a:pt x="0" y="0"/>
                </a:moveTo>
                <a:lnTo>
                  <a:pt x="84912" y="44439"/>
                </a:lnTo>
                <a:cubicBezTo>
                  <a:pt x="1182612" y="562756"/>
                  <a:pt x="3462028" y="918960"/>
                  <a:pt x="6096001" y="918960"/>
                </a:cubicBezTo>
                <a:cubicBezTo>
                  <a:pt x="8729972" y="918960"/>
                  <a:pt x="11009388" y="562756"/>
                  <a:pt x="12107089" y="44439"/>
                </a:cubicBezTo>
                <a:lnTo>
                  <a:pt x="12191999" y="1"/>
                </a:lnTo>
                <a:lnTo>
                  <a:pt x="12191999" y="1053835"/>
                </a:lnTo>
                <a:lnTo>
                  <a:pt x="0" y="1053835"/>
                </a:lnTo>
                <a:close/>
              </a:path>
            </a:pathLst>
          </a:custGeom>
          <a:solidFill>
            <a:srgbClr val="FFFFFF"/>
          </a:solidFill>
          <a:ln w="254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阿里巴巴普惠体 2.0 45 Light"/>
              <a:ea typeface="阿里巴巴普惠体 2.0 45 Light"/>
              <a:cs typeface="+mn-cs"/>
            </a:endParaRPr>
          </a:p>
        </p:txBody>
      </p:sp>
      <p:sp>
        <p:nvSpPr>
          <p:cNvPr id="19" name="powerpoint template design by DAJU_PPT正版来源小红书大橘PPT微信DAJU_PPT请勿抄袭搬运！盗版必究！"/>
          <p:cNvSpPr>
            <a:spLocks noGrp="1"/>
          </p:cNvSpPr>
          <p:nvPr>
            <p:ph type="body" sz="quarter" idx="12"/>
          </p:nvPr>
        </p:nvSpPr>
        <p:spPr>
          <a:xfrm>
            <a:off x="3171825" y="3553460"/>
            <a:ext cx="5956300" cy="553720"/>
          </a:xfrm>
          <a:prstGeom prst="rect">
            <a:avLst/>
          </a:prstGeom>
        </p:spPr>
        <p:txBody>
          <a:bodyPr wrap="square"/>
          <a:lstStyle/>
          <a:p>
            <a:r>
              <a:rPr sz="4000" dirty="0">
                <a:latin typeface="+mn-lt"/>
                <a:ea typeface="+mn-ea"/>
                <a:cs typeface="+mn-ea"/>
                <a:sym typeface="+mn-lt"/>
              </a:rPr>
              <a:t>上周小组工作</a:t>
            </a:r>
            <a:endParaRPr sz="40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" name="powerpoint template design by DAJU_PPT正版来源小红书大橘PPT微信DAJU_PPT请勿抄袭搬运！盗版必究！"/>
          <p:cNvSpPr>
            <a:spLocks noGrp="1"/>
          </p:cNvSpPr>
          <p:nvPr>
            <p:ph type="body" sz="quarter" idx="10"/>
          </p:nvPr>
        </p:nvSpPr>
        <p:spPr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 altLang="zh-CN" dirty="0">
                <a:latin typeface="+mn-lt"/>
                <a:cs typeface="+mn-ea"/>
                <a:sym typeface="+mn-lt"/>
              </a:rPr>
              <a:t>01</a:t>
            </a:r>
            <a:endParaRPr lang="zh-CN" altLang="en-US" dirty="0">
              <a:latin typeface="+mn-lt"/>
              <a:cs typeface="+mn-ea"/>
              <a:sym typeface="+mn-lt"/>
            </a:endParaRPr>
          </a:p>
        </p:txBody>
      </p:sp>
      <p:sp>
        <p:nvSpPr>
          <p:cNvPr id="5" name="powerpoint template design by DAJU_PPT正版来源小红书大橘PPT微信DAJU_PPT请勿抄袭搬运！盗版必究！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zh-CN" dirty="0"/>
              <a:t>PART ONE</a:t>
            </a:r>
            <a:endParaRPr lang="zh-CN" altLang="en-US" dirty="0"/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grpSp>
        <p:nvGrpSpPr>
          <p:cNvPr id="30" name="powerpoint template design by DAJU_PPT正版来源小红书大橘PPT微信DAJU_PPT请勿抄袭搬运！盗版必究！"/>
          <p:cNvGrpSpPr/>
          <p:nvPr/>
        </p:nvGrpSpPr>
        <p:grpSpPr>
          <a:xfrm>
            <a:off x="4244329" y="3001075"/>
            <a:ext cx="3703343" cy="260364"/>
            <a:chOff x="3930221" y="2703895"/>
            <a:chExt cx="3703343" cy="260364"/>
          </a:xfrm>
        </p:grpSpPr>
        <p:grpSp>
          <p:nvGrpSpPr>
            <p:cNvPr id="11" name="组合 10"/>
            <p:cNvGrpSpPr/>
            <p:nvPr/>
          </p:nvGrpSpPr>
          <p:grpSpPr>
            <a:xfrm>
              <a:off x="3930221" y="2703895"/>
              <a:ext cx="1087120" cy="260364"/>
              <a:chOff x="5874392" y="3867911"/>
              <a:chExt cx="1953753" cy="467922"/>
            </a:xfrm>
            <a:solidFill>
              <a:schemeClr val="accent2"/>
            </a:solidFill>
          </p:grpSpPr>
          <p:grpSp>
            <p:nvGrpSpPr>
              <p:cNvPr id="23" name="组合 22"/>
              <p:cNvGrpSpPr/>
              <p:nvPr/>
            </p:nvGrpSpPr>
            <p:grpSpPr>
              <a:xfrm>
                <a:off x="7295699" y="3867911"/>
                <a:ext cx="532446" cy="467922"/>
                <a:chOff x="3277173" y="3960087"/>
                <a:chExt cx="532446" cy="467922"/>
              </a:xfrm>
              <a:grpFill/>
            </p:grpSpPr>
            <p:sp>
              <p:nvSpPr>
                <p:cNvPr id="25" name="powerpoint template design by DAJU_PPT正版来源小红书大橘PPT微信DAJU_PPT请勿抄袭搬运！盗版必究！-1"/>
                <p:cNvSpPr/>
                <p:nvPr/>
              </p:nvSpPr>
              <p:spPr>
                <a:xfrm>
                  <a:off x="3419475" y="3960087"/>
                  <a:ext cx="390144" cy="467922"/>
                </a:xfrm>
                <a:prstGeom prst="chevron">
                  <a:avLst>
                    <a:gd name="adj" fmla="val 6386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6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" name="powerpoint template design by DAJU_PPT正版来源小红书大橘PPT微信DAJU_PPT请勿抄袭搬运！盗版必究！-2"/>
                <p:cNvSpPr/>
                <p:nvPr/>
              </p:nvSpPr>
              <p:spPr>
                <a:xfrm>
                  <a:off x="3277173" y="4051746"/>
                  <a:ext cx="284604" cy="284604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60"/>
                </a:p>
              </p:txBody>
            </p:sp>
          </p:grpSp>
          <p:cxnSp>
            <p:nvCxnSpPr>
              <p:cNvPr id="24" name="powerpoint template design by DAJU_PPT正版来源小红书大橘PPT微信DAJU_PPT请勿抄袭搬运！盗版必究！-3"/>
              <p:cNvCxnSpPr/>
              <p:nvPr/>
            </p:nvCxnSpPr>
            <p:spPr>
              <a:xfrm>
                <a:off x="5874392" y="4101873"/>
                <a:ext cx="1421889" cy="0"/>
              </a:xfrm>
              <a:prstGeom prst="line">
                <a:avLst/>
              </a:prstGeom>
              <a:grpFill/>
              <a:ln w="12700" cap="rnd">
                <a:gradFill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组合 11"/>
            <p:cNvGrpSpPr/>
            <p:nvPr/>
          </p:nvGrpSpPr>
          <p:grpSpPr>
            <a:xfrm flipH="1">
              <a:off x="6546444" y="2703895"/>
              <a:ext cx="1087120" cy="260364"/>
              <a:chOff x="5874392" y="3867911"/>
              <a:chExt cx="1953753" cy="467922"/>
            </a:xfrm>
            <a:solidFill>
              <a:schemeClr val="accent2"/>
            </a:solidFill>
          </p:grpSpPr>
          <p:grpSp>
            <p:nvGrpSpPr>
              <p:cNvPr id="13" name="组合 12"/>
              <p:cNvGrpSpPr/>
              <p:nvPr/>
            </p:nvGrpSpPr>
            <p:grpSpPr>
              <a:xfrm>
                <a:off x="7295699" y="3867911"/>
                <a:ext cx="532446" cy="467922"/>
                <a:chOff x="3277173" y="3960087"/>
                <a:chExt cx="532446" cy="467922"/>
              </a:xfrm>
              <a:grpFill/>
            </p:grpSpPr>
            <p:sp>
              <p:nvSpPr>
                <p:cNvPr id="15" name="powerpoint template design by DAJU_PPT正版来源小红书大橘PPT微信DAJU_PPT请勿抄袭搬运！盗版必究！-4"/>
                <p:cNvSpPr/>
                <p:nvPr/>
              </p:nvSpPr>
              <p:spPr>
                <a:xfrm>
                  <a:off x="3419475" y="3960087"/>
                  <a:ext cx="390144" cy="467922"/>
                </a:xfrm>
                <a:prstGeom prst="chevron">
                  <a:avLst>
                    <a:gd name="adj" fmla="val 6386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6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" name="powerpoint template design by DAJU_PPT正版来源小红书大橘PPT微信DAJU_PPT请勿抄袭搬运！盗版必究！-5"/>
                <p:cNvSpPr/>
                <p:nvPr/>
              </p:nvSpPr>
              <p:spPr>
                <a:xfrm>
                  <a:off x="3277173" y="4051746"/>
                  <a:ext cx="284604" cy="284604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60"/>
                </a:p>
              </p:txBody>
            </p:sp>
          </p:grpSp>
          <p:cxnSp>
            <p:nvCxnSpPr>
              <p:cNvPr id="14" name="powerpoint template design by DAJU_PPT正版来源小红书大橘PPT微信DAJU_PPT请勿抄袭搬运！盗版必究！-6"/>
              <p:cNvCxnSpPr/>
              <p:nvPr/>
            </p:nvCxnSpPr>
            <p:spPr>
              <a:xfrm>
                <a:off x="5874392" y="4101873"/>
                <a:ext cx="1421889" cy="0"/>
              </a:xfrm>
              <a:prstGeom prst="line">
                <a:avLst/>
              </a:prstGeom>
              <a:grpFill/>
              <a:ln w="12700" cap="rnd">
                <a:gradFill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文本框 2"/>
          <p:cNvSpPr txBox="1"/>
          <p:nvPr/>
        </p:nvSpPr>
        <p:spPr>
          <a:xfrm>
            <a:off x="3032125" y="437642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b="1" dirty="0">
                <a:latin typeface="+mn-ea"/>
                <a:sym typeface="+mn-ea"/>
              </a:rPr>
              <a:t>汇报</a:t>
            </a:r>
            <a:r>
              <a:rPr lang="zh-CN" altLang="en-US" b="1">
                <a:latin typeface="+mn-ea"/>
                <a:sym typeface="+mn-ea"/>
              </a:rPr>
              <a:t>人：李伟鹏</a:t>
            </a:r>
            <a:endParaRPr lang="zh-CN" altLang="en-US" b="1">
              <a:latin typeface="+mn-ea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>
                <a:sym typeface="+mn-lt"/>
              </a:rPr>
              <a:t>阶段成果</a:t>
            </a:r>
            <a:r>
              <a:rPr>
                <a:sym typeface="+mn-lt"/>
              </a:rPr>
              <a:t>总览</a:t>
            </a:r>
            <a:endParaRPr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628650" y="1409700"/>
            <a:ext cx="990600" cy="38100"/>
          </a:xfrm>
          <a:prstGeom prst="rect">
            <a:avLst/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81050" y="1762125"/>
            <a:ext cx="2000250" cy="1066800"/>
          </a:xfrm>
          <a:prstGeom prst="roundRect">
            <a:avLst>
              <a:gd name="adj" fmla="val 7143"/>
            </a:avLst>
          </a:prstGeom>
          <a:solidFill>
            <a:srgbClr val="EAF4FF"/>
          </a:solidFill>
          <a:ln w="9525">
            <a:solidFill>
              <a:srgbClr val="C9D8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矩形 10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95350" y="1952625"/>
            <a:ext cx="1771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75" b="1">
                <a:solidFill>
                  <a:srgbClr val="1E5B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75" b="1">
                <a:solidFill>
                  <a:srgbClr val="1E5B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 项</a:t>
            </a:r>
            <a:endParaRPr sz="2475" b="1">
              <a:solidFill>
                <a:srgbClr val="1E5B9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95350" y="2409825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5D6B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5D6B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sz="1050" b="0">
                <a:solidFill>
                  <a:srgbClr val="5D6B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</a:t>
            </a:r>
            <a:r>
              <a:rPr sz="1050" b="0">
                <a:solidFill>
                  <a:srgbClr val="5D6B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周文档记录 Issue 完成</a:t>
            </a:r>
            <a:endParaRPr sz="1050" b="0">
              <a:solidFill>
                <a:srgbClr val="5D6B8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3028950" y="1762125"/>
            <a:ext cx="2000250" cy="1066800"/>
          </a:xfrm>
          <a:prstGeom prst="roundRect">
            <a:avLst>
              <a:gd name="adj" fmla="val 7143"/>
            </a:avLst>
          </a:prstGeom>
          <a:solidFill>
            <a:srgbClr val="EAF8F1"/>
          </a:solidFill>
          <a:ln w="9525">
            <a:solidFill>
              <a:srgbClr val="C9D8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3143250" y="1952625"/>
            <a:ext cx="1771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75" b="1">
                <a:solidFill>
                  <a:srgbClr val="18A5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en-US" sz="2475" b="1">
                <a:solidFill>
                  <a:srgbClr val="18A5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sz="2475" b="1">
                <a:solidFill>
                  <a:srgbClr val="18A5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个</a:t>
            </a:r>
            <a:endParaRPr sz="2475" b="1">
              <a:solidFill>
                <a:srgbClr val="18A55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3143250" y="2409825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5D6B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5D6B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 已合并</a:t>
            </a:r>
            <a:endParaRPr sz="1050" b="0">
              <a:solidFill>
                <a:srgbClr val="5D6B8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5276850" y="1762125"/>
            <a:ext cx="2000250" cy="1066800"/>
          </a:xfrm>
          <a:prstGeom prst="roundRect">
            <a:avLst>
              <a:gd name="adj" fmla="val 7143"/>
            </a:avLst>
          </a:prstGeom>
          <a:solidFill>
            <a:srgbClr val="FFF4DE"/>
          </a:solidFill>
          <a:ln w="9525">
            <a:solidFill>
              <a:srgbClr val="C9D8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7" name="矩形 16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5391150" y="1952625"/>
            <a:ext cx="1771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75" b="1">
                <a:solidFill>
                  <a:srgbClr val="D9770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en-US" sz="2475" b="1">
                <a:solidFill>
                  <a:srgbClr val="D9770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21</a:t>
            </a:r>
            <a:r>
              <a:rPr sz="2475" b="1">
                <a:solidFill>
                  <a:srgbClr val="D9770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个</a:t>
            </a:r>
            <a:endParaRPr sz="2475" b="1">
              <a:solidFill>
                <a:srgbClr val="D9770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矩形 17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5391150" y="2409825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5D6B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5D6B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变更文件</a:t>
            </a:r>
            <a:endParaRPr sz="1050" b="0">
              <a:solidFill>
                <a:srgbClr val="5D6B8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7524750" y="1762125"/>
            <a:ext cx="2000250" cy="1066800"/>
          </a:xfrm>
          <a:prstGeom prst="roundRect">
            <a:avLst>
              <a:gd name="adj" fmla="val 7143"/>
            </a:avLst>
          </a:prstGeom>
          <a:solidFill>
            <a:srgbClr val="F2ECFF"/>
          </a:solidFill>
          <a:ln w="9525">
            <a:solidFill>
              <a:srgbClr val="C9D8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0" name="矩形 19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7639050" y="1952625"/>
            <a:ext cx="1771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75" b="1">
                <a:solidFill>
                  <a:srgbClr val="6D5B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75" b="1">
                <a:solidFill>
                  <a:srgbClr val="6D5B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1112 行</a:t>
            </a:r>
            <a:endParaRPr sz="2475" b="1">
              <a:solidFill>
                <a:srgbClr val="6D5BD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矩形 20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7639050" y="2409825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5D6B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5D6B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新增代码</a:t>
            </a:r>
            <a:endParaRPr sz="1050" b="0">
              <a:solidFill>
                <a:srgbClr val="5D6B8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圆角矩形 21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9772650" y="1762125"/>
            <a:ext cx="1619250" cy="1066800"/>
          </a:xfrm>
          <a:prstGeom prst="roundRect">
            <a:avLst>
              <a:gd name="adj" fmla="val 7143"/>
            </a:avLst>
          </a:prstGeom>
          <a:solidFill>
            <a:srgbClr val="FFF1ED"/>
          </a:solidFill>
          <a:ln w="9525">
            <a:solidFill>
              <a:srgbClr val="C9D8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" name="矩形 22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9886950" y="1952625"/>
            <a:ext cx="1390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75" b="1">
                <a:solidFill>
                  <a:srgbClr val="C2410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en-US" sz="2475" b="1">
                <a:solidFill>
                  <a:srgbClr val="C2410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sz="2475" b="1">
                <a:solidFill>
                  <a:srgbClr val="C2410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</a:t>
            </a:r>
            <a:endParaRPr sz="2475" b="1">
              <a:solidFill>
                <a:srgbClr val="C2410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4" name="矩形 23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9886950" y="2409825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5D6B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5D6B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批量导入</a:t>
            </a:r>
            <a:endParaRPr sz="1050" b="0">
              <a:solidFill>
                <a:srgbClr val="5D6B8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933450" y="3524250"/>
            <a:ext cx="476250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6" name="矩形 25"/>
          <p:cNvSpPr>
            <a:spLocks noGrp="1"/>
          </p:cNvSpPr>
          <p:nvPr/>
        </p:nvSpPr>
        <p:spPr>
          <a:xfrm>
            <a:off x="933450" y="3524250"/>
            <a:ext cx="57150" cy="1600200"/>
          </a:xfrm>
          <a:prstGeom prst="rect">
            <a:avLst/>
          </a:prstGeom>
          <a:solidFill>
            <a:srgbClr val="1E5B9A"/>
          </a:solidFill>
          <a:ln w="0">
            <a:solidFill>
              <a:srgbClr val="1E5B9A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123950" y="369570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E5B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 b="1">
                <a:solidFill>
                  <a:srgbClr val="1E5B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重点</a:t>
            </a:r>
            <a:endParaRPr sz="1500" b="1">
              <a:solidFill>
                <a:srgbClr val="1E5B9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123950" y="4076700"/>
            <a:ext cx="43815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5" b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165" b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#74 宏观看板、#78 报表导出、#76 教务导出、#51 个人达成度、#94 PDF 中文、#95/#100/#101/#102 </a:t>
            </a:r>
            <a:r>
              <a:rPr lang="zh-CN" sz="1165" b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六</a:t>
            </a:r>
            <a:r>
              <a:rPr sz="1165" b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类批量导入。</a:t>
            </a:r>
            <a:endParaRPr sz="1165" b="0">
              <a:solidFill>
                <a:srgbClr val="1020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6496050" y="3524250"/>
            <a:ext cx="476250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0" name="矩形 29"/>
          <p:cNvSpPr>
            <a:spLocks noGrp="1"/>
          </p:cNvSpPr>
          <p:nvPr/>
        </p:nvSpPr>
        <p:spPr>
          <a:xfrm>
            <a:off x="6496050" y="3524250"/>
            <a:ext cx="57150" cy="1600200"/>
          </a:xfrm>
          <a:prstGeom prst="rect">
            <a:avLst/>
          </a:prstGeom>
          <a:solidFill>
            <a:srgbClr val="18A558"/>
          </a:solidFill>
          <a:ln w="0">
            <a:solidFill>
              <a:srgbClr val="18A558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686550" y="369570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8A5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 b="1">
                <a:solidFill>
                  <a:srgbClr val="18A5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小组补充</a:t>
            </a:r>
            <a:endParaRPr sz="1500" b="1">
              <a:solidFill>
                <a:srgbClr val="18A55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686550" y="4076700"/>
            <a:ext cx="43815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5" b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165" b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指标点批量导入、学生/班级导入、成绩解锁与勘误页面优化、用户管理角色标签与禁用保护、多个页面 UI 统一。</a:t>
            </a:r>
            <a:endParaRPr sz="1165" b="0">
              <a:solidFill>
                <a:srgbClr val="1020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zh-CN" altLang="en-US">
                <a:sym typeface="+mn-lt"/>
              </a:rPr>
              <a:t>指标点批量导入功能</a:t>
            </a:r>
            <a:endParaRPr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59443" y="926425"/>
            <a:ext cx="11327757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Issue: </a:t>
            </a:r>
            <a:r>
              <a:rPr lang="zh-CN" altLang="en-US" sz="24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系统现在只能逐个新增指标点，如果目标数量较多，操作会比较繁琐。</a:t>
            </a:r>
            <a:endParaRPr lang="en-US" altLang="zh-CN" sz="2400" kern="10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4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建议新增一个“指标点导入”按钮及“下载模板”功能。</a:t>
            </a:r>
            <a:endParaRPr lang="zh-CN" altLang="en-US" sz="2400" kern="10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435" y="1722120"/>
            <a:ext cx="9092565" cy="503745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zh-CN" altLang="en-US">
                <a:sym typeface="+mn-lt"/>
              </a:rPr>
              <a:t>指标点批量导入功能</a:t>
            </a:r>
            <a:endParaRPr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59443" y="926425"/>
            <a:ext cx="11327757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首先点击</a:t>
            </a:r>
            <a:r>
              <a:rPr lang="en-US" altLang="zh-CN" sz="24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zh-CN" altLang="en-US" sz="24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下载模板</a:t>
            </a:r>
            <a:r>
              <a:rPr lang="en-US" altLang="zh-CN" sz="24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en-US" sz="24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按钮，下载指标点导入</a:t>
            </a:r>
            <a:r>
              <a:rPr lang="zh-CN" altLang="en-US" sz="24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模板</a:t>
            </a:r>
            <a:endParaRPr lang="zh-CN" altLang="en-US" sz="2400" kern="10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640" y="1449705"/>
            <a:ext cx="8540750" cy="7112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640" y="3068320"/>
            <a:ext cx="9884410" cy="269049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59443" y="2421215"/>
            <a:ext cx="11327757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在专业负责人客户端毕业要求界面点击</a:t>
            </a:r>
            <a:r>
              <a:rPr lang="en-US" altLang="zh-CN" sz="24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zh-CN" altLang="en-US" sz="24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导入指标点</a:t>
            </a:r>
            <a:r>
              <a:rPr lang="en-US" altLang="zh-CN" sz="24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en-US" sz="24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就可以批量导入指标</a:t>
            </a:r>
            <a:r>
              <a:rPr lang="zh-CN" altLang="en-US" sz="24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点</a:t>
            </a:r>
            <a:endParaRPr lang="zh-CN" altLang="en-US" sz="2400" kern="10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lt"/>
              </a:rPr>
              <a:t>指标点批量导入功能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0960" y="1277620"/>
            <a:ext cx="12019280" cy="2306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1. 模板格式</a:t>
            </a:r>
            <a:endParaRPr lang="zh-CN" altLang="en-US"/>
          </a:p>
          <a:p>
            <a:pPr indent="457200"/>
            <a:r>
              <a:rPr lang="zh-CN" altLang="en-US"/>
              <a:t>模板为一个 `.</a:t>
            </a:r>
            <a:r>
              <a:rPr lang="en-US" altLang="zh-CN"/>
              <a:t>xlsx` </a:t>
            </a:r>
            <a:r>
              <a:rPr lang="zh-CN" altLang="en-US"/>
              <a:t>工作簿</a:t>
            </a:r>
            <a:endParaRPr lang="zh-CN" altLang="en-US"/>
          </a:p>
          <a:p>
            <a:pPr indent="457200"/>
            <a:r>
              <a:rPr lang="en-US" altLang="zh-CN"/>
              <a:t>Sheet 1：</a:t>
            </a:r>
            <a:r>
              <a:rPr lang="zh-CN" altLang="en-US"/>
              <a:t>表头</a:t>
            </a:r>
            <a:r>
              <a:rPr lang="zh-CN" altLang="en-US"/>
              <a:t>包括：毕业要求编号、毕业要求标题、指标点编号、指标点描述</a:t>
            </a:r>
            <a:endParaRPr lang="en-US" altLang="zh-CN"/>
          </a:p>
          <a:p>
            <a:pPr indent="457200"/>
            <a:r>
              <a:rPr lang="en-US" altLang="zh-CN"/>
              <a:t>Sheet 2：</a:t>
            </a:r>
            <a:r>
              <a:rPr lang="zh-CN" altLang="en-US"/>
              <a:t>填写说明：表头不可改、毕业要求编号须为已存在值、指标点编号/描述必填、空白行自动跳过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2. 导入校验规则</a:t>
            </a:r>
            <a:endParaRPr lang="zh-CN" altLang="en-US"/>
          </a:p>
          <a:p>
            <a:endParaRPr lang="zh-CN" altLang="en-US"/>
          </a:p>
          <a:p>
            <a:pPr indent="457200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49141" y="926049"/>
            <a:ext cx="238584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功能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设计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414020" y="3082925"/>
          <a:ext cx="10888345" cy="3444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920"/>
                <a:gridCol w="2422525"/>
                <a:gridCol w="643890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校验项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规则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失败提示示例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文件格式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必须为 `.</a:t>
                      </a:r>
                      <a:r>
                        <a:rPr lang="en-US" altLang="zh-CN"/>
                        <a:t>xlsx` 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仅支持 .</a:t>
                      </a:r>
                      <a:r>
                        <a:rPr lang="en-US" altLang="zh-CN"/>
                        <a:t>xlsx </a:t>
                      </a:r>
                      <a:r>
                        <a:rPr lang="zh-CN" altLang="en-US"/>
                        <a:t>格式文件，请点击「下载模板」获取正确模板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表头一致性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首行必须与模板表头完全一致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期望表头：…；实际表头：… 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毕业要求前置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/>
                        <a:t>当前专业必须已存在毕业要求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/>
                        <a:t>当前专业尚未创建任何毕业要求，请先新增毕业要求后再导入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毕业要求编号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/>
                        <a:t>非空、整数、必须在当前专业存在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/>
                        <a:t>xx</a:t>
                      </a:r>
                      <a:r>
                        <a:rPr lang="zh-CN" altLang="en-US"/>
                        <a:t>在当前专业不存在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指标点编号、描述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/>
                        <a:t>非空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/>
                        <a:t>指标点编号</a:t>
                      </a:r>
                      <a:r>
                        <a:rPr lang="en-US" altLang="zh-CN"/>
                        <a:t>/</a:t>
                      </a:r>
                      <a:r>
                        <a:rPr lang="zh-CN" altLang="en-US"/>
                        <a:t>描述不能为空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空白行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/>
                        <a:t>完全空白的行自动跳过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/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lt"/>
              </a:rPr>
              <a:t>指标点批量导入功能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0960" y="1386205"/>
            <a:ext cx="12010390" cy="17970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>
                <a:sym typeface="+mn-ea"/>
              </a:rPr>
              <a:t>3. 错误反馈策略</a:t>
            </a:r>
            <a:endParaRPr lang="zh-CN" altLang="en-US"/>
          </a:p>
          <a:p>
            <a:pPr indent="457200"/>
            <a:r>
              <a:rPr lang="zh-CN" altLang="en-US">
                <a:sym typeface="+mn-ea"/>
              </a:rPr>
              <a:t>收集全部行级错误一次性返回（而非遇错即停），用户可一次性对照修正，减少反复试错。</a:t>
            </a:r>
            <a:endParaRPr lang="zh-CN" altLang="en-US"/>
          </a:p>
          <a:p>
            <a:pPr indent="457200"/>
            <a:r>
              <a:rPr lang="zh-CN" altLang="en-US">
                <a:sym typeface="+mn-ea"/>
              </a:rPr>
              <a:t>每条错误包含：</a:t>
            </a:r>
            <a:r>
              <a:rPr lang="en-US" altLang="zh-CN">
                <a:sym typeface="+mn-ea"/>
              </a:rPr>
              <a:t>Excel </a:t>
            </a:r>
            <a:r>
              <a:rPr lang="zh-CN" altLang="en-US">
                <a:sym typeface="+mn-ea"/>
              </a:rPr>
              <a:t>显示行号 + 字段名 + 实际值 + 正确取值，明确告诉用户，哪一行、哪个字段、出了什么问题、应改成什么。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错误以多行文本返回，前端在弹窗中换行展示。</a:t>
            </a:r>
            <a:endParaRPr lang="zh-CN" altLang="en-US"/>
          </a:p>
          <a:p>
            <a:endParaRPr lang="zh-CN" altLang="en-US"/>
          </a:p>
          <a:p>
            <a:pPr indent="457200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49141" y="926049"/>
            <a:ext cx="238584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功能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设计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945" y="2874645"/>
            <a:ext cx="5259705" cy="39116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zh-CN" altLang="en-US">
                <a:sym typeface="+mn-lt"/>
              </a:rPr>
              <a:t>指标点批量导入功能</a:t>
            </a:r>
            <a:endParaRPr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59443" y="926425"/>
            <a:ext cx="11327757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首先点击</a:t>
            </a:r>
            <a:r>
              <a:rPr lang="en-US" altLang="zh-CN" sz="24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zh-CN" altLang="en-US" sz="24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下载模板</a:t>
            </a:r>
            <a:r>
              <a:rPr lang="en-US" altLang="zh-CN" sz="24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en-US" sz="24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按钮，下载指标点导入</a:t>
            </a:r>
            <a:r>
              <a:rPr lang="zh-CN" altLang="en-US" sz="24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模板</a:t>
            </a:r>
            <a:endParaRPr lang="zh-CN" altLang="en-US" sz="2400" kern="10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" y="1386840"/>
            <a:ext cx="8845550" cy="12446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81325"/>
            <a:ext cx="6261735" cy="302196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1735" y="2782570"/>
            <a:ext cx="5930265" cy="341884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zh-CN" altLang="en-US">
                <a:sym typeface="+mn-lt"/>
              </a:rPr>
              <a:t>样式调整、界面优化</a:t>
            </a:r>
            <a:endParaRPr lang="zh-CN" altLang="en-US"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59180" y="1356360"/>
            <a:ext cx="10073640" cy="1275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457200">
              <a:lnSpc>
                <a:spcPct val="115000"/>
              </a:lnSpc>
              <a:spcAft>
                <a:spcPts val="800"/>
              </a:spcAft>
            </a:pP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主要工作</a:t>
            </a: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是围绕 </a:t>
            </a:r>
            <a:r>
              <a:rPr lang="en-US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OBE </a:t>
            </a: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达成度计算平台前端页面进行界面美化、表格布局优化、操作按钮统一和 </a:t>
            </a:r>
            <a:r>
              <a:rPr lang="en-US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Git </a:t>
            </a: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提交流程整理。工作重点是对系统管理员端、教务管理员端、主讲教师端、专业负责人端等多个角色页面进行样式调整，在不修改原有业务逻辑的前提下，提升页面的可读性、一致性和操作区分度。</a:t>
            </a:r>
            <a:endParaRPr lang="zh-CN" altLang="en-US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1745615" y="2856865"/>
          <a:ext cx="8891270" cy="2827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5630"/>
                <a:gridCol w="5755640"/>
              </a:tblGrid>
              <a:tr h="7067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主要模块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工作内容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70675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/>
                        <a:t>教务管理员端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/>
                        <a:t>优化学生管理、教学班级管理、行政班级管理、成绩解锁等页面的操作按钮和表格展示。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706755">
                <a:tc>
                  <a:txBody>
                    <a:bodyPr/>
                    <a:p>
                      <a:pPr algn="ctr"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altLang="en-US" sz="1800"/>
                        <a:t>主讲教师端 / 专业负责人端</a:t>
                      </a:r>
                      <a:endParaRPr lang="zh-CN" altLang="en-US" sz="1800"/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/>
                        <a:t>优化课程目标、权重分配、考核点映射、题目设置、成绩导入、毕业要求管理、宏观支撑矩阵等页面。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706755">
                <a:tc>
                  <a:txBody>
                    <a:bodyPr/>
                    <a:p>
                      <a:pPr algn="ctr">
                        <a:spcBef>
                          <a:spcPts val="1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800"/>
                        <a:t>系统管理员端 </a:t>
                      </a:r>
                      <a:endParaRPr lang="zh-CN" altLang="en-US" sz="1800"/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/>
                        <a:t>优化用户管理、数据字典管理页面，并整理提交说明、PR 评论和分支合并流程。</a:t>
                      </a:r>
                      <a:endParaRPr lang="zh-CN" altLang="en-US"/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zh-CN" altLang="en-US">
                <a:sym typeface="+mn-lt"/>
              </a:rPr>
              <a:t>教务管理员端界面优化</a:t>
            </a:r>
            <a:endParaRPr lang="zh-CN" altLang="en-US"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47725" y="995045"/>
            <a:ext cx="10073640" cy="482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457200">
              <a:lnSpc>
                <a:spcPct val="115000"/>
              </a:lnSpc>
              <a:spcAft>
                <a:spcPts val="800"/>
              </a:spcAft>
            </a:pP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调整课程类别列宽度，避免“必修”换行显示；对按钮以及页面布局进行了一些优化</a:t>
            </a:r>
            <a:endParaRPr lang="zh-CN" altLang="en-US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Picture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85" y="1707515"/>
            <a:ext cx="6228715" cy="31902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Picture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800" y="1707515"/>
            <a:ext cx="5797550" cy="3190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文本框 8"/>
          <p:cNvSpPr txBox="1"/>
          <p:nvPr/>
        </p:nvSpPr>
        <p:spPr>
          <a:xfrm>
            <a:off x="2772410" y="4984750"/>
            <a:ext cx="773430" cy="249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>
                <a:solidFill>
                  <a:schemeClr val="tx1"/>
                </a:solidFill>
              </a:rPr>
              <a:t>修改前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048115" y="4984750"/>
            <a:ext cx="773430" cy="249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>
                <a:solidFill>
                  <a:schemeClr val="tx1"/>
                </a:solidFill>
              </a:rPr>
              <a:t>修改</a:t>
            </a:r>
            <a:r>
              <a:rPr lang="zh-CN" altLang="en-US" sz="1400">
                <a:solidFill>
                  <a:schemeClr val="tx1"/>
                </a:solidFill>
              </a:rPr>
              <a:t>后</a:t>
            </a:r>
            <a:endParaRPr lang="zh-CN" altLang="en-US" sz="14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zh-CN" altLang="en-US">
                <a:sym typeface="+mn-lt"/>
              </a:rPr>
              <a:t>教务管理员端界面优化</a:t>
            </a:r>
            <a:endParaRPr lang="zh-CN" altLang="en-US"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47725" y="995045"/>
            <a:ext cx="10073640" cy="482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457200">
              <a:lnSpc>
                <a:spcPct val="115000"/>
              </a:lnSpc>
              <a:spcAft>
                <a:spcPts val="800"/>
              </a:spcAft>
            </a:pP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修复课程体系、学生管理弹窗中 </a:t>
            </a:r>
            <a:r>
              <a:rPr lang="en-US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el-tabs </a:t>
            </a: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结构缺失导致的模板问题；增加当前已分配学生人数的提示。</a:t>
            </a:r>
            <a:endParaRPr lang="zh-CN" altLang="en-US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2689225" y="6452235"/>
            <a:ext cx="773430" cy="249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>
                <a:solidFill>
                  <a:schemeClr val="tx1"/>
                </a:solidFill>
              </a:rPr>
              <a:t>修改前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8907780" y="6452235"/>
            <a:ext cx="773430" cy="249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>
                <a:solidFill>
                  <a:schemeClr val="tx1"/>
                </a:solidFill>
              </a:rPr>
              <a:t>修改</a:t>
            </a:r>
            <a:r>
              <a:rPr lang="zh-CN" altLang="en-US" sz="1400">
                <a:solidFill>
                  <a:schemeClr val="tx1"/>
                </a:solidFill>
              </a:rPr>
              <a:t>后</a:t>
            </a:r>
            <a:endParaRPr lang="zh-CN" altLang="en-US" sz="1400">
              <a:solidFill>
                <a:schemeClr val="tx1"/>
              </a:solidFill>
            </a:endParaRPr>
          </a:p>
        </p:txBody>
      </p:sp>
      <p:pic>
        <p:nvPicPr>
          <p:cNvPr id="3" name="Picture"/>
          <p:cNvPicPr>
            <a:picLocks noChangeAspect="1" noChangeArrowheads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545" y="2004378"/>
            <a:ext cx="5334000" cy="10839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" name="Picture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9540" y="1477645"/>
            <a:ext cx="5334000" cy="22682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" name="Picture"/>
          <p:cNvPicPr>
            <a:picLocks noChangeAspect="1" noChangeArrowheads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545" y="4027805"/>
            <a:ext cx="5334000" cy="23215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" name="Picture"/>
          <p:cNvPicPr>
            <a:picLocks noChangeAspect="1" noChangeArrowheads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1970" y="3764915"/>
            <a:ext cx="4548505" cy="261048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zh-CN" altLang="en-US">
                <a:sym typeface="+mn-lt"/>
              </a:rPr>
              <a:t>教务管理员端界面优化</a:t>
            </a:r>
            <a:endParaRPr lang="zh-CN" altLang="en-US"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47725" y="995045"/>
            <a:ext cx="10073640" cy="482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457200">
              <a:lnSpc>
                <a:spcPct val="115000"/>
              </a:lnSpc>
              <a:spcAft>
                <a:spcPts val="800"/>
              </a:spcAft>
            </a:pP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优化宏观看板文字显示不全的问题,并对状态占比图形进行优化</a:t>
            </a:r>
            <a:endParaRPr lang="zh-CN" altLang="en-US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2772410" y="4448175"/>
            <a:ext cx="773430" cy="249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>
                <a:solidFill>
                  <a:schemeClr val="tx1"/>
                </a:solidFill>
              </a:rPr>
              <a:t>修改前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9009380" y="4448175"/>
            <a:ext cx="773430" cy="249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>
                <a:solidFill>
                  <a:schemeClr val="tx1"/>
                </a:solidFill>
              </a:rPr>
              <a:t>修改</a:t>
            </a:r>
            <a:r>
              <a:rPr lang="zh-CN" altLang="en-US" sz="1400">
                <a:solidFill>
                  <a:schemeClr val="tx1"/>
                </a:solidFill>
              </a:rPr>
              <a:t>后</a:t>
            </a:r>
            <a:endParaRPr lang="zh-CN" altLang="en-US" sz="1400">
              <a:solidFill>
                <a:schemeClr val="tx1"/>
              </a:solidFill>
            </a:endParaRPr>
          </a:p>
        </p:txBody>
      </p:sp>
      <p:pic>
        <p:nvPicPr>
          <p:cNvPr id="3" name="Picture"/>
          <p:cNvPicPr>
            <a:picLocks noChangeAspect="1" noChangeArrowheads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70" y="2106930"/>
            <a:ext cx="5334000" cy="2247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" name="Picture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735" y="2092008"/>
            <a:ext cx="5334000" cy="226250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zh-CN" altLang="en-US">
                <a:sym typeface="+mn-lt"/>
              </a:rPr>
              <a:t>教务管理员端界面优化</a:t>
            </a:r>
            <a:endParaRPr lang="zh-CN" altLang="en-US"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47725" y="995045"/>
            <a:ext cx="10073640" cy="482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457200">
              <a:lnSpc>
                <a:spcPct val="115000"/>
              </a:lnSpc>
              <a:spcAft>
                <a:spcPts val="800"/>
              </a:spcAft>
            </a:pP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对专业达成度表格进行优化，使达成度和状态显示更加清晰。</a:t>
            </a:r>
            <a:endParaRPr lang="zh-CN" altLang="en-US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2772410" y="4697730"/>
            <a:ext cx="773430" cy="249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>
                <a:solidFill>
                  <a:schemeClr val="tx1"/>
                </a:solidFill>
              </a:rPr>
              <a:t>修改前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8785225" y="4697730"/>
            <a:ext cx="773430" cy="249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>
                <a:solidFill>
                  <a:schemeClr val="tx1"/>
                </a:solidFill>
              </a:rPr>
              <a:t>修改</a:t>
            </a:r>
            <a:r>
              <a:rPr lang="zh-CN" altLang="en-US" sz="1400">
                <a:solidFill>
                  <a:schemeClr val="tx1"/>
                </a:solidFill>
              </a:rPr>
              <a:t>后</a:t>
            </a:r>
            <a:endParaRPr lang="zh-CN" altLang="en-US" sz="1400">
              <a:solidFill>
                <a:schemeClr val="tx1"/>
              </a:solidFill>
            </a:endParaRPr>
          </a:p>
        </p:txBody>
      </p:sp>
      <p:pic>
        <p:nvPicPr>
          <p:cNvPr id="24" name="Picture"/>
          <p:cNvPicPr>
            <a:picLocks noChangeAspect="1" noChangeArrowheads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595" y="1401445"/>
            <a:ext cx="5424170" cy="31235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Picture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6350" y="1681480"/>
            <a:ext cx="5771515" cy="27044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zh-CN" altLang="en-US">
                <a:sym typeface="+mn-lt"/>
              </a:rPr>
              <a:t>主讲教师端课程大纲相关页面优化</a:t>
            </a:r>
            <a:endParaRPr lang="zh-CN" altLang="en-US"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47725" y="995045"/>
            <a:ext cx="10073640" cy="482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457200">
              <a:lnSpc>
                <a:spcPct val="115000"/>
              </a:lnSpc>
              <a:spcAft>
                <a:spcPts val="800"/>
              </a:spcAft>
            </a:pP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对提交时间、页面布局进行了优化</a:t>
            </a:r>
            <a:endParaRPr lang="zh-CN" altLang="en-US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2772410" y="4790440"/>
            <a:ext cx="773430" cy="249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>
                <a:solidFill>
                  <a:schemeClr val="tx1"/>
                </a:solidFill>
              </a:rPr>
              <a:t>修改前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9123680" y="4790440"/>
            <a:ext cx="773430" cy="249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>
                <a:solidFill>
                  <a:schemeClr val="tx1"/>
                </a:solidFill>
              </a:rPr>
              <a:t>修改</a:t>
            </a:r>
            <a:r>
              <a:rPr lang="zh-CN" altLang="en-US" sz="1400">
                <a:solidFill>
                  <a:schemeClr val="tx1"/>
                </a:solidFill>
              </a:rPr>
              <a:t>后</a:t>
            </a:r>
            <a:endParaRPr lang="zh-CN" altLang="en-US" sz="1400">
              <a:solidFill>
                <a:schemeClr val="tx1"/>
              </a:solidFill>
            </a:endParaRPr>
          </a:p>
        </p:txBody>
      </p:sp>
      <p:pic>
        <p:nvPicPr>
          <p:cNvPr id="11" name="Picture"/>
          <p:cNvPicPr>
            <a:picLocks noChangeAspect="1" noChangeArrowheads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94485"/>
            <a:ext cx="6145530" cy="319595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" name="Picture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1105" y="1594485"/>
            <a:ext cx="5806440" cy="31953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zh-CN" altLang="en-US">
                <a:sym typeface="+mn-lt"/>
              </a:rPr>
              <a:t>主讲教师端课程大纲相关页面优化</a:t>
            </a:r>
            <a:endParaRPr lang="zh-CN" altLang="en-US"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47725" y="995045"/>
            <a:ext cx="10073640" cy="482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457200">
              <a:lnSpc>
                <a:spcPct val="115000"/>
              </a:lnSpc>
              <a:spcAft>
                <a:spcPts val="800"/>
              </a:spcAft>
            </a:pP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对内部权重分配页面进行美化，并且当列合计等于 1 时保持绿色提示；当列合计不等于 1 时显示为红色，便于教师快速识别权重分配异常；</a:t>
            </a:r>
            <a:endParaRPr lang="zh-CN" altLang="en-US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2772410" y="4790440"/>
            <a:ext cx="773430" cy="249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>
                <a:solidFill>
                  <a:schemeClr val="tx1"/>
                </a:solidFill>
              </a:rPr>
              <a:t>修改前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8964295" y="4790440"/>
            <a:ext cx="773430" cy="249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>
                <a:solidFill>
                  <a:schemeClr val="tx1"/>
                </a:solidFill>
              </a:rPr>
              <a:t>修改</a:t>
            </a:r>
            <a:r>
              <a:rPr lang="zh-CN" altLang="en-US" sz="1400">
                <a:solidFill>
                  <a:schemeClr val="tx1"/>
                </a:solidFill>
              </a:rPr>
              <a:t>后</a:t>
            </a:r>
            <a:endParaRPr lang="zh-CN" altLang="en-US" sz="1400">
              <a:solidFill>
                <a:schemeClr val="tx1"/>
              </a:solidFill>
            </a:endParaRPr>
          </a:p>
        </p:txBody>
      </p:sp>
      <p:pic>
        <p:nvPicPr>
          <p:cNvPr id="13" name="Picture"/>
          <p:cNvPicPr>
            <a:picLocks noChangeAspect="1" noChangeArrowheads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2129155"/>
            <a:ext cx="6135370" cy="249301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" name="Picture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485" y="1815148"/>
            <a:ext cx="5334000" cy="293560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zh-CN" altLang="en-US">
                <a:sym typeface="+mn-lt"/>
              </a:rPr>
              <a:t>主讲教师端课程大纲相关页面优化</a:t>
            </a:r>
            <a:endParaRPr lang="zh-CN" altLang="en-US"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47725" y="995045"/>
            <a:ext cx="10073640" cy="482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457200">
              <a:lnSpc>
                <a:spcPct val="115000"/>
              </a:lnSpc>
              <a:spcAft>
                <a:spcPts val="800"/>
              </a:spcAft>
            </a:pP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修改提示词错误，并美化界面</a:t>
            </a:r>
            <a:endParaRPr lang="zh-CN" altLang="en-US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2772410" y="5046980"/>
            <a:ext cx="773430" cy="249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>
                <a:solidFill>
                  <a:schemeClr val="tx1"/>
                </a:solidFill>
              </a:rPr>
              <a:t>修改前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8964295" y="5046980"/>
            <a:ext cx="773430" cy="249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>
                <a:solidFill>
                  <a:schemeClr val="tx1"/>
                </a:solidFill>
              </a:rPr>
              <a:t>修改</a:t>
            </a:r>
            <a:r>
              <a:rPr lang="zh-CN" altLang="en-US" sz="1400">
                <a:solidFill>
                  <a:schemeClr val="tx1"/>
                </a:solidFill>
              </a:rPr>
              <a:t>后</a:t>
            </a:r>
            <a:endParaRPr lang="zh-CN" altLang="en-US" sz="1400">
              <a:solidFill>
                <a:schemeClr val="tx1"/>
              </a:solidFill>
            </a:endParaRPr>
          </a:p>
        </p:txBody>
      </p:sp>
      <p:pic>
        <p:nvPicPr>
          <p:cNvPr id="15" name="Picture"/>
          <p:cNvPicPr>
            <a:picLocks noChangeAspect="1" noChangeArrowheads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" y="2021840"/>
            <a:ext cx="6227445" cy="281495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" name="Picture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7155" y="1866265"/>
            <a:ext cx="5689600" cy="312674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zh-CN" altLang="en-US">
                <a:sym typeface="+mn-lt"/>
              </a:rPr>
              <a:t>专业负责人端页面优化</a:t>
            </a:r>
            <a:endParaRPr lang="zh-CN" altLang="en-US"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47725" y="995045"/>
            <a:ext cx="10073640" cy="482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457200">
              <a:lnSpc>
                <a:spcPct val="115000"/>
              </a:lnSpc>
              <a:spcAft>
                <a:spcPts val="800"/>
              </a:spcAft>
            </a:pP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优化毕业要求管理页面整体展示效果，增加折叠行浅色背景、圆角和阴影。区分“毕业要求行”和“指标点列表”中的操作按钮样式，使父级与子级操作层级更加清楚。</a:t>
            </a:r>
            <a:endParaRPr lang="zh-CN" altLang="en-US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2772410" y="5737225"/>
            <a:ext cx="773430" cy="249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>
                <a:solidFill>
                  <a:schemeClr val="tx1"/>
                </a:solidFill>
              </a:rPr>
              <a:t>修改前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8964295" y="5737225"/>
            <a:ext cx="773430" cy="249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>
                <a:solidFill>
                  <a:schemeClr val="tx1"/>
                </a:solidFill>
              </a:rPr>
              <a:t>修改</a:t>
            </a:r>
            <a:r>
              <a:rPr lang="zh-CN" altLang="en-US" sz="1400">
                <a:solidFill>
                  <a:schemeClr val="tx1"/>
                </a:solidFill>
              </a:rPr>
              <a:t>后</a:t>
            </a:r>
            <a:endParaRPr lang="zh-CN" altLang="en-US" sz="1400">
              <a:solidFill>
                <a:schemeClr val="tx1"/>
              </a:solidFill>
            </a:endParaRPr>
          </a:p>
        </p:txBody>
      </p:sp>
      <p:pic>
        <p:nvPicPr>
          <p:cNvPr id="17" name="Picture"/>
          <p:cNvPicPr>
            <a:picLocks noChangeAspect="1" noChangeArrowheads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07515"/>
            <a:ext cx="5972810" cy="38766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" name="Picture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0265" y="1789430"/>
            <a:ext cx="5991225" cy="37217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zh-CN" altLang="en-US">
                <a:sym typeface="+mn-lt"/>
              </a:rPr>
              <a:t>系统管理员端页面优化</a:t>
            </a:r>
            <a:endParaRPr lang="zh-CN" altLang="en-US"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47725" y="995045"/>
            <a:ext cx="10073640" cy="482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457200">
              <a:lnSpc>
                <a:spcPct val="115000"/>
              </a:lnSpc>
              <a:spcAft>
                <a:spcPts val="800"/>
              </a:spcAft>
            </a:pP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优化角色标签，使系统管理员、教务管理员、专业负责人、主讲教师等角色显示为不同颜色。并对界面进行了美化。优化数据字典中删除键的格式。</a:t>
            </a:r>
            <a:endParaRPr lang="zh-CN" altLang="en-US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2789555" y="6510020"/>
            <a:ext cx="773430" cy="249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>
                <a:solidFill>
                  <a:schemeClr val="tx1"/>
                </a:solidFill>
              </a:rPr>
              <a:t>修改前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8395335" y="6510020"/>
            <a:ext cx="773430" cy="249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>
                <a:solidFill>
                  <a:schemeClr val="tx1"/>
                </a:solidFill>
              </a:rPr>
              <a:t>修改</a:t>
            </a:r>
            <a:r>
              <a:rPr lang="zh-CN" altLang="en-US" sz="1400">
                <a:solidFill>
                  <a:schemeClr val="tx1"/>
                </a:solidFill>
              </a:rPr>
              <a:t>后</a:t>
            </a:r>
            <a:endParaRPr lang="zh-CN" altLang="en-US" sz="1400">
              <a:solidFill>
                <a:schemeClr val="tx1"/>
              </a:solidFill>
            </a:endParaRPr>
          </a:p>
        </p:txBody>
      </p:sp>
      <p:pic>
        <p:nvPicPr>
          <p:cNvPr id="20" name="Picture"/>
          <p:cNvPicPr>
            <a:picLocks noChangeAspect="1" noChangeArrowheads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680" y="1656715"/>
            <a:ext cx="4869815" cy="302450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" name="Picture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1695" y="1990725"/>
            <a:ext cx="5876290" cy="262445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" name="Picture"/>
          <p:cNvPicPr>
            <a:picLocks noChangeAspect="1" noChangeArrowheads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680" y="4681220"/>
            <a:ext cx="4779010" cy="17494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" name="Picture"/>
          <p:cNvPicPr>
            <a:picLocks noChangeAspect="1" noChangeArrowheads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4285" y="4771390"/>
            <a:ext cx="5071745" cy="16592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zh-CN" altLang="en-US">
                <a:sym typeface="+mn-lt"/>
              </a:rPr>
              <a:t>宏观看板权限扩展</a:t>
            </a:r>
            <a:endParaRPr lang="zh-CN" altLang="en-US"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12750" y="995045"/>
            <a:ext cx="11019155" cy="482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457200">
              <a:lnSpc>
                <a:spcPct val="115000"/>
              </a:lnSpc>
              <a:spcAft>
                <a:spcPts val="800"/>
              </a:spcAft>
            </a:pP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宏观看板用于展示毕业要求达成度统计情况，对专业层面的分析和改进具有参考价值。原系统中宏观看板主要面向部分管理角色开放，专业负责人无法直接访问相关页面，导致其查看专业统计信息不够方便。调整后，专业负责人能够访问宏观看板页面，查看与毕业要求达成度相关的统计数据。这有助于专业负责人掌握专业整体情况，也为后续课程质量分析和持续改进提供支持。</a:t>
            </a:r>
            <a:endParaRPr lang="zh-CN" altLang="en-US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810" y="2316480"/>
            <a:ext cx="8054975" cy="444373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zh-CN" altLang="en-US">
                <a:sym typeface="+mn-lt"/>
              </a:rPr>
              <a:t>学生名单导入</a:t>
            </a:r>
            <a:endParaRPr lang="zh-CN" altLang="en-US"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12750" y="995045"/>
            <a:ext cx="11019155" cy="482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457200">
              <a:lnSpc>
                <a:spcPct val="115000"/>
              </a:lnSpc>
              <a:spcAft>
                <a:spcPts val="800"/>
              </a:spcAft>
            </a:pP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学生名单导入需求主要针对学生管理页面。原有系统只能逐个新增学生，如果需要导入一个班级或多个班级的学生名单，操作成本较高。</a:t>
            </a:r>
            <a:endParaRPr lang="zh-CN" altLang="en-US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1815782"/>
            <a:ext cx="5080000" cy="3382645"/>
          </a:xfrm>
          <a:prstGeom prst="rect">
            <a:avLst/>
          </a:prstGeom>
        </p:spPr>
        <p:txBody>
          <a:bodyPr>
            <a:spAutoFit/>
          </a:bodyPr>
          <a:p>
            <a:pPr defTabSz="266700">
              <a:lnSpc>
                <a:spcPct val="114000"/>
              </a:lnSpc>
              <a:spcAft>
                <a:spcPts val="1000"/>
              </a:spcAft>
            </a:pPr>
            <a:r>
              <a:rPr lang="zh-CN" altLang="en-US" sz="1600">
                <a:latin typeface="ＭＳ 明朝"/>
                <a:ea typeface="ＭＳ 明朝"/>
              </a:rPr>
              <a:t>该功能的设计重点包括：</a:t>
            </a:r>
            <a:endParaRPr lang="zh-CN" altLang="en-US" sz="1600">
              <a:latin typeface="ＭＳ 明朝"/>
              <a:ea typeface="ＭＳ 明朝"/>
            </a:endParaRPr>
          </a:p>
          <a:p>
            <a:pPr defTabSz="266700">
              <a:lnSpc>
                <a:spcPct val="114000"/>
              </a:lnSpc>
              <a:spcAft>
                <a:spcPts val="1000"/>
              </a:spcAft>
            </a:pPr>
            <a:r>
              <a:rPr lang="en-US" altLang="zh-CN" sz="1600">
                <a:latin typeface="宋体" panose="02010600030101010101" pitchFamily="2" charset="-122"/>
                <a:ea typeface="ＭＳ 明朝"/>
              </a:rPr>
              <a:t> </a:t>
            </a:r>
            <a:endParaRPr lang="en-US" altLang="zh-CN" sz="1600">
              <a:latin typeface="宋体" panose="02010600030101010101" pitchFamily="2" charset="-122"/>
              <a:ea typeface="ＭＳ 明朝"/>
            </a:endParaRPr>
          </a:p>
          <a:p>
            <a:pPr marL="457200" indent="-228600" defTabSz="266700">
              <a:lnSpc>
                <a:spcPct val="114000"/>
              </a:lnSpc>
              <a:spcAft>
                <a:spcPts val="1000"/>
              </a:spcAft>
              <a:buFont typeface="Symbol" panose="05050102010706020507"/>
              <a:buChar char=""/>
              <a:tabLst>
                <a:tab pos="228600" algn="l"/>
              </a:tabLst>
            </a:pPr>
            <a:r>
              <a:rPr lang="zh-CN" altLang="en-US" sz="1600">
                <a:latin typeface="ＭＳ 明朝"/>
                <a:ea typeface="ＭＳ 明朝"/>
              </a:rPr>
              <a:t>在学生管理页面增加</a:t>
            </a:r>
            <a:r>
              <a:rPr lang="zh-CN" altLang="en-US" sz="1600">
                <a:latin typeface="宋体" panose="02010600030101010101" pitchFamily="2" charset="-122"/>
                <a:ea typeface="ＭＳ 明朝"/>
              </a:rPr>
              <a:t>“</a:t>
            </a:r>
            <a:r>
              <a:rPr lang="zh-CN" altLang="en-US" sz="1600">
                <a:latin typeface="ＭＳ 明朝"/>
                <a:ea typeface="ＭＳ 明朝"/>
              </a:rPr>
              <a:t>学生名单导入</a:t>
            </a:r>
            <a:r>
              <a:rPr lang="zh-CN" altLang="en-US" sz="1600">
                <a:latin typeface="宋体" panose="02010600030101010101" pitchFamily="2" charset="-122"/>
                <a:ea typeface="ＭＳ 明朝"/>
              </a:rPr>
              <a:t>”</a:t>
            </a:r>
            <a:r>
              <a:rPr lang="zh-CN" altLang="en-US" sz="1600">
                <a:latin typeface="ＭＳ 明朝"/>
                <a:ea typeface="ＭＳ 明朝"/>
              </a:rPr>
              <a:t>按钮。</a:t>
            </a:r>
            <a:endParaRPr lang="zh-CN" altLang="en-US" sz="1600">
              <a:latin typeface="ＭＳ 明朝"/>
              <a:ea typeface="ＭＳ 明朝"/>
            </a:endParaRPr>
          </a:p>
          <a:p>
            <a:pPr marL="457200" indent="-228600" defTabSz="266700">
              <a:lnSpc>
                <a:spcPct val="114000"/>
              </a:lnSpc>
              <a:spcAft>
                <a:spcPts val="1000"/>
              </a:spcAft>
              <a:buFont typeface="Symbol" panose="05050102010706020507"/>
              <a:buChar char=""/>
              <a:tabLst>
                <a:tab pos="228600" algn="l"/>
              </a:tabLst>
            </a:pPr>
            <a:r>
              <a:rPr lang="zh-CN" altLang="en-US" sz="1600">
                <a:latin typeface="ＭＳ 明朝"/>
                <a:ea typeface="ＭＳ 明朝"/>
              </a:rPr>
              <a:t>提供</a:t>
            </a:r>
            <a:r>
              <a:rPr lang="zh-CN" altLang="en-US" sz="1600">
                <a:latin typeface="宋体" panose="02010600030101010101" pitchFamily="2" charset="-122"/>
                <a:ea typeface="ＭＳ 明朝"/>
              </a:rPr>
              <a:t>“</a:t>
            </a:r>
            <a:r>
              <a:rPr lang="zh-CN" altLang="en-US" sz="1600">
                <a:latin typeface="ＭＳ 明朝"/>
                <a:ea typeface="ＭＳ 明朝"/>
              </a:rPr>
              <a:t>下载模板</a:t>
            </a:r>
            <a:r>
              <a:rPr lang="zh-CN" altLang="en-US" sz="1600">
                <a:latin typeface="宋体" panose="02010600030101010101" pitchFamily="2" charset="-122"/>
                <a:ea typeface="ＭＳ 明朝"/>
              </a:rPr>
              <a:t>”</a:t>
            </a:r>
            <a:r>
              <a:rPr lang="zh-CN" altLang="en-US" sz="1600">
                <a:latin typeface="ＭＳ 明朝"/>
                <a:ea typeface="ＭＳ 明朝"/>
              </a:rPr>
              <a:t>功能，保证用户按照统一格式填写。</a:t>
            </a:r>
            <a:endParaRPr lang="zh-CN" altLang="en-US" sz="1600">
              <a:latin typeface="ＭＳ 明朝"/>
              <a:ea typeface="ＭＳ 明朝"/>
            </a:endParaRPr>
          </a:p>
          <a:p>
            <a:pPr marL="457200" indent="-228600" defTabSz="266700">
              <a:lnSpc>
                <a:spcPct val="114000"/>
              </a:lnSpc>
              <a:spcAft>
                <a:spcPts val="1000"/>
              </a:spcAft>
              <a:buFont typeface="Symbol" panose="05050102010706020507"/>
              <a:buChar char=""/>
              <a:tabLst>
                <a:tab pos="228600" algn="l"/>
              </a:tabLst>
            </a:pPr>
            <a:r>
              <a:rPr lang="zh-CN" altLang="en-US" sz="1600">
                <a:latin typeface="ＭＳ 明朝"/>
                <a:ea typeface="ＭＳ 明朝"/>
              </a:rPr>
              <a:t>上传文件时校验模板格式，避免用户上传错误文件。</a:t>
            </a:r>
            <a:endParaRPr lang="zh-CN" altLang="en-US" sz="1600">
              <a:latin typeface="ＭＳ 明朝"/>
              <a:ea typeface="ＭＳ 明朝"/>
            </a:endParaRPr>
          </a:p>
          <a:p>
            <a:pPr marL="457200" indent="-228600" defTabSz="266700">
              <a:lnSpc>
                <a:spcPct val="114000"/>
              </a:lnSpc>
              <a:spcAft>
                <a:spcPts val="1000"/>
              </a:spcAft>
              <a:buFont typeface="Symbol" panose="05050102010706020507"/>
              <a:buChar char=""/>
              <a:tabLst>
                <a:tab pos="228600" algn="l"/>
              </a:tabLst>
            </a:pPr>
            <a:r>
              <a:rPr lang="zh-CN" altLang="en-US" sz="1600">
                <a:latin typeface="ＭＳ 明朝"/>
                <a:ea typeface="ＭＳ 明朝"/>
              </a:rPr>
              <a:t>对学号、姓名、班级、专业等关键字段进行校验。</a:t>
            </a:r>
            <a:endParaRPr lang="zh-CN" altLang="en-US" sz="1600">
              <a:latin typeface="ＭＳ 明朝"/>
              <a:ea typeface="ＭＳ 明朝"/>
            </a:endParaRPr>
          </a:p>
          <a:p>
            <a:pPr marL="457200" indent="-228600" defTabSz="266700">
              <a:lnSpc>
                <a:spcPct val="114000"/>
              </a:lnSpc>
              <a:spcAft>
                <a:spcPts val="1000"/>
              </a:spcAft>
              <a:buFont typeface="Symbol" panose="05050102010706020507"/>
              <a:buChar char=""/>
              <a:tabLst>
                <a:tab pos="228600" algn="l"/>
              </a:tabLst>
            </a:pPr>
            <a:r>
              <a:rPr lang="zh-CN" altLang="en-US" sz="1600">
                <a:latin typeface="ＭＳ 明朝"/>
                <a:ea typeface="ＭＳ 明朝"/>
              </a:rPr>
              <a:t>如果导入失败，需要明确提示具体错误位置。</a:t>
            </a:r>
            <a:endParaRPr lang="zh-CN" altLang="en-US" sz="1600">
              <a:latin typeface="ＭＳ 明朝"/>
              <a:ea typeface="ＭＳ 明朝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760" y="1866265"/>
            <a:ext cx="6311900" cy="40817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zh-CN" altLang="en-US">
                <a:sym typeface="+mn-lt"/>
              </a:rPr>
              <a:t>学生名单导入</a:t>
            </a:r>
            <a:endParaRPr lang="zh-CN" altLang="en-US"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51765" y="995045"/>
            <a:ext cx="2136140" cy="482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 algn="l"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下载导入</a:t>
            </a: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模板</a:t>
            </a:r>
            <a:endParaRPr lang="zh-CN" altLang="en-US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905" y="826135"/>
            <a:ext cx="5407660" cy="23399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905" y="3613150"/>
            <a:ext cx="3264535" cy="24320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8580" y="4631055"/>
            <a:ext cx="11019155" cy="482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 algn="l"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批量导入</a:t>
            </a: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数据</a:t>
            </a:r>
            <a:endParaRPr lang="zh-CN" altLang="en-US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4085" y="1847850"/>
            <a:ext cx="6122670" cy="85471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0460" y="4079875"/>
            <a:ext cx="7241540" cy="159956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zh-CN" altLang="en-US">
                <a:sym typeface="+mn-lt"/>
              </a:rPr>
              <a:t>班级导入</a:t>
            </a:r>
            <a:endParaRPr lang="zh-CN" altLang="en-US"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12750" y="995045"/>
            <a:ext cx="11019155" cy="482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457200">
              <a:lnSpc>
                <a:spcPct val="115000"/>
              </a:lnSpc>
              <a:spcAft>
                <a:spcPts val="800"/>
              </a:spcAft>
            </a:pP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班级导入是本阶段完成的重点功能之一，主要面向教务员管理员的班级管理页面。原系统只能逐个新增行政班级，如果需要维护多个专业、多个年级的班级数据，会比较低效。</a:t>
            </a:r>
            <a:endParaRPr lang="zh-CN" altLang="en-US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5575" y="1815465"/>
            <a:ext cx="5080000" cy="4608195"/>
          </a:xfrm>
          <a:prstGeom prst="rect">
            <a:avLst/>
          </a:prstGeom>
        </p:spPr>
        <p:txBody>
          <a:bodyPr>
            <a:spAutoFit/>
          </a:bodyPr>
          <a:p>
            <a:pPr defTabSz="266700">
              <a:lnSpc>
                <a:spcPct val="114000"/>
              </a:lnSpc>
              <a:spcAft>
                <a:spcPts val="1000"/>
              </a:spcAft>
            </a:pPr>
            <a:r>
              <a:rPr lang="zh-CN" altLang="en-US" sz="1600">
                <a:latin typeface="ＭＳ 明朝"/>
                <a:ea typeface="ＭＳ 明朝"/>
              </a:rPr>
              <a:t>本功能完成了以下内容：</a:t>
            </a:r>
            <a:endParaRPr lang="en-US" altLang="zh-CN" sz="1600">
              <a:latin typeface="宋体" panose="02010600030101010101" pitchFamily="2" charset="-122"/>
              <a:ea typeface="ＭＳ 明朝"/>
            </a:endParaRPr>
          </a:p>
          <a:p>
            <a:pPr marL="457200" indent="-228600" defTabSz="266700">
              <a:lnSpc>
                <a:spcPct val="114000"/>
              </a:lnSpc>
              <a:spcAft>
                <a:spcPts val="1000"/>
              </a:spcAft>
              <a:buFont typeface="Symbol" panose="05050102010706020507"/>
              <a:buChar char=""/>
              <a:tabLst>
                <a:tab pos="228600" algn="l"/>
              </a:tabLst>
            </a:pPr>
            <a:r>
              <a:rPr lang="zh-CN" altLang="en-US" sz="1600">
                <a:latin typeface="ＭＳ 明朝"/>
                <a:ea typeface="ＭＳ 明朝"/>
              </a:rPr>
              <a:t>前端在行政班级管理页面新增</a:t>
            </a:r>
            <a:r>
              <a:rPr lang="zh-CN" altLang="en-US" sz="1600">
                <a:latin typeface="宋体" panose="02010600030101010101" pitchFamily="2" charset="-122"/>
                <a:ea typeface="ＭＳ 明朝"/>
              </a:rPr>
              <a:t>“</a:t>
            </a:r>
            <a:r>
              <a:rPr lang="zh-CN" altLang="en-US" sz="1600">
                <a:latin typeface="ＭＳ 明朝"/>
                <a:ea typeface="ＭＳ 明朝"/>
              </a:rPr>
              <a:t>下载模板</a:t>
            </a:r>
            <a:r>
              <a:rPr lang="zh-CN" altLang="en-US" sz="1600">
                <a:latin typeface="宋体" panose="02010600030101010101" pitchFamily="2" charset="-122"/>
                <a:ea typeface="ＭＳ 明朝"/>
              </a:rPr>
              <a:t>”</a:t>
            </a:r>
            <a:r>
              <a:rPr lang="zh-CN" altLang="en-US" sz="1600">
                <a:latin typeface="ＭＳ 明朝"/>
                <a:ea typeface="ＭＳ 明朝"/>
              </a:rPr>
              <a:t>按钮。</a:t>
            </a:r>
            <a:endParaRPr lang="zh-CN" altLang="en-US" sz="1600">
              <a:latin typeface="ＭＳ 明朝"/>
              <a:ea typeface="ＭＳ 明朝"/>
            </a:endParaRPr>
          </a:p>
          <a:p>
            <a:pPr marL="457200" indent="-228600" defTabSz="266700">
              <a:lnSpc>
                <a:spcPct val="114000"/>
              </a:lnSpc>
              <a:spcAft>
                <a:spcPts val="1000"/>
              </a:spcAft>
              <a:buFont typeface="Symbol" panose="05050102010706020507"/>
              <a:buChar char=""/>
              <a:tabLst>
                <a:tab pos="228600" algn="l"/>
              </a:tabLst>
            </a:pPr>
            <a:r>
              <a:rPr lang="zh-CN" altLang="en-US" sz="1600">
                <a:latin typeface="ＭＳ 明朝"/>
                <a:ea typeface="ＭＳ 明朝"/>
              </a:rPr>
              <a:t>前端新增</a:t>
            </a:r>
            <a:r>
              <a:rPr lang="zh-CN" altLang="en-US" sz="1600">
                <a:latin typeface="宋体" panose="02010600030101010101" pitchFamily="2" charset="-122"/>
                <a:ea typeface="ＭＳ 明朝"/>
              </a:rPr>
              <a:t>“</a:t>
            </a:r>
            <a:r>
              <a:rPr lang="zh-CN" altLang="en-US" sz="1600">
                <a:latin typeface="ＭＳ 明朝"/>
                <a:ea typeface="ＭＳ 明朝"/>
              </a:rPr>
              <a:t>班级导入</a:t>
            </a:r>
            <a:r>
              <a:rPr lang="zh-CN" altLang="en-US" sz="1600">
                <a:latin typeface="宋体" panose="02010600030101010101" pitchFamily="2" charset="-122"/>
                <a:ea typeface="ＭＳ 明朝"/>
              </a:rPr>
              <a:t>”</a:t>
            </a:r>
            <a:r>
              <a:rPr lang="zh-CN" altLang="en-US" sz="1600">
                <a:latin typeface="ＭＳ 明朝"/>
                <a:ea typeface="ＭＳ 明朝"/>
              </a:rPr>
              <a:t>按钮，支持选择 </a:t>
            </a:r>
            <a:r>
              <a:rPr lang="en-US" altLang="zh-CN" sz="1600">
                <a:latin typeface="宋体" panose="02010600030101010101" pitchFamily="2" charset="-122"/>
                <a:ea typeface="ＭＳ 明朝"/>
              </a:rPr>
              <a:t>`.xlsx` </a:t>
            </a:r>
            <a:r>
              <a:rPr lang="zh-CN" altLang="en-US" sz="1600">
                <a:latin typeface="ＭＳ 明朝"/>
                <a:ea typeface="ＭＳ 明朝"/>
              </a:rPr>
              <a:t>文件上传。</a:t>
            </a:r>
            <a:endParaRPr lang="zh-CN" altLang="en-US" sz="1600">
              <a:latin typeface="ＭＳ 明朝"/>
              <a:ea typeface="ＭＳ 明朝"/>
            </a:endParaRPr>
          </a:p>
          <a:p>
            <a:pPr marL="457200" indent="-228600" defTabSz="266700">
              <a:lnSpc>
                <a:spcPct val="114000"/>
              </a:lnSpc>
              <a:spcAft>
                <a:spcPts val="1000"/>
              </a:spcAft>
              <a:buFont typeface="Symbol" panose="05050102010706020507"/>
              <a:buChar char=""/>
              <a:tabLst>
                <a:tab pos="228600" algn="l"/>
              </a:tabLst>
            </a:pPr>
            <a:r>
              <a:rPr lang="zh-CN" altLang="en-US" sz="1600">
                <a:latin typeface="ＭＳ 明朝"/>
                <a:ea typeface="ＭＳ 明朝"/>
              </a:rPr>
              <a:t>后端新增班级导入模板生成逻辑。</a:t>
            </a:r>
            <a:endParaRPr lang="zh-CN" altLang="en-US" sz="1600">
              <a:latin typeface="ＭＳ 明朝"/>
              <a:ea typeface="ＭＳ 明朝"/>
            </a:endParaRPr>
          </a:p>
          <a:p>
            <a:pPr marL="457200" indent="-228600" defTabSz="266700">
              <a:lnSpc>
                <a:spcPct val="114000"/>
              </a:lnSpc>
              <a:spcAft>
                <a:spcPts val="1000"/>
              </a:spcAft>
              <a:buFont typeface="Symbol" panose="05050102010706020507"/>
              <a:buChar char=""/>
              <a:tabLst>
                <a:tab pos="228600" algn="l"/>
              </a:tabLst>
            </a:pPr>
            <a:r>
              <a:rPr lang="zh-CN" altLang="en-US" sz="1600">
                <a:latin typeface="ＭＳ 明朝"/>
                <a:ea typeface="ＭＳ 明朝"/>
              </a:rPr>
              <a:t>后端新增</a:t>
            </a:r>
            <a:r>
              <a:rPr lang="zh-CN" altLang="en-US" sz="1600">
                <a:latin typeface="宋体" panose="02010600030101010101" pitchFamily="2" charset="-122"/>
                <a:ea typeface="ＭＳ 明朝"/>
              </a:rPr>
              <a:t> </a:t>
            </a:r>
            <a:r>
              <a:rPr lang="en-US" altLang="zh-CN" sz="1600">
                <a:latin typeface="宋体" panose="02010600030101010101" pitchFamily="2" charset="-122"/>
                <a:ea typeface="ＭＳ 明朝"/>
              </a:rPr>
              <a:t>Excel </a:t>
            </a:r>
            <a:r>
              <a:rPr lang="zh-CN" altLang="en-US" sz="1600">
                <a:latin typeface="ＭＳ 明朝"/>
                <a:ea typeface="ＭＳ 明朝"/>
              </a:rPr>
              <a:t>文件解析逻辑。</a:t>
            </a:r>
            <a:endParaRPr lang="zh-CN" altLang="en-US" sz="1600">
              <a:latin typeface="ＭＳ 明朝"/>
              <a:ea typeface="ＭＳ 明朝"/>
            </a:endParaRPr>
          </a:p>
          <a:p>
            <a:pPr marL="457200" indent="-228600" defTabSz="266700">
              <a:lnSpc>
                <a:spcPct val="114000"/>
              </a:lnSpc>
              <a:spcAft>
                <a:spcPts val="1000"/>
              </a:spcAft>
              <a:buFont typeface="Symbol" panose="05050102010706020507"/>
              <a:buChar char=""/>
              <a:tabLst>
                <a:tab pos="228600" algn="l"/>
              </a:tabLst>
            </a:pPr>
            <a:r>
              <a:rPr lang="zh-CN" altLang="en-US" sz="1600">
                <a:latin typeface="ＭＳ 明朝"/>
                <a:ea typeface="ＭＳ 明朝"/>
              </a:rPr>
              <a:t>后端对模板表头进行严格校验。</a:t>
            </a:r>
            <a:endParaRPr lang="zh-CN" altLang="en-US" sz="1600">
              <a:latin typeface="ＭＳ 明朝"/>
              <a:ea typeface="ＭＳ 明朝"/>
            </a:endParaRPr>
          </a:p>
          <a:p>
            <a:pPr marL="457200" indent="-228600" defTabSz="266700">
              <a:lnSpc>
                <a:spcPct val="114000"/>
              </a:lnSpc>
              <a:spcAft>
                <a:spcPts val="1000"/>
              </a:spcAft>
              <a:buFont typeface="Symbol" panose="05050102010706020507"/>
              <a:buChar char=""/>
              <a:tabLst>
                <a:tab pos="228600" algn="l"/>
              </a:tabLst>
            </a:pPr>
            <a:r>
              <a:rPr lang="zh-CN" altLang="en-US" sz="1600">
                <a:latin typeface="ＭＳ 明朝"/>
                <a:ea typeface="ＭＳ 明朝"/>
              </a:rPr>
              <a:t>后端对班级名称、所属专业、入学年份等字段进行校验。</a:t>
            </a:r>
            <a:endParaRPr lang="zh-CN" altLang="en-US" sz="1600">
              <a:latin typeface="ＭＳ 明朝"/>
              <a:ea typeface="ＭＳ 明朝"/>
            </a:endParaRPr>
          </a:p>
          <a:p>
            <a:pPr marL="457200" indent="-228600" defTabSz="266700">
              <a:lnSpc>
                <a:spcPct val="114000"/>
              </a:lnSpc>
              <a:spcAft>
                <a:spcPts val="1000"/>
              </a:spcAft>
              <a:buFont typeface="Symbol" panose="05050102010706020507"/>
              <a:buChar char=""/>
              <a:tabLst>
                <a:tab pos="228600" algn="l"/>
              </a:tabLst>
            </a:pPr>
            <a:r>
              <a:rPr lang="zh-CN" altLang="en-US" sz="1600">
                <a:latin typeface="ＭＳ 明朝"/>
                <a:ea typeface="ＭＳ 明朝"/>
              </a:rPr>
              <a:t>后端检查系统中是否已经存在重复班级。</a:t>
            </a:r>
            <a:endParaRPr lang="zh-CN" altLang="en-US" sz="1600">
              <a:latin typeface="ＭＳ 明朝"/>
              <a:ea typeface="ＭＳ 明朝"/>
            </a:endParaRPr>
          </a:p>
          <a:p>
            <a:pPr marL="457200" indent="-228600" defTabSz="266700">
              <a:lnSpc>
                <a:spcPct val="114000"/>
              </a:lnSpc>
              <a:spcAft>
                <a:spcPts val="1000"/>
              </a:spcAft>
              <a:buFont typeface="Symbol" panose="05050102010706020507"/>
              <a:buChar char=""/>
              <a:tabLst>
                <a:tab pos="228600" algn="l"/>
              </a:tabLst>
            </a:pPr>
            <a:r>
              <a:rPr lang="zh-CN" altLang="en-US" sz="1600">
                <a:latin typeface="ＭＳ 明朝"/>
                <a:ea typeface="ＭＳ 明朝"/>
              </a:rPr>
              <a:t>后端检查上传文件内部是否存在重复班级。</a:t>
            </a:r>
            <a:endParaRPr lang="zh-CN" altLang="en-US" sz="1600">
              <a:latin typeface="ＭＳ 明朝"/>
              <a:ea typeface="ＭＳ 明朝"/>
            </a:endParaRPr>
          </a:p>
          <a:p>
            <a:pPr marL="457200" indent="-228600" defTabSz="266700">
              <a:lnSpc>
                <a:spcPct val="114000"/>
              </a:lnSpc>
              <a:spcAft>
                <a:spcPts val="1000"/>
              </a:spcAft>
              <a:buFont typeface="Symbol" panose="05050102010706020507"/>
              <a:buChar char=""/>
              <a:tabLst>
                <a:tab pos="228600" algn="l"/>
              </a:tabLst>
            </a:pPr>
            <a:r>
              <a:rPr lang="zh-CN" altLang="en-US" sz="1600">
                <a:latin typeface="ＭＳ 明朝"/>
                <a:ea typeface="ＭＳ 明朝"/>
              </a:rPr>
              <a:t>前端在导入失败时展示后端返回的详细错误信息。</a:t>
            </a:r>
            <a:endParaRPr lang="zh-CN" altLang="en-US" sz="1600">
              <a:latin typeface="ＭＳ 明朝"/>
              <a:ea typeface="ＭＳ 明朝"/>
            </a:endParaRPr>
          </a:p>
        </p:txBody>
      </p:sp>
      <p:graphicFrame>
        <p:nvGraphicFramePr>
          <p:cNvPr id="9" name="表格 8"/>
          <p:cNvGraphicFramePr/>
          <p:nvPr>
            <p:custDataLst>
              <p:tags r:id="rId2"/>
            </p:custDataLst>
          </p:nvPr>
        </p:nvGraphicFramePr>
        <p:xfrm>
          <a:off x="5470525" y="2143125"/>
          <a:ext cx="5942965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155"/>
                <a:gridCol w="432181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字段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填写要求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班级名称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 必填，同一专业下不能重复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所属专业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必填，必须填写系统中已存在的专业名称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入学年份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必填，填写合理年份，例如 2024</a:t>
                      </a:r>
                      <a:endParaRPr lang="zh-CN" altLang="en-US"/>
                    </a:p>
                  </a:txBody>
                  <a:tcPr anchor="ctr" anchorCtr="0"/>
                </a:tc>
              </a:tr>
            </a:tbl>
          </a:graphicData>
        </a:graphic>
      </p:graphicFrame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420" y="3846830"/>
            <a:ext cx="6969760" cy="237363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zh-CN" altLang="en-US">
                <a:sym typeface="+mn-lt"/>
              </a:rPr>
              <a:t>班级导入</a:t>
            </a:r>
            <a:endParaRPr lang="zh-CN" altLang="en-US"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51765" y="995045"/>
            <a:ext cx="2136140" cy="482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 algn="l"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下载导入</a:t>
            </a: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模板</a:t>
            </a:r>
            <a:endParaRPr lang="zh-CN" altLang="en-US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8580" y="4631055"/>
            <a:ext cx="11019155" cy="482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 algn="l"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批量导入</a:t>
            </a: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数据</a:t>
            </a:r>
            <a:endParaRPr lang="zh-CN" altLang="en-US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525" y="908050"/>
            <a:ext cx="4654550" cy="9017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7525" y="2060575"/>
            <a:ext cx="4819650" cy="16637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51765" y="2656205"/>
            <a:ext cx="2136140" cy="482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 algn="l"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填写模板</a:t>
            </a:r>
            <a:endParaRPr lang="zh-CN" altLang="en-US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7525" y="3810000"/>
            <a:ext cx="6703695" cy="3048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zh-CN" altLang="en-US">
                <a:sym typeface="+mn-lt"/>
              </a:rPr>
              <a:t>班级导入</a:t>
            </a:r>
            <a:endParaRPr lang="zh-CN" altLang="en-US"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12750" y="995045"/>
            <a:ext cx="11019155" cy="482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457200">
              <a:lnSpc>
                <a:spcPct val="115000"/>
              </a:lnSpc>
              <a:spcAft>
                <a:spcPts val="800"/>
              </a:spcAft>
            </a:pPr>
            <a:endParaRPr lang="zh-CN" altLang="en-US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5575" y="995045"/>
            <a:ext cx="11276330" cy="4070985"/>
          </a:xfrm>
          <a:prstGeom prst="rect">
            <a:avLst/>
          </a:prstGeom>
        </p:spPr>
        <p:txBody>
          <a:bodyPr wrap="square">
            <a:noAutofit/>
          </a:bodyPr>
          <a:p>
            <a:pPr defTabSz="266700">
              <a:lnSpc>
                <a:spcPct val="114000"/>
              </a:lnSpc>
              <a:spcAft>
                <a:spcPts val="1000"/>
              </a:spcAft>
            </a:pPr>
            <a:r>
              <a:rPr lang="zh-CN" altLang="en-US" sz="1600">
                <a:latin typeface="宋体" panose="02010600030101010101" pitchFamily="2" charset="-122"/>
                <a:ea typeface="ＭＳ 明朝"/>
              </a:rPr>
              <a:t>导入校验</a:t>
            </a:r>
            <a:r>
              <a:rPr lang="zh-CN" altLang="en-US" sz="1600">
                <a:latin typeface="宋体" panose="02010600030101010101" pitchFamily="2" charset="-122"/>
                <a:ea typeface="ＭＳ 明朝"/>
              </a:rPr>
              <a:t>设计：</a:t>
            </a:r>
            <a:endParaRPr lang="zh-CN" altLang="en-US" sz="1600">
              <a:latin typeface="宋体" panose="02010600030101010101" pitchFamily="2" charset="-122"/>
              <a:ea typeface="ＭＳ 明朝"/>
            </a:endParaRPr>
          </a:p>
          <a:p>
            <a:pPr marL="228600" indent="0" defTabSz="266700">
              <a:lnSpc>
                <a:spcPct val="114000"/>
              </a:lnSpc>
              <a:spcAft>
                <a:spcPts val="1000"/>
              </a:spcAft>
              <a:buFont typeface="Symbol" panose="05050102010706020507"/>
              <a:buNone/>
              <a:tabLst>
                <a:tab pos="228600" algn="l"/>
              </a:tabLst>
            </a:pPr>
            <a:r>
              <a:rPr lang="zh-CN" altLang="en-US" sz="1600">
                <a:latin typeface="宋体" panose="02010600030101010101" pitchFamily="2" charset="-122"/>
                <a:ea typeface="ＭＳ 明朝"/>
              </a:rPr>
              <a:t>为了让用户能够根据提示直接修改 </a:t>
            </a:r>
            <a:r>
              <a:rPr lang="en-US" altLang="zh-CN" sz="1600">
                <a:latin typeface="宋体" panose="02010600030101010101" pitchFamily="2" charset="-122"/>
                <a:ea typeface="ＭＳ 明朝"/>
              </a:rPr>
              <a:t>Excel </a:t>
            </a:r>
            <a:r>
              <a:rPr lang="zh-CN" altLang="en-US" sz="1600">
                <a:latin typeface="宋体" panose="02010600030101010101" pitchFamily="2" charset="-122"/>
                <a:ea typeface="ＭＳ 明朝"/>
              </a:rPr>
              <a:t>文件，导入校验会尽量返回具体原因。例如：</a:t>
            </a:r>
            <a:endParaRPr lang="en-US" altLang="zh-CN" sz="1600">
              <a:latin typeface="宋体" panose="02010600030101010101" pitchFamily="2" charset="-122"/>
              <a:ea typeface="ＭＳ 明朝"/>
            </a:endParaRPr>
          </a:p>
          <a:p>
            <a:pPr marL="514350" indent="-285750" defTabSz="266700">
              <a:lnSpc>
                <a:spcPct val="114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zh-CN" altLang="en-US" sz="1600">
                <a:latin typeface="宋体" panose="02010600030101010101" pitchFamily="2" charset="-122"/>
                <a:ea typeface="ＭＳ 明朝"/>
              </a:rPr>
              <a:t>第3行：所属专业“软件工程”不存在，请先在专业管理中新增或修改专业名称。</a:t>
            </a:r>
            <a:endParaRPr lang="zh-CN" altLang="en-US" sz="1600">
              <a:latin typeface="宋体" panose="02010600030101010101" pitchFamily="2" charset="-122"/>
              <a:ea typeface="ＭＳ 明朝"/>
            </a:endParaRPr>
          </a:p>
          <a:p>
            <a:pPr marL="514350" indent="-285750" defTabSz="266700">
              <a:lnSpc>
                <a:spcPct val="114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zh-CN" altLang="en-US" sz="1600">
                <a:latin typeface="宋体" panose="02010600030101010101" pitchFamily="2" charset="-122"/>
                <a:ea typeface="ＭＳ 明朝"/>
              </a:rPr>
              <a:t>第4行：入学年份必须是数字，请填写如“2024”。</a:t>
            </a:r>
            <a:endParaRPr lang="zh-CN" altLang="en-US" sz="1600">
              <a:latin typeface="宋体" panose="02010600030101010101" pitchFamily="2" charset="-122"/>
              <a:ea typeface="ＭＳ 明朝"/>
            </a:endParaRPr>
          </a:p>
          <a:p>
            <a:pPr marL="514350" indent="-285750" defTabSz="266700">
              <a:lnSpc>
                <a:spcPct val="114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zh-CN" altLang="en-US" sz="1600">
                <a:latin typeface="宋体" panose="02010600030101010101" pitchFamily="2" charset="-122"/>
                <a:ea typeface="ＭＳ 明朝"/>
              </a:rPr>
              <a:t>第6行：专业“计算机科学与技术”下已存在班级“计科2401”，请修改班级名称。</a:t>
            </a:r>
            <a:endParaRPr lang="zh-CN" altLang="en-US" sz="1600">
              <a:latin typeface="宋体" panose="02010600030101010101" pitchFamily="2" charset="-122"/>
              <a:ea typeface="ＭＳ 明朝"/>
            </a:endParaRPr>
          </a:p>
          <a:p>
            <a:pPr marL="514350" indent="-285750" defTabSz="266700">
              <a:lnSpc>
                <a:spcPct val="114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zh-CN" altLang="en-US" sz="1600">
                <a:latin typeface="宋体" panose="02010600030101010101" pitchFamily="2" charset="-122"/>
                <a:ea typeface="ＭＳ 明朝"/>
              </a:rPr>
              <a:t>第9行：文件中重复填写了同一专业下的班级，请删除重复行。</a:t>
            </a:r>
            <a:endParaRPr lang="zh-CN" altLang="en-US" sz="1600">
              <a:latin typeface="宋体" panose="02010600030101010101" pitchFamily="2" charset="-122"/>
              <a:ea typeface="ＭＳ 明朝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245" y="3429000"/>
            <a:ext cx="7513955" cy="30702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zh-CN" altLang="en-US">
                <a:sym typeface="+mn-lt"/>
              </a:rPr>
              <a:t>主讲教师</a:t>
            </a:r>
            <a:r>
              <a:rPr lang="zh-CN" altLang="en-US">
                <a:sym typeface="+mn-lt"/>
              </a:rPr>
              <a:t>端批量导入</a:t>
            </a:r>
            <a:endParaRPr lang="zh-CN" altLang="en-US"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12750" y="995045"/>
            <a:ext cx="11019155" cy="482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457200">
              <a:lnSpc>
                <a:spcPct val="115000"/>
              </a:lnSpc>
              <a:spcAft>
                <a:spcPts val="800"/>
              </a:spcAft>
            </a:pP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新增课程目标、题目和成绩的模板下载、批量导入及错误校验。</a:t>
            </a:r>
            <a:endParaRPr lang="zh-CN" altLang="en-US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1073150" y="2178050"/>
          <a:ext cx="10062210" cy="360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2735"/>
                <a:gridCol w="4944110"/>
                <a:gridCol w="3555365"/>
              </a:tblGrid>
              <a:tr h="4667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模块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实现内容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关键校验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7835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课程目标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下载标准模板；批量导入课程目标；自动创建缺失的课程大纲。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严格校验表头、编号、内容和重复项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7842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考核题目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下载模板；按考核点导入题目和目标绑定。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校验题号、分值、重复项及总分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7835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成绩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新增前端导入入口。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校验学生、模板表头、满分和分值范围</a:t>
                      </a:r>
                      <a:endParaRPr lang="zh-CN" altLang="en-US"/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zh-CN" altLang="en-US">
                <a:sym typeface="+mn-lt"/>
              </a:rPr>
              <a:t>主讲教师</a:t>
            </a:r>
            <a:r>
              <a:rPr lang="zh-CN" altLang="en-US">
                <a:sym typeface="+mn-lt"/>
              </a:rPr>
              <a:t>端批量导入</a:t>
            </a:r>
            <a:endParaRPr lang="zh-CN" altLang="en-US"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12750" y="995045"/>
            <a:ext cx="11019155" cy="482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457200">
              <a:lnSpc>
                <a:spcPct val="115000"/>
              </a:lnSpc>
              <a:spcAft>
                <a:spcPts val="800"/>
              </a:spcAft>
            </a:pP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课程目标批量导入</a:t>
            </a:r>
            <a:endParaRPr lang="zh-CN" altLang="en-US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110" y="1414145"/>
            <a:ext cx="10846435" cy="352044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110" y="5051425"/>
            <a:ext cx="6731000" cy="122555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zh-CN" altLang="en-US">
                <a:sym typeface="+mn-lt"/>
              </a:rPr>
              <a:t>主讲教师</a:t>
            </a:r>
            <a:r>
              <a:rPr lang="zh-CN" altLang="en-US">
                <a:sym typeface="+mn-lt"/>
              </a:rPr>
              <a:t>端批量导入</a:t>
            </a:r>
            <a:endParaRPr lang="zh-CN" altLang="en-US"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12750" y="995045"/>
            <a:ext cx="11019155" cy="482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457200">
              <a:lnSpc>
                <a:spcPct val="115000"/>
              </a:lnSpc>
              <a:spcAft>
                <a:spcPts val="800"/>
              </a:spcAft>
            </a:pP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课程目标批量导入</a:t>
            </a:r>
            <a:endParaRPr lang="zh-CN" altLang="en-US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2625090"/>
            <a:ext cx="10490835" cy="37693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1409700"/>
            <a:ext cx="10400665" cy="9906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zh-CN" altLang="en-US">
                <a:sym typeface="+mn-lt"/>
              </a:rPr>
              <a:t>主讲教师</a:t>
            </a:r>
            <a:r>
              <a:rPr lang="zh-CN" altLang="en-US">
                <a:sym typeface="+mn-lt"/>
              </a:rPr>
              <a:t>端批量导入</a:t>
            </a:r>
            <a:endParaRPr lang="zh-CN" altLang="en-US"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12750" y="995045"/>
            <a:ext cx="11019155" cy="482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457200">
              <a:lnSpc>
                <a:spcPct val="115000"/>
              </a:lnSpc>
              <a:spcAft>
                <a:spcPts val="800"/>
              </a:spcAft>
            </a:pP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题目批量导入</a:t>
            </a:r>
            <a:endParaRPr lang="zh-CN" altLang="en-US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50" y="1536065"/>
            <a:ext cx="10484485" cy="28295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750" y="4533900"/>
            <a:ext cx="8102600" cy="1092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zh-CN" altLang="en-US">
                <a:sym typeface="+mn-lt"/>
              </a:rPr>
              <a:t>主讲教师</a:t>
            </a:r>
            <a:r>
              <a:rPr lang="zh-CN" altLang="en-US">
                <a:sym typeface="+mn-lt"/>
              </a:rPr>
              <a:t>端批量导入</a:t>
            </a:r>
            <a:endParaRPr lang="zh-CN" altLang="en-US"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12750" y="995045"/>
            <a:ext cx="11019155" cy="482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457200">
              <a:lnSpc>
                <a:spcPct val="115000"/>
              </a:lnSpc>
              <a:spcAft>
                <a:spcPts val="800"/>
              </a:spcAft>
            </a:pP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题目批量导入</a:t>
            </a:r>
            <a:endParaRPr lang="zh-CN" altLang="en-US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2600325"/>
            <a:ext cx="11843385" cy="278828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850" y="1546225"/>
            <a:ext cx="9222740" cy="69786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zh-CN" altLang="en-US">
                <a:sym typeface="+mn-lt"/>
              </a:rPr>
              <a:t>主讲教师</a:t>
            </a:r>
            <a:r>
              <a:rPr lang="zh-CN" altLang="en-US">
                <a:sym typeface="+mn-lt"/>
              </a:rPr>
              <a:t>端批量导入</a:t>
            </a:r>
            <a:endParaRPr lang="zh-CN" altLang="en-US"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12750" y="995045"/>
            <a:ext cx="11019155" cy="482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457200">
              <a:lnSpc>
                <a:spcPct val="115000"/>
              </a:lnSpc>
              <a:spcAft>
                <a:spcPts val="800"/>
              </a:spcAft>
            </a:pP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成绩导入</a:t>
            </a:r>
            <a:endParaRPr lang="zh-CN" altLang="en-US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815" y="856615"/>
            <a:ext cx="8998585" cy="35883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815" y="4644390"/>
            <a:ext cx="5124450" cy="131445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powerpoint template design by DAJU_PPT正版来源小红书大橘PPT微信DAJU_PPT请勿抄袭搬运！盗版必究！"/>
          <p:cNvGrpSpPr/>
          <p:nvPr/>
        </p:nvGrpSpPr>
        <p:grpSpPr>
          <a:xfrm>
            <a:off x="-188" y="5152472"/>
            <a:ext cx="12192188" cy="1705528"/>
            <a:chOff x="-188" y="4064715"/>
            <a:chExt cx="12192188" cy="2382647"/>
          </a:xfrm>
        </p:grpSpPr>
        <p:sp>
          <p:nvSpPr>
            <p:cNvPr id="36" name="powerpoint template design by DAJU_PPT正版来源小红书大橘PPT微信DAJU_PPT请勿抄袭搬运！盗版必究！-1"/>
            <p:cNvSpPr/>
            <p:nvPr/>
          </p:nvSpPr>
          <p:spPr>
            <a:xfrm>
              <a:off x="-188" y="4064715"/>
              <a:ext cx="12192188" cy="1574800"/>
            </a:xfrm>
            <a:custGeom>
              <a:avLst/>
              <a:gdLst>
                <a:gd name="connsiteX0" fmla="*/ 0 w 12191999"/>
                <a:gd name="connsiteY0" fmla="*/ 0 h 1574776"/>
                <a:gd name="connsiteX1" fmla="*/ 121527 w 12191999"/>
                <a:gd name="connsiteY1" fmla="*/ 105084 h 1574776"/>
                <a:gd name="connsiteX2" fmla="*/ 6096001 w 12191999"/>
                <a:gd name="connsiteY2" fmla="*/ 1545053 h 1574776"/>
                <a:gd name="connsiteX3" fmla="*/ 12070473 w 12191999"/>
                <a:gd name="connsiteY3" fmla="*/ 105085 h 1574776"/>
                <a:gd name="connsiteX4" fmla="*/ 12191999 w 12191999"/>
                <a:gd name="connsiteY4" fmla="*/ 1 h 1574776"/>
                <a:gd name="connsiteX5" fmla="*/ 12191999 w 12191999"/>
                <a:gd name="connsiteY5" fmla="*/ 1574776 h 1574776"/>
                <a:gd name="connsiteX6" fmla="*/ 0 w 12191999"/>
                <a:gd name="connsiteY6" fmla="*/ 1574776 h 1574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1574776">
                  <a:moveTo>
                    <a:pt x="0" y="0"/>
                  </a:moveTo>
                  <a:lnTo>
                    <a:pt x="121527" y="105084"/>
                  </a:lnTo>
                  <a:cubicBezTo>
                    <a:pt x="1232752" y="959961"/>
                    <a:pt x="3490973" y="1545053"/>
                    <a:pt x="6096001" y="1545053"/>
                  </a:cubicBezTo>
                  <a:cubicBezTo>
                    <a:pt x="8701028" y="1545053"/>
                    <a:pt x="10959248" y="959962"/>
                    <a:pt x="12070473" y="105085"/>
                  </a:cubicBezTo>
                  <a:lnTo>
                    <a:pt x="12191999" y="1"/>
                  </a:lnTo>
                  <a:lnTo>
                    <a:pt x="12191999" y="1574776"/>
                  </a:lnTo>
                  <a:lnTo>
                    <a:pt x="0" y="1574776"/>
                  </a:lnTo>
                  <a:close/>
                </a:path>
              </a:pathLst>
            </a:cu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  <p:sp>
          <p:nvSpPr>
            <p:cNvPr id="37" name="powerpoint template design by DAJU_PPT正版来源小红书大橘PPT微信DAJU_PPT请勿抄袭搬运！盗版必究！-2"/>
            <p:cNvSpPr/>
            <p:nvPr userDrawn="1"/>
          </p:nvSpPr>
          <p:spPr>
            <a:xfrm>
              <a:off x="-188" y="4607593"/>
              <a:ext cx="12192188" cy="1839769"/>
            </a:xfrm>
            <a:custGeom>
              <a:avLst/>
              <a:gdLst>
                <a:gd name="connsiteX0" fmla="*/ 0 w 12192188"/>
                <a:gd name="connsiteY0" fmla="*/ 0 h 1839769"/>
                <a:gd name="connsiteX1" fmla="*/ 97614 w 12192188"/>
                <a:gd name="connsiteY1" fmla="*/ 51086 h 1839769"/>
                <a:gd name="connsiteX2" fmla="*/ 6108795 w 12192188"/>
                <a:gd name="connsiteY2" fmla="*/ 925621 h 1839769"/>
                <a:gd name="connsiteX3" fmla="*/ 12119977 w 12192188"/>
                <a:gd name="connsiteY3" fmla="*/ 51086 h 1839769"/>
                <a:gd name="connsiteX4" fmla="*/ 12192188 w 12192188"/>
                <a:gd name="connsiteY4" fmla="*/ 13293 h 1839769"/>
                <a:gd name="connsiteX5" fmla="*/ 12192188 w 12192188"/>
                <a:gd name="connsiteY5" fmla="*/ 1008771 h 1839769"/>
                <a:gd name="connsiteX6" fmla="*/ 12192188 w 12192188"/>
                <a:gd name="connsiteY6" fmla="*/ 1031922 h 1839769"/>
                <a:gd name="connsiteX7" fmla="*/ 12192188 w 12192188"/>
                <a:gd name="connsiteY7" fmla="*/ 1839769 h 1839769"/>
                <a:gd name="connsiteX8" fmla="*/ 0 w 12192188"/>
                <a:gd name="connsiteY8" fmla="*/ 1839769 h 1839769"/>
                <a:gd name="connsiteX9" fmla="*/ 0 w 12192188"/>
                <a:gd name="connsiteY9" fmla="*/ 1031922 h 1839769"/>
                <a:gd name="connsiteX10" fmla="*/ 0 w 12192188"/>
                <a:gd name="connsiteY10" fmla="*/ 1008771 h 1839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192188" h="1839769">
                  <a:moveTo>
                    <a:pt x="0" y="0"/>
                  </a:moveTo>
                  <a:lnTo>
                    <a:pt x="97614" y="51086"/>
                  </a:lnTo>
                  <a:cubicBezTo>
                    <a:pt x="1195331" y="569411"/>
                    <a:pt x="3474782" y="925621"/>
                    <a:pt x="6108795" y="925621"/>
                  </a:cubicBezTo>
                  <a:cubicBezTo>
                    <a:pt x="8742808" y="925621"/>
                    <a:pt x="11022259" y="569411"/>
                    <a:pt x="12119977" y="51086"/>
                  </a:cubicBezTo>
                  <a:lnTo>
                    <a:pt x="12192188" y="13293"/>
                  </a:lnTo>
                  <a:lnTo>
                    <a:pt x="12192188" y="1008771"/>
                  </a:lnTo>
                  <a:lnTo>
                    <a:pt x="12192188" y="1031922"/>
                  </a:lnTo>
                  <a:lnTo>
                    <a:pt x="12192188" y="1839769"/>
                  </a:lnTo>
                  <a:lnTo>
                    <a:pt x="0" y="1839769"/>
                  </a:lnTo>
                  <a:lnTo>
                    <a:pt x="0" y="1031922"/>
                  </a:lnTo>
                  <a:lnTo>
                    <a:pt x="0" y="1008771"/>
                  </a:lnTo>
                  <a:close/>
                </a:path>
              </a:pathLst>
            </a:cu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</p:grpSp>
      <p:sp>
        <p:nvSpPr>
          <p:cNvPr id="6" name="powerpoint template design by DAJU_PPT正版来源小红书大橘PPT微信DAJU_PPT请勿抄袭搬运！盗版必究！" hidden="1"/>
          <p:cNvSpPr/>
          <p:nvPr userDrawn="1"/>
        </p:nvSpPr>
        <p:spPr>
          <a:xfrm>
            <a:off x="-188" y="4585664"/>
            <a:ext cx="12192188" cy="1053851"/>
          </a:xfrm>
          <a:custGeom>
            <a:avLst/>
            <a:gdLst>
              <a:gd name="connsiteX0" fmla="*/ 0 w 12191999"/>
              <a:gd name="connsiteY0" fmla="*/ 0 h 1053835"/>
              <a:gd name="connsiteX1" fmla="*/ 84912 w 12191999"/>
              <a:gd name="connsiteY1" fmla="*/ 44439 h 1053835"/>
              <a:gd name="connsiteX2" fmla="*/ 6096001 w 12191999"/>
              <a:gd name="connsiteY2" fmla="*/ 918960 h 1053835"/>
              <a:gd name="connsiteX3" fmla="*/ 12107089 w 12191999"/>
              <a:gd name="connsiteY3" fmla="*/ 44439 h 1053835"/>
              <a:gd name="connsiteX4" fmla="*/ 12191999 w 12191999"/>
              <a:gd name="connsiteY4" fmla="*/ 1 h 1053835"/>
              <a:gd name="connsiteX5" fmla="*/ 12191999 w 12191999"/>
              <a:gd name="connsiteY5" fmla="*/ 1053835 h 1053835"/>
              <a:gd name="connsiteX6" fmla="*/ 0 w 12191999"/>
              <a:gd name="connsiteY6" fmla="*/ 1053835 h 1053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1053835">
                <a:moveTo>
                  <a:pt x="0" y="0"/>
                </a:moveTo>
                <a:lnTo>
                  <a:pt x="84912" y="44439"/>
                </a:lnTo>
                <a:cubicBezTo>
                  <a:pt x="1182612" y="562756"/>
                  <a:pt x="3462028" y="918960"/>
                  <a:pt x="6096001" y="918960"/>
                </a:cubicBezTo>
                <a:cubicBezTo>
                  <a:pt x="8729972" y="918960"/>
                  <a:pt x="11009388" y="562756"/>
                  <a:pt x="12107089" y="44439"/>
                </a:cubicBezTo>
                <a:lnTo>
                  <a:pt x="12191999" y="1"/>
                </a:lnTo>
                <a:lnTo>
                  <a:pt x="12191999" y="1053835"/>
                </a:lnTo>
                <a:lnTo>
                  <a:pt x="0" y="1053835"/>
                </a:lnTo>
                <a:close/>
              </a:path>
            </a:pathLst>
          </a:custGeom>
          <a:solidFill>
            <a:srgbClr val="FFFFFF"/>
          </a:solidFill>
          <a:ln w="254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阿里巴巴普惠体 2.0 45 Light"/>
              <a:ea typeface="阿里巴巴普惠体 2.0 45 Light"/>
              <a:cs typeface="+mn-cs"/>
            </a:endParaRPr>
          </a:p>
        </p:txBody>
      </p:sp>
      <p:sp>
        <p:nvSpPr>
          <p:cNvPr id="19" name="powerpoint template design by DAJU_PPT正版来源小红书大橘PPT微信DAJU_PPT请勿抄袭搬运！盗版必究！"/>
          <p:cNvSpPr>
            <a:spLocks noGrp="1"/>
          </p:cNvSpPr>
          <p:nvPr>
            <p:ph type="body" sz="quarter" idx="12"/>
          </p:nvPr>
        </p:nvSpPr>
        <p:spPr>
          <a:xfrm>
            <a:off x="3171825" y="3553460"/>
            <a:ext cx="5956300" cy="553720"/>
          </a:xfrm>
          <a:prstGeom prst="rect">
            <a:avLst/>
          </a:prstGeom>
        </p:spPr>
        <p:txBody>
          <a:bodyPr wrap="square"/>
          <a:lstStyle/>
          <a:p>
            <a:r>
              <a:rPr sz="4000" dirty="0">
                <a:latin typeface="+mn-lt"/>
                <a:ea typeface="+mn-ea"/>
                <a:cs typeface="+mn-ea"/>
                <a:sym typeface="+mn-lt"/>
              </a:rPr>
              <a:t>遇到的问题及</a:t>
            </a:r>
            <a:r>
              <a:rPr sz="4000" dirty="0">
                <a:latin typeface="+mn-lt"/>
                <a:ea typeface="+mn-ea"/>
                <a:cs typeface="+mn-ea"/>
                <a:sym typeface="+mn-lt"/>
              </a:rPr>
              <a:t>解决方案</a:t>
            </a:r>
            <a:endParaRPr sz="40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" name="powerpoint template design by DAJU_PPT正版来源小红书大橘PPT微信DAJU_PPT请勿抄袭搬运！盗版必究！"/>
          <p:cNvSpPr>
            <a:spLocks noGrp="1"/>
          </p:cNvSpPr>
          <p:nvPr>
            <p:ph type="body" sz="quarter" idx="10"/>
          </p:nvPr>
        </p:nvSpPr>
        <p:spPr>
          <a:xfrm>
            <a:off x="5672455" y="2117179"/>
            <a:ext cx="847090" cy="830580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 altLang="zh-CN" dirty="0">
                <a:latin typeface="+mn-lt"/>
                <a:cs typeface="+mn-ea"/>
                <a:sym typeface="+mn-lt"/>
              </a:rPr>
              <a:t>02</a:t>
            </a:r>
            <a:endParaRPr lang="zh-CN" altLang="en-US" dirty="0">
              <a:latin typeface="+mn-lt"/>
              <a:cs typeface="+mn-ea"/>
              <a:sym typeface="+mn-lt"/>
            </a:endParaRPr>
          </a:p>
        </p:txBody>
      </p:sp>
      <p:sp>
        <p:nvSpPr>
          <p:cNvPr id="5" name="powerpoint template design by DAJU_PPT正版来源小红书大橘PPT微信DAJU_PPT请勿抄袭搬运！盗版必究！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zh-CN" dirty="0"/>
              <a:t>PART ONE</a:t>
            </a:r>
            <a:endParaRPr lang="zh-CN" altLang="en-US" dirty="0"/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grpSp>
        <p:nvGrpSpPr>
          <p:cNvPr id="30" name="powerpoint template design by DAJU_PPT正版来源小红书大橘PPT微信DAJU_PPT请勿抄袭搬运！盗版必究！"/>
          <p:cNvGrpSpPr/>
          <p:nvPr/>
        </p:nvGrpSpPr>
        <p:grpSpPr>
          <a:xfrm>
            <a:off x="4244329" y="3001075"/>
            <a:ext cx="3703343" cy="260364"/>
            <a:chOff x="3930221" y="2703895"/>
            <a:chExt cx="3703343" cy="260364"/>
          </a:xfrm>
        </p:grpSpPr>
        <p:grpSp>
          <p:nvGrpSpPr>
            <p:cNvPr id="11" name="组合 10"/>
            <p:cNvGrpSpPr/>
            <p:nvPr/>
          </p:nvGrpSpPr>
          <p:grpSpPr>
            <a:xfrm>
              <a:off x="3930221" y="2703895"/>
              <a:ext cx="1087120" cy="260364"/>
              <a:chOff x="5874392" y="3867911"/>
              <a:chExt cx="1953753" cy="467922"/>
            </a:xfrm>
            <a:solidFill>
              <a:schemeClr val="accent2"/>
            </a:solidFill>
          </p:grpSpPr>
          <p:grpSp>
            <p:nvGrpSpPr>
              <p:cNvPr id="23" name="组合 22"/>
              <p:cNvGrpSpPr/>
              <p:nvPr/>
            </p:nvGrpSpPr>
            <p:grpSpPr>
              <a:xfrm>
                <a:off x="7295699" y="3867911"/>
                <a:ext cx="532446" cy="467922"/>
                <a:chOff x="3277173" y="3960087"/>
                <a:chExt cx="532446" cy="467922"/>
              </a:xfrm>
              <a:grpFill/>
            </p:grpSpPr>
            <p:sp>
              <p:nvSpPr>
                <p:cNvPr id="25" name="powerpoint template design by DAJU_PPT正版来源小红书大橘PPT微信DAJU_PPT请勿抄袭搬运！盗版必究！-1"/>
                <p:cNvSpPr/>
                <p:nvPr/>
              </p:nvSpPr>
              <p:spPr>
                <a:xfrm>
                  <a:off x="3419475" y="3960087"/>
                  <a:ext cx="390144" cy="467922"/>
                </a:xfrm>
                <a:prstGeom prst="chevron">
                  <a:avLst>
                    <a:gd name="adj" fmla="val 6386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6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" name="powerpoint template design by DAJU_PPT正版来源小红书大橘PPT微信DAJU_PPT请勿抄袭搬运！盗版必究！-2"/>
                <p:cNvSpPr/>
                <p:nvPr/>
              </p:nvSpPr>
              <p:spPr>
                <a:xfrm>
                  <a:off x="3277173" y="4051746"/>
                  <a:ext cx="284604" cy="284604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60"/>
                </a:p>
              </p:txBody>
            </p:sp>
          </p:grpSp>
          <p:cxnSp>
            <p:nvCxnSpPr>
              <p:cNvPr id="24" name="powerpoint template design by DAJU_PPT正版来源小红书大橘PPT微信DAJU_PPT请勿抄袭搬运！盗版必究！-3"/>
              <p:cNvCxnSpPr/>
              <p:nvPr/>
            </p:nvCxnSpPr>
            <p:spPr>
              <a:xfrm>
                <a:off x="5874392" y="4101873"/>
                <a:ext cx="1421889" cy="0"/>
              </a:xfrm>
              <a:prstGeom prst="line">
                <a:avLst/>
              </a:prstGeom>
              <a:grpFill/>
              <a:ln w="12700" cap="rnd">
                <a:gradFill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组合 11"/>
            <p:cNvGrpSpPr/>
            <p:nvPr/>
          </p:nvGrpSpPr>
          <p:grpSpPr>
            <a:xfrm flipH="1">
              <a:off x="6546444" y="2703895"/>
              <a:ext cx="1087120" cy="260364"/>
              <a:chOff x="5874392" y="3867911"/>
              <a:chExt cx="1953753" cy="467922"/>
            </a:xfrm>
            <a:solidFill>
              <a:schemeClr val="accent2"/>
            </a:solidFill>
          </p:grpSpPr>
          <p:grpSp>
            <p:nvGrpSpPr>
              <p:cNvPr id="13" name="组合 12"/>
              <p:cNvGrpSpPr/>
              <p:nvPr/>
            </p:nvGrpSpPr>
            <p:grpSpPr>
              <a:xfrm>
                <a:off x="7295699" y="3867911"/>
                <a:ext cx="532446" cy="467922"/>
                <a:chOff x="3277173" y="3960087"/>
                <a:chExt cx="532446" cy="467922"/>
              </a:xfrm>
              <a:grpFill/>
            </p:grpSpPr>
            <p:sp>
              <p:nvSpPr>
                <p:cNvPr id="15" name="powerpoint template design by DAJU_PPT正版来源小红书大橘PPT微信DAJU_PPT请勿抄袭搬运！盗版必究！-4"/>
                <p:cNvSpPr/>
                <p:nvPr/>
              </p:nvSpPr>
              <p:spPr>
                <a:xfrm>
                  <a:off x="3419475" y="3960087"/>
                  <a:ext cx="390144" cy="467922"/>
                </a:xfrm>
                <a:prstGeom prst="chevron">
                  <a:avLst>
                    <a:gd name="adj" fmla="val 6386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6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" name="powerpoint template design by DAJU_PPT正版来源小红书大橘PPT微信DAJU_PPT请勿抄袭搬运！盗版必究！-5"/>
                <p:cNvSpPr/>
                <p:nvPr/>
              </p:nvSpPr>
              <p:spPr>
                <a:xfrm>
                  <a:off x="3277173" y="4051746"/>
                  <a:ext cx="284604" cy="284604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60"/>
                </a:p>
              </p:txBody>
            </p:sp>
          </p:grpSp>
          <p:cxnSp>
            <p:nvCxnSpPr>
              <p:cNvPr id="14" name="powerpoint template design by DAJU_PPT正版来源小红书大橘PPT微信DAJU_PPT请勿抄袭搬运！盗版必究！-6"/>
              <p:cNvCxnSpPr/>
              <p:nvPr/>
            </p:nvCxnSpPr>
            <p:spPr>
              <a:xfrm>
                <a:off x="5874392" y="4101873"/>
                <a:ext cx="1421889" cy="0"/>
              </a:xfrm>
              <a:prstGeom prst="line">
                <a:avLst/>
              </a:prstGeom>
              <a:grpFill/>
              <a:ln w="12700" cap="rnd">
                <a:gradFill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custDataLst>
      <p:tags r:id="rId1"/>
    </p:custData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zh-CN" altLang="en-US">
                <a:sym typeface="+mn-lt"/>
              </a:rPr>
              <a:t>核心</a:t>
            </a:r>
            <a:r>
              <a:rPr lang="zh-CN" altLang="en-US">
                <a:sym typeface="+mn-lt"/>
              </a:rPr>
              <a:t>问题</a:t>
            </a:r>
            <a:endParaRPr lang="zh-CN" altLang="en-US"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9" name="AutoShape 3"/>
          <p:cNvSpPr/>
          <p:nvPr/>
        </p:nvSpPr>
        <p:spPr>
          <a:xfrm>
            <a:off x="1016000" y="1016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核心问题与解决方案概览</a:t>
            </a:r>
            <a:endParaRPr lang="en-US" sz="1100"/>
          </a:p>
        </p:txBody>
      </p:sp>
      <p:sp>
        <p:nvSpPr>
          <p:cNvPr id="10" name="AutoShape 4"/>
          <p:cNvSpPr/>
          <p:nvPr/>
        </p:nvSpPr>
        <p:spPr>
          <a:xfrm>
            <a:off x="762000" y="2286000"/>
            <a:ext cx="2540000" cy="431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开发冲突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问题: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多人协作时代码冲突频繁，逻辑改错风险高。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解决方案:</a:t>
            </a:r>
            <a:endParaRPr lang="en-US" sz="1400" b="1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2700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规范流程: 功能分支开发，禁止直接推送主干。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2700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模块拆分: 按业务领域解耦，降低代码耦合度。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2700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代码评审: 所有代码合并前必须经过审查。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5"/>
          <p:cNvSpPr/>
          <p:nvPr/>
        </p:nvSpPr>
        <p:spPr>
          <a:xfrm>
            <a:off x="3556000" y="2286000"/>
            <a:ext cx="2540000" cy="431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数据质量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问题: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</a:t>
            </a:r>
            <a:r>
              <a:rPr lang="zh-CN" alt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导入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数据非法、格式错乱，导致入库失败或数据污染。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解决方案:</a:t>
            </a:r>
            <a:endParaRPr lang="en-US" sz="1400" b="1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2700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三道防线: 前端Excel模板预防、后端严格校验、通用数据转换。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2700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逐行校验: 解析时捕获异常，记录行号错误，返回详细报告。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6"/>
          <p:cNvSpPr/>
          <p:nvPr/>
        </p:nvSpPr>
        <p:spPr>
          <a:xfrm>
            <a:off x="6350000" y="2286000"/>
            <a:ext cx="2540000" cy="431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组件冗余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问题: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各导入功能UI/UX不统一，重复代码多，维护成本高。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解决方案:</a:t>
            </a:r>
            <a:endParaRPr lang="en-US" sz="1400" b="1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2700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组件化: 封装通用导入组件，统一交互逻辑与UI风格。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2700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单一职责: 一处修改，处处生效，降低维护成本。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7"/>
          <p:cNvSpPr/>
          <p:nvPr/>
        </p:nvSpPr>
        <p:spPr>
          <a:xfrm>
            <a:off x="9144000" y="2286000"/>
            <a:ext cx="2540000" cy="431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数据重复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问题: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重复导入导致主键冲突，整批数据导入失败。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解决方案:</a:t>
            </a:r>
            <a:endParaRPr lang="en-US" sz="1400" b="1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2700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幂等性设计: 导入前全量预校验（表格内+数据库）。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2700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灵活模式: 提供新增/更新模式供用户选择。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2700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数据库兜底: 建立业务唯一索引，保障最终数据一致性。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2161282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CAS 单点登录（SSO）认证实现详解</a:t>
            </a:r>
            <a:endParaRPr lang="en-US" sz="3600" b="1" i="0" u="none" strike="noStrike" cap="none">
              <a:solidFill>
                <a:srgbClr val="1E3A8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2875915"/>
            <a:ext cx="11076940" cy="553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基于体育学院请销假系统的实践案例</a:t>
            </a:r>
            <a:endParaRPr lang="en-US" sz="1500" b="0" i="0" u="none" strike="noStrike" cap="non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208014"/>
            <a:ext cx="3530649" cy="2546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330749" y="2208014"/>
            <a:ext cx="3530649" cy="2546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089999" y="2208014"/>
            <a:ext cx="3530649" cy="254674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/>
          <p:nvPr/>
        </p:nvSpPr>
        <p:spPr>
          <a:xfrm>
            <a:off x="933896" y="4897635"/>
            <a:ext cx="10324058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1124396" y="5040510"/>
            <a:ext cx="9943058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1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讲解备注：</a:t>
            </a:r>
            <a:r>
              <a:rPr lang="en-US" sz="1050" b="0" i="1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简单来说，学校有很多系统（教务、请销假等）。每个系统独立做登录安全性差且开发烦琐，CAS 就像是在中间加一个“认证中心”，所有系统都绝对信任它。 </a:t>
            </a:r>
            <a:endParaRPr lang="en-US" sz="1050" b="0" i="1" u="none" strike="noStrike" cap="non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933896" y="4897635"/>
            <a:ext cx="381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809625" y="2998589"/>
            <a:ext cx="1200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3A8A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核心协议定义</a:t>
            </a:r>
            <a:endParaRPr lang="en-US" sz="1500" b="0" i="0" u="none" strike="noStrike" cap="none">
              <a:solidFill>
                <a:srgbClr val="1E3A8A"/>
              </a:solidFill>
              <a:latin typeface="Poppins SemiBold" panose="00000500000000000000"/>
              <a:ea typeface="Poppins SemiBold" panose="00000500000000000000"/>
              <a:cs typeface="Poppins SemiBold" panose="00000500000000000000"/>
              <a:sym typeface="Poppins SemiBold" panose="00000500000000000000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809625" y="3370064"/>
            <a:ext cx="3054399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CAS (Central Authentication Service)</a:t>
            </a:r>
            <a:r>
              <a:rPr lang="en-US" sz="12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是一种通用的工业级单点登录协议，核心思想是“一次登录，处处通行”。最初由耶鲁大学发起，现为 Apereo 基金会项目。</a:t>
            </a:r>
            <a:endParaRPr lang="en-US" sz="12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4568874" y="2998589"/>
            <a:ext cx="14001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3A8A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解决的业务痛点</a:t>
            </a:r>
            <a:endParaRPr lang="en-US" sz="1500" b="0" i="0" u="none" strike="noStrike" cap="none">
              <a:solidFill>
                <a:srgbClr val="1E3A8A"/>
              </a:solidFill>
              <a:latin typeface="Poppins SemiBold" panose="00000500000000000000"/>
              <a:ea typeface="Poppins SemiBold" panose="00000500000000000000"/>
              <a:cs typeface="Poppins SemiBold" panose="00000500000000000000"/>
              <a:sym typeface="Poppins SemiBold" panose="00000500000000000000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4568874" y="3370064"/>
            <a:ext cx="3054399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彻底解决多套应用系统需要各自维护独立账户体系的弊端。保障用户只需记忆一套核心凭证，无需反复输入，实现账户的安全收口与集约化管理。</a:t>
            </a:r>
            <a:endParaRPr lang="en-US" sz="12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8328124" y="2998589"/>
            <a:ext cx="1200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3A8A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统一认证入口</a:t>
            </a:r>
            <a:endParaRPr lang="en-US" sz="1500" b="0" i="0" u="none" strike="noStrike" cap="none">
              <a:solidFill>
                <a:srgbClr val="1E3A8A"/>
              </a:solidFill>
              <a:latin typeface="Poppins SemiBold" panose="00000500000000000000"/>
              <a:ea typeface="Poppins SemiBold" panose="00000500000000000000"/>
              <a:cs typeface="Poppins SemiBold" panose="00000500000000000000"/>
              <a:sym typeface="Poppins SemiBold" panose="00000500000000000000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8328124" y="3370064"/>
            <a:ext cx="3054399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将应用系统本身的认证逻辑上浮，依托统一的企业级认证中心。不仅提升了各业务系统的独立敏捷开发效率，也极大地简化了系统安全审计。</a:t>
            </a:r>
            <a:endParaRPr lang="en-US" sz="12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7" name="Google Shape;107;p14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09625" y="2522339"/>
            <a:ext cx="237083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4568874" y="2522339"/>
            <a:ext cx="237083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328124" y="2522339"/>
            <a:ext cx="237083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714375" y="571500"/>
            <a:ext cx="1145143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CAS 是什么？为什么需要它？</a:t>
            </a:r>
            <a:endParaRPr lang="en-US" sz="24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571500" y="571500"/>
            <a:ext cx="57150" cy="419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781050" y="1468120"/>
            <a:ext cx="8331200" cy="732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集成目标平台：</a:t>
            </a:r>
            <a:r>
              <a:rPr lang="en-US" sz="16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全面对接</a:t>
            </a:r>
            <a:r>
              <a:rPr lang="en-US" sz="1600" b="1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浙江师范大学统一身份认证平台</a:t>
            </a:r>
            <a:r>
              <a:rPr lang="en-US" sz="16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，统一账户鉴权体系</a:t>
            </a:r>
            <a:r>
              <a:rPr lang="en-US" sz="1125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25" b="0" i="0" u="none" strike="noStrike" cap="non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781050" y="1971675"/>
            <a:ext cx="6471285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CAS 服务根地址：</a:t>
            </a:r>
            <a:r>
              <a:rPr lang="en-US" sz="16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https://authserver.zjnu.edu.cn/authserver</a:t>
            </a:r>
            <a:endParaRPr lang="en-US" sz="1600" b="0" i="0" u="none" strike="noStrike" cap="non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781050" y="2695575"/>
            <a:ext cx="5124450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分离部署架构：</a:t>
            </a:r>
            <a:endParaRPr lang="en-US" sz="1600" b="0" i="0" u="none" strike="noStrike" cap="non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781050" y="3949700"/>
            <a:ext cx="5124450" cy="567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双轨认证设计：</a:t>
            </a:r>
            <a:endParaRPr lang="en-US" sz="2000" b="0" i="0" u="none" strike="noStrike" cap="non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619125" y="1971675"/>
            <a:ext cx="47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lang="en-US" sz="1125" b="1" i="0" u="none" strike="noStrike" cap="non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619125" y="2333625"/>
            <a:ext cx="47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lang="en-US" sz="1125" b="1" i="0" u="none" strike="noStrike" cap="non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619125" y="2695575"/>
            <a:ext cx="47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lang="en-US" sz="1125" b="1" i="0" u="none" strike="noStrike" cap="non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781050" y="3155950"/>
            <a:ext cx="5124450" cy="79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前端采用 Vue 3 + Element Plus，后端使用 Spring Boot 2.7 + MyBatis，前后端完全分离部署。</a:t>
            </a:r>
            <a:endParaRPr lang="en-US" sz="1600" b="0" i="0" u="none" strike="noStrike" cap="non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619125" y="3531691"/>
            <a:ext cx="47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lang="en-US" sz="1125" b="1" i="0" u="none" strike="noStrike" cap="non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781050" y="4713605"/>
            <a:ext cx="5569585" cy="1505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✅ </a:t>
            </a:r>
            <a:r>
              <a:rPr lang="en-US" sz="1600" b="1" i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教师账户：</a:t>
            </a:r>
            <a:r>
              <a:rPr lang="en-US" sz="1600" b="0" i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一律强制通过 CAS 统一进行安全登录</a:t>
            </a:r>
            <a:br>
              <a:rPr lang="en-US" sz="1600" b="0" i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600" b="0" i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✅ </a:t>
            </a:r>
            <a:r>
              <a:rPr lang="en-US" sz="1600" b="1" i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系统管理员：</a:t>
            </a:r>
            <a:r>
              <a:rPr lang="en-US" sz="1600" b="0" i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留有备用密码通道，保障极端环境下的紧急控制</a:t>
            </a:r>
            <a:endParaRPr lang="en-US" sz="1600" b="0" i="0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714375" y="571500"/>
            <a:ext cx="1145143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本项目的认证需求与对接目标</a:t>
            </a:r>
            <a:endParaRPr lang="en-US" sz="24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571500" y="571500"/>
            <a:ext cx="57150" cy="419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1962150"/>
            <a:ext cx="11049000" cy="3038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/>
          <p:nvPr/>
        </p:nvSpPr>
        <p:spPr>
          <a:xfrm>
            <a:off x="2356842" y="5143500"/>
            <a:ext cx="7478166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2547342" y="5286375"/>
            <a:ext cx="7097166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1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讲解备注：</a:t>
            </a:r>
            <a:r>
              <a:rPr lang="en-US" sz="1050" b="0" i="1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理解这五个基本概念是理解整个流程的基础。Ticket（服务票据）是鉴权运转的关键，用完即废，不可复用。 </a:t>
            </a:r>
            <a:endParaRPr lang="en-US" sz="1050" b="0" i="1" u="none" strike="noStrike" cap="non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2356842" y="5143500"/>
            <a:ext cx="381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581025" y="1971675"/>
            <a:ext cx="11029950" cy="301942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aphicFrame>
        <p:nvGraphicFramePr>
          <p:cNvPr id="141" name="Google Shape;141;p16"/>
          <p:cNvGraphicFramePr/>
          <p:nvPr/>
        </p:nvGraphicFramePr>
        <p:xfrm>
          <a:off x="581025" y="1971675"/>
          <a:ext cx="11029950" cy="3019375"/>
        </p:xfrm>
        <a:graphic>
          <a:graphicData uri="http://schemas.openxmlformats.org/drawingml/2006/table">
            <a:tbl>
              <a:tblPr firstRow="1" bandRow="1">
                <a:noFill/>
                <a:tableStyleId>{D85139CC-8629-429D-AF3D-B1C0E38B988B}</a:tableStyleId>
              </a:tblPr>
              <a:tblGrid>
                <a:gridCol w="2205925"/>
                <a:gridCol w="8824025"/>
              </a:tblGrid>
              <a:tr h="503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0F172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概念名词</a:t>
                      </a:r>
                      <a:endParaRPr lang="en-US" sz="1125" b="1" i="0" u="none" strike="noStrike" cap="none">
                        <a:solidFill>
                          <a:srgbClr val="0F172A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0F172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名词释义与技术职能</a:t>
                      </a:r>
                      <a:endParaRPr lang="en-US" sz="1125" b="1" i="0" u="none" strike="noStrike" cap="none">
                        <a:solidFill>
                          <a:srgbClr val="0F172A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</a:tr>
              <a:tr h="503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CAS Server</a:t>
                      </a:r>
                      <a:endParaRPr lang="en-US" sz="1125" b="1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认证中心服务器，专门负责全局用户身份验证，如学校统一身份认证大厅。</a:t>
                      </a:r>
                      <a:endParaRPr lang="en-US" sz="1125" b="0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03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CAS Client</a:t>
                      </a:r>
                      <a:endParaRPr lang="en-US" sz="1125" b="1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具体的接入端应用程序，在本案例中即指“体育学院请销假系统”。</a:t>
                      </a:r>
                      <a:endParaRPr lang="en-US" sz="1125" b="0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CFD"/>
                    </a:solidFill>
                  </a:tcPr>
                </a:tc>
              </a:tr>
              <a:tr h="503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Service URL</a:t>
                      </a:r>
                      <a:endParaRPr lang="en-US" sz="1125" b="1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应用的回调地址，例如：http://localhost:3000/cas/callback，用于接收认证返回的票据。</a:t>
                      </a:r>
                      <a:endParaRPr lang="en-US" sz="1125" b="0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03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Service Ticket (ST)</a:t>
                      </a:r>
                      <a:endParaRPr lang="en-US" sz="1125" b="1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CAS 颁发的</a:t>
                      </a:r>
                      <a:r>
                        <a:rPr lang="en-US" sz="1125" b="1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单次性验证票据</a:t>
                      </a: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。时效极短，验证一次后在 CAS 服务端永久作废失效。</a:t>
                      </a:r>
                      <a:endParaRPr lang="en-US" sz="1125" b="0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CFD"/>
                    </a:solidFill>
                  </a:tcPr>
                </a:tc>
              </a:tr>
              <a:tr h="503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Assertion</a:t>
                      </a:r>
                      <a:endParaRPr lang="en-US" sz="1125" b="1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断言。后端使用 ST 票据向服务器通信验证后，由服务器回馈的包含用户工号、姓名等要素的断言。</a:t>
                      </a:r>
                      <a:endParaRPr lang="en-US" sz="1125" b="0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42" name="Google Shape;142;p16"/>
          <p:cNvSpPr/>
          <p:nvPr/>
        </p:nvSpPr>
        <p:spPr>
          <a:xfrm>
            <a:off x="581025" y="2462212"/>
            <a:ext cx="22059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2786955" y="2462212"/>
            <a:ext cx="88240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581025" y="2967037"/>
            <a:ext cx="22059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2786955" y="2967037"/>
            <a:ext cx="88240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581025" y="3471862"/>
            <a:ext cx="22059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2786955" y="3471862"/>
            <a:ext cx="88240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581025" y="3976687"/>
            <a:ext cx="22059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2786955" y="3976687"/>
            <a:ext cx="88240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581025" y="4481512"/>
            <a:ext cx="22059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2786955" y="4481512"/>
            <a:ext cx="88240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714375" y="571500"/>
            <a:ext cx="1145143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CAS 协议中的核心概念</a:t>
            </a:r>
            <a:endParaRPr lang="en-US" sz="24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571500" y="571500"/>
            <a:ext cx="57150" cy="419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66750" y="2529929"/>
            <a:ext cx="5037236" cy="725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488013" y="2529929"/>
            <a:ext cx="5037236" cy="725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66750" y="3836640"/>
            <a:ext cx="5036343" cy="725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489055" y="3836640"/>
            <a:ext cx="5036343" cy="72568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571500" y="4800451"/>
            <a:ext cx="110490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* </a:t>
            </a:r>
            <a:r>
              <a:rPr lang="en-US" sz="1050" b="1" i="0" u="none" strike="noStrike" cap="non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设计本质：</a:t>
            </a:r>
            <a:r>
              <a:rPr lang="en-US" sz="1050" b="0" i="0" u="none" strike="noStrike" cap="non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CAS 在登录初段作为第三方凭证来源，确认身份后，系统内部则彻底转换为高内聚的自签发 JWT 验证链路。</a:t>
            </a:r>
            <a:endParaRPr lang="en-US" sz="1050" b="0" i="0" u="none" strike="noStrike" cap="non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666750" y="3446115"/>
            <a:ext cx="10858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60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④-⑤ 安全校票及断言</a:t>
            </a:r>
            <a:endParaRPr lang="en-US" sz="1200" b="0" i="0" u="none" strike="noStrike" cap="non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700839" y="2682329"/>
            <a:ext cx="4969058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用户浏览器</a:t>
            </a:r>
            <a:endParaRPr lang="en-US" sz="1125" b="1" i="0" u="none" strike="noStrike" cap="none">
              <a:solidFill>
                <a:srgbClr val="0F17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819150" y="2920454"/>
            <a:ext cx="4732436" cy="18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发起登录动作 / 取得 ST 票据并最终保存 JWT 维持会话状态</a:t>
            </a:r>
            <a:endParaRPr lang="en-US" sz="900" b="0" i="0" u="none" strike="noStrike" cap="non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67" name="Google Shape;167;p17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6029176" y="2735609"/>
            <a:ext cx="13349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5818286" y="2907059"/>
            <a:ext cx="555426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① 跳转认证</a:t>
            </a:r>
            <a:endParaRPr lang="en-US" sz="825" b="0" i="0" u="none" strike="noStrike" cap="none">
              <a:solidFill>
                <a:srgbClr val="64748B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6522102" y="2682329"/>
            <a:ext cx="4969058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CAS Server (校认证大厅)</a:t>
            </a:r>
            <a:endParaRPr lang="en-US" sz="1125" b="1" i="0" u="none" strike="noStrike" cap="none">
              <a:solidFill>
                <a:srgbClr val="0F17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6640413" y="2920454"/>
            <a:ext cx="4732436" cy="18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负责账号密码物理身份验证。通过后产生一次性 ST 并回调</a:t>
            </a:r>
            <a:endParaRPr lang="en-US" sz="900" b="0" i="0" u="none" strike="noStrike" cap="non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71" name="Google Shape;171;p17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5283100" y="3465165"/>
            <a:ext cx="118616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7"/>
          <p:cNvSpPr txBox="1"/>
          <p:nvPr/>
        </p:nvSpPr>
        <p:spPr>
          <a:xfrm>
            <a:off x="700861" y="3989040"/>
            <a:ext cx="496812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本地前端 (Vue 3 APP)</a:t>
            </a:r>
            <a:endParaRPr lang="en-US" sz="1125" b="1" i="0" u="none" strike="noStrike" cap="none">
              <a:solidFill>
                <a:srgbClr val="0F17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819150" y="4227165"/>
            <a:ext cx="4731543" cy="18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抓取回调路由中的 Ticket 属性，并作为参数传送给本地后端</a:t>
            </a:r>
            <a:endParaRPr lang="en-US" sz="900" b="0" i="0" u="none" strike="noStrike" cap="non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74" name="Google Shape;174;p17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6029325" y="4042320"/>
            <a:ext cx="13349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7"/>
          <p:cNvSpPr txBox="1"/>
          <p:nvPr/>
        </p:nvSpPr>
        <p:spPr>
          <a:xfrm>
            <a:off x="5817393" y="4213770"/>
            <a:ext cx="557361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⑥ 签发 JWT</a:t>
            </a:r>
            <a:endParaRPr lang="en-US" sz="825" b="0" i="0" u="none" strike="noStrike" cap="none">
              <a:solidFill>
                <a:srgbClr val="64748B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6" name="Google Shape;176;p17"/>
          <p:cNvSpPr txBox="1"/>
          <p:nvPr/>
        </p:nvSpPr>
        <p:spPr>
          <a:xfrm>
            <a:off x="6523166" y="3989040"/>
            <a:ext cx="496812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本地后端 (Spring Boot API)</a:t>
            </a:r>
            <a:endParaRPr lang="en-US" sz="1125" b="1" i="0" u="none" strike="noStrike" cap="none">
              <a:solidFill>
                <a:srgbClr val="0F17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6641455" y="4227165"/>
            <a:ext cx="4731543" cy="18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调用校验证服务安全解析 ST 并签发专属的 JWT Token 供会话持久化</a:t>
            </a:r>
            <a:endParaRPr lang="en-US" sz="900" b="0" i="0" u="none" strike="noStrike" cap="non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8" name="Google Shape;178;p17"/>
          <p:cNvSpPr txBox="1"/>
          <p:nvPr/>
        </p:nvSpPr>
        <p:spPr>
          <a:xfrm>
            <a:off x="714375" y="571500"/>
            <a:ext cx="1145143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CAS 单点登录完整流程架构</a:t>
            </a:r>
            <a:endParaRPr lang="en-US" sz="24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571500" y="571500"/>
            <a:ext cx="57150" cy="419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64897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8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65530" y="2257425"/>
            <a:ext cx="304800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5297805" y="1679575"/>
            <a:ext cx="5600700" cy="805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E3A8A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1. 触发前端跳转逻辑</a:t>
            </a:r>
            <a:endParaRPr lang="en-US" sz="2000" b="0" i="0" u="none" strike="noStrike" cap="none">
              <a:solidFill>
                <a:srgbClr val="1E3A8A"/>
              </a:solidFill>
              <a:latin typeface="Poppins SemiBold" panose="00000500000000000000"/>
              <a:ea typeface="Poppins SemiBold" panose="00000500000000000000"/>
              <a:cs typeface="Poppins SemiBold" panose="00000500000000000000"/>
              <a:sym typeface="Poppins SemiBold" panose="00000500000000000000"/>
            </a:endParaRPr>
          </a:p>
        </p:txBody>
      </p:sp>
      <p:sp>
        <p:nvSpPr>
          <p:cNvPr id="187" name="Google Shape;187;p18"/>
          <p:cNvSpPr txBox="1"/>
          <p:nvPr/>
        </p:nvSpPr>
        <p:spPr>
          <a:xfrm>
            <a:off x="5298440" y="2106930"/>
            <a:ext cx="5673090" cy="72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当用户在入口选择页点击“统一身份认证登录”，前端程序执行高优先级的整页跳转：</a:t>
            </a:r>
            <a:endParaRPr lang="en-US" sz="16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8" name="Google Shape;188;p18"/>
          <p:cNvSpPr txBox="1"/>
          <p:nvPr/>
        </p:nvSpPr>
        <p:spPr>
          <a:xfrm>
            <a:off x="5637530" y="4803140"/>
            <a:ext cx="5334000" cy="959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注意要点：</a:t>
            </a:r>
            <a:r>
              <a:rPr lang="en-US" b="0" i="0" u="none" strike="noStrike" cap="non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service 参数声明的回调目标地址必须在学校 CAS 白名单中注册过，否则会被服务端直接拦截抛错。</a:t>
            </a:r>
            <a:endParaRPr lang="en-US" b="0" i="0" u="none" strike="noStrike" cap="non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89" name="Google Shape;189;p18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75055" y="2266950"/>
            <a:ext cx="3028950" cy="302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8"/>
          <p:cNvSpPr txBox="1"/>
          <p:nvPr/>
        </p:nvSpPr>
        <p:spPr>
          <a:xfrm>
            <a:off x="65405" y="571500"/>
            <a:ext cx="11451431" cy="43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第一步：重定向至 CAS 官方认证</a:t>
            </a:r>
            <a:endParaRPr lang="en-US" sz="28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-77470" y="571500"/>
            <a:ext cx="57150" cy="419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 txBox="1"/>
          <p:nvPr/>
        </p:nvSpPr>
        <p:spPr>
          <a:xfrm>
            <a:off x="1285875" y="1854835"/>
            <a:ext cx="10048875" cy="3192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统一接管的输入认证</a:t>
            </a:r>
            <a:r>
              <a:rPr lang="en-US" sz="18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用户被重定向到 ZJNU 统一认证域名页面，在此过程中请销假系统的服务器与前端对此账号密码全无感知，完美隔离核心凭证。</a:t>
            </a:r>
            <a:endParaRPr lang="en-US" sz="18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8" name="Google Shape;198;p19"/>
          <p:cNvSpPr txBox="1"/>
          <p:nvPr/>
        </p:nvSpPr>
        <p:spPr>
          <a:xfrm>
            <a:off x="1285875" y="2929255"/>
            <a:ext cx="10048875" cy="283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产生 Service Ticket (ST)</a:t>
            </a:r>
            <a:r>
              <a:rPr lang="en-US" sz="18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用户输入确准后，CAS 系统在服务器内存中临时寄存一道与该用户绑定的单次口令凭证 ST，并立刻组装到重定向服务地址中。</a:t>
            </a:r>
            <a:endParaRPr lang="en-US" sz="18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1285875" y="4109085"/>
            <a:ext cx="10048875" cy="15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发起回调重定向</a:t>
            </a:r>
            <a:r>
              <a:rPr lang="en-US" sz="18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浏览器执行 302 重定向重回请销假前端路由，形式如：</a:t>
            </a:r>
            <a:br>
              <a:rPr lang="en-US"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800" b="0" i="0" u="none" strike="noStrike" cap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http://localhost:3000/cas/callback?ticket=ST-1-abc123xyz-xxx</a:t>
            </a:r>
            <a:endParaRPr lang="en-US" sz="1800" b="0" i="0" u="none" strike="noStrike" cap="none">
              <a:solidFill>
                <a:srgbClr val="0F17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00" name="Google Shape;200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57250" y="2044680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57250" y="2774751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9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57250" y="4157602"/>
            <a:ext cx="148232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714375" y="571500"/>
            <a:ext cx="1145143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第二步：用户身份校验与票据回调</a:t>
            </a:r>
            <a:endParaRPr lang="en-US" sz="24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571500" y="571500"/>
            <a:ext cx="57150" cy="419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070" y="1391920"/>
            <a:ext cx="4600575" cy="33083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2445" y="1566545"/>
            <a:ext cx="6433820" cy="30759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1755775"/>
            <a:ext cx="5334000" cy="462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096000" y="1756410"/>
            <a:ext cx="5524500" cy="454469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847725" y="1756410"/>
            <a:ext cx="5020310" cy="466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2563EB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客户端处理：cas-callback.vue</a:t>
            </a:r>
            <a:endParaRPr lang="en-US" sz="2000" b="0" i="0" u="none" strike="noStrike" cap="none">
              <a:solidFill>
                <a:srgbClr val="2563EB"/>
              </a:solidFill>
              <a:latin typeface="Poppins SemiBold" panose="00000500000000000000"/>
              <a:ea typeface="Poppins SemiBold" panose="00000500000000000000"/>
              <a:cs typeface="Poppins SemiBold" panose="00000500000000000000"/>
              <a:sym typeface="Poppins SemiBold" panose="00000500000000000000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847725" y="2121535"/>
            <a:ext cx="4781550" cy="1055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该页面挂载后作为过渡路由。它立刻嗅探 URL Parameters，拿到 ticket 参数并将其回传后端，确保回调无卡顿：</a:t>
            </a:r>
            <a:endParaRPr lang="en-US" sz="16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6562725" y="2042160"/>
            <a:ext cx="5020310" cy="500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2563EB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安全红线：为什么前端不直接验证？</a:t>
            </a:r>
            <a:endParaRPr lang="en-US" sz="2000" b="0" i="0" u="none" strike="noStrike" cap="none">
              <a:solidFill>
                <a:srgbClr val="2563EB"/>
              </a:solidFill>
              <a:latin typeface="Poppins SemiBold" panose="00000500000000000000"/>
              <a:ea typeface="Poppins SemiBold" panose="00000500000000000000"/>
              <a:cs typeface="Poppins SemiBold" panose="00000500000000000000"/>
              <a:sym typeface="Poppins SemiBold" panose="00000500000000000000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6562725" y="2635299"/>
            <a:ext cx="4781550" cy="1329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防止客户端篡改：</a:t>
            </a:r>
            <a:r>
              <a:rPr lang="en-US" sz="18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Ticket 的安全校验属于服务器信任级操作，前端容易遭到截获、伪造及重放攻击。</a:t>
            </a:r>
            <a:endParaRPr lang="en-US" sz="18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6562725" y="4057015"/>
            <a:ext cx="4781550" cy="1881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跨源鉴权限制：</a:t>
            </a:r>
            <a:r>
              <a:rPr lang="en-US" sz="18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前端直接向 CAS 发起校验请求会触犯 CORS 同源策略。只有通过后端发送端对端校验报文（Backchannel Channel）才是符合 CAS 规范的安全做法。</a:t>
            </a:r>
            <a:endParaRPr lang="en-US" sz="18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714375" y="571500"/>
            <a:ext cx="1145143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第三步：前端拦截获取票据信息</a:t>
            </a:r>
            <a:endParaRPr lang="en-US" sz="24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571500" y="571500"/>
            <a:ext cx="57150" cy="419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1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 txBox="1"/>
          <p:nvPr/>
        </p:nvSpPr>
        <p:spPr>
          <a:xfrm>
            <a:off x="1285875" y="1863090"/>
            <a:ext cx="10048875" cy="1306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后端反向通信确认票据有效性</a:t>
            </a:r>
            <a:r>
              <a:rPr lang="en-US" sz="18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后端提供 /auth/cas/validate 控制器接口，接收前端提取的 ticket，在服务器背后发起 HTTP 请求同 ZJNU 统一身份服务器核对。</a:t>
            </a:r>
            <a:endParaRPr lang="en-US" sz="18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1285875" y="3340735"/>
            <a:ext cx="10048875" cy="2236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 CAS SDK 工具库解析 Assertions</a:t>
            </a:r>
            <a:r>
              <a:rPr lang="en-US" sz="18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后端使用 CAS20ServiceTicketValidator 安全连接库解析返回的 XML 流文件，析出工号与名字： Cas20ServiceTicketValidator validator = new Cas20ServiceTicketValidator(casServerUrl); Assertion assertion = validator.validate(ticket, service); String uid = assertion.getPrincipal().getName(); // 提取工号</a:t>
            </a:r>
            <a:endParaRPr lang="en-US" sz="18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26" name="Google Shape;226;p21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15670" y="2099667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1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15670" y="3525063"/>
            <a:ext cx="148232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1"/>
          <p:cNvSpPr txBox="1"/>
          <p:nvPr/>
        </p:nvSpPr>
        <p:spPr>
          <a:xfrm>
            <a:off x="714375" y="571500"/>
            <a:ext cx="1145143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第四步：后端服务安全校验</a:t>
            </a:r>
            <a:endParaRPr lang="en-US" sz="24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571500" y="571500"/>
            <a:ext cx="57150" cy="419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2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/>
          <p:cNvSpPr txBox="1"/>
          <p:nvPr/>
        </p:nvSpPr>
        <p:spPr>
          <a:xfrm>
            <a:off x="1285875" y="1626235"/>
            <a:ext cx="10048875" cy="145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本地逻辑落库检测与角色赋予</a:t>
            </a:r>
            <a:r>
              <a:rPr lang="en-US" sz="18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当校方 CAS 通信核准了当前的工号（Employee ID）后，系统的本地 users 表负责拉取具体的班级、学院以及角色等私有数据，进行应用层赋权。</a:t>
            </a:r>
            <a:endParaRPr lang="en-US" sz="18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6" name="Google Shape;236;p22"/>
          <p:cNvSpPr txBox="1"/>
          <p:nvPr/>
        </p:nvSpPr>
        <p:spPr>
          <a:xfrm>
            <a:off x="1285875" y="3249295"/>
            <a:ext cx="10048875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发放应用独立的 JWT 会话 Token</a:t>
            </a:r>
            <a:r>
              <a:rPr lang="en-US" sz="18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匹配正常，本地生成高强度的 JWT Token，将工号和对应角色绑定在 Claim 中，供后续调用 API 时装载： String token = jwtUtil.generateToken( user.getId(), user.getEmployeeId(), roleCodes, user.getName() ); return Map.of("token", token, "user", user);</a:t>
            </a:r>
            <a:endParaRPr lang="en-US" sz="18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37" name="Google Shape;237;p22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57250" y="1843821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2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57250" y="3482578"/>
            <a:ext cx="148232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2"/>
          <p:cNvSpPr txBox="1"/>
          <p:nvPr/>
        </p:nvSpPr>
        <p:spPr>
          <a:xfrm>
            <a:off x="714375" y="571500"/>
            <a:ext cx="1145143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第五步：本地账户匹配与 JWT 颁发</a:t>
            </a:r>
            <a:endParaRPr lang="en-US" sz="24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571500" y="571500"/>
            <a:ext cx="57150" cy="419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1762760"/>
            <a:ext cx="5372735" cy="4056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3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286500" y="1762760"/>
            <a:ext cx="5334000" cy="405638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3"/>
          <p:cNvSpPr txBox="1"/>
          <p:nvPr/>
        </p:nvSpPr>
        <p:spPr>
          <a:xfrm>
            <a:off x="847725" y="1951355"/>
            <a:ext cx="5020310" cy="829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563EB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1. 前端存储 Token</a:t>
            </a:r>
            <a:endParaRPr lang="en-US" sz="1800" b="0" i="0" u="none" strike="noStrike" cap="none">
              <a:solidFill>
                <a:srgbClr val="2563EB"/>
              </a:solidFill>
              <a:latin typeface="Poppins SemiBold" panose="00000500000000000000"/>
              <a:ea typeface="Poppins SemiBold" panose="00000500000000000000"/>
              <a:cs typeface="Poppins SemiBold" panose="00000500000000000000"/>
              <a:sym typeface="Poppins SemiBold" panose="00000500000000000000"/>
            </a:endParaRPr>
          </a:p>
        </p:txBody>
      </p:sp>
      <p:sp>
        <p:nvSpPr>
          <p:cNvPr id="249" name="Google Shape;249;p23"/>
          <p:cNvSpPr txBox="1"/>
          <p:nvPr/>
        </p:nvSpPr>
        <p:spPr>
          <a:xfrm>
            <a:off x="847725" y="2247265"/>
            <a:ext cx="4781550" cy="1006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cas-callback.vue 接受后端返回数据后，写入 LocalStorage / Cookie 并激活前端主页：</a:t>
            </a:r>
            <a:endParaRPr lang="en-US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0" name="Google Shape;250;p23"/>
          <p:cNvSpPr txBox="1"/>
          <p:nvPr/>
        </p:nvSpPr>
        <p:spPr>
          <a:xfrm>
            <a:off x="6562725" y="1951355"/>
            <a:ext cx="5020310" cy="829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563EB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2. 后续通信自动承载 JWT</a:t>
            </a:r>
            <a:endParaRPr lang="en-US" sz="1800" b="0" i="0" u="none" strike="noStrike" cap="none">
              <a:solidFill>
                <a:srgbClr val="2563EB"/>
              </a:solidFill>
              <a:latin typeface="Poppins SemiBold" panose="00000500000000000000"/>
              <a:ea typeface="Poppins SemiBold" panose="00000500000000000000"/>
              <a:cs typeface="Poppins SemiBold" panose="00000500000000000000"/>
              <a:sym typeface="Poppins SemiBold" panose="00000500000000000000"/>
            </a:endParaRPr>
          </a:p>
        </p:txBody>
      </p:sp>
      <p:sp>
        <p:nvSpPr>
          <p:cNvPr id="251" name="Google Shape;251;p23"/>
          <p:cNvSpPr txBox="1"/>
          <p:nvPr/>
        </p:nvSpPr>
        <p:spPr>
          <a:xfrm>
            <a:off x="6562725" y="2361565"/>
            <a:ext cx="4781550" cy="1049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登录宣告结束后，在整个系统生命周期中，浏览器都会使用 Axios 请求拦截器机制自动读取 Token 并组装：</a:t>
            </a:r>
            <a:endParaRPr lang="en-US" sz="16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2" name="Google Shape;252;p23"/>
          <p:cNvSpPr txBox="1"/>
          <p:nvPr/>
        </p:nvSpPr>
        <p:spPr>
          <a:xfrm>
            <a:off x="6562725" y="4782185"/>
            <a:ext cx="4781550" cy="604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安全效益：</a:t>
            </a:r>
            <a:r>
              <a:rPr lang="en-US" b="0" i="0" u="none" strike="noStrike" cap="non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系统从此不再依赖 CAS 服务器，减轻统一认证中心的瞬时高负载。</a:t>
            </a:r>
            <a:endParaRPr lang="en-US" b="0" i="0" u="none" strike="noStrike" cap="non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3" name="Google Shape;253;p23"/>
          <p:cNvSpPr txBox="1"/>
          <p:nvPr/>
        </p:nvSpPr>
        <p:spPr>
          <a:xfrm>
            <a:off x="714375" y="571500"/>
            <a:ext cx="1145143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第六步：客户端存储会话成功登录</a:t>
            </a:r>
            <a:endParaRPr lang="en-US" sz="24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571500" y="571500"/>
            <a:ext cx="57150" cy="419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4" descr="image.png"/>
          <p:cNvPicPr preferRelativeResize="0"/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2503170"/>
            <a:ext cx="3607435" cy="3272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4" descr="image.png"/>
          <p:cNvPicPr preferRelativeResize="0"/>
          <p:nvPr>
            <p:custDataLst>
              <p:tags r:id="rId4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>
            <a:off x="4330700" y="2503170"/>
            <a:ext cx="3684270" cy="3194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4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8089900" y="2503170"/>
            <a:ext cx="3763010" cy="313118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4"/>
          <p:cNvSpPr txBox="1"/>
          <p:nvPr>
            <p:custDataLst>
              <p:tags r:id="rId7"/>
            </p:custDataLst>
          </p:nvPr>
        </p:nvSpPr>
        <p:spPr>
          <a:xfrm>
            <a:off x="809625" y="2682875"/>
            <a:ext cx="2513965" cy="868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3A8A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白名单路由豁免</a:t>
            </a:r>
            <a:endParaRPr lang="en-US" sz="1800" b="0" i="0" u="none" strike="noStrike" cap="none">
              <a:solidFill>
                <a:srgbClr val="1E3A8A"/>
              </a:solidFill>
              <a:latin typeface="Poppins SemiBold" panose="00000500000000000000"/>
              <a:ea typeface="Poppins SemiBold" panose="00000500000000000000"/>
              <a:cs typeface="Poppins SemiBold" panose="00000500000000000000"/>
              <a:sym typeface="Poppins SemiBold" panose="00000500000000000000"/>
            </a:endParaRPr>
          </a:p>
        </p:txBody>
      </p:sp>
      <p:sp>
        <p:nvSpPr>
          <p:cNvPr id="264" name="Google Shape;264;p24"/>
          <p:cNvSpPr txBox="1"/>
          <p:nvPr>
            <p:custDataLst>
              <p:tags r:id="rId8"/>
            </p:custDataLst>
          </p:nvPr>
        </p:nvSpPr>
        <p:spPr>
          <a:xfrm>
            <a:off x="809625" y="3665339"/>
            <a:ext cx="3054399" cy="1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/auth/cas/** 鉴权网格接口必须独立放行，保证未取得本地 JWT 的用户在大厅验证重定向阶段，流量不被 Security 拦截器直接阻断。</a:t>
            </a:r>
            <a:endParaRPr lang="en-US" sz="16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5" name="Google Shape;265;p24"/>
          <p:cNvSpPr txBox="1"/>
          <p:nvPr>
            <p:custDataLst>
              <p:tags r:id="rId9"/>
            </p:custDataLst>
          </p:nvPr>
        </p:nvSpPr>
        <p:spPr>
          <a:xfrm>
            <a:off x="4568825" y="2397125"/>
            <a:ext cx="3070225" cy="930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>
              <a:solidFill>
                <a:srgbClr val="1E3A8A"/>
              </a:solidFill>
              <a:latin typeface="Poppins SemiBold" panose="00000500000000000000"/>
              <a:ea typeface="Poppins SemiBold" panose="00000500000000000000"/>
              <a:cs typeface="Poppins SemiBold" panose="00000500000000000000"/>
              <a:sym typeface="Poppins SemiBold" panose="0000050000000000000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3A8A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单次与失效控制</a:t>
            </a:r>
            <a:endParaRPr lang="en-US" sz="1800" b="0" i="0" u="none" strike="noStrike" cap="none">
              <a:solidFill>
                <a:srgbClr val="1E3A8A"/>
              </a:solidFill>
              <a:latin typeface="Poppins SemiBold" panose="00000500000000000000"/>
              <a:ea typeface="Poppins SemiBold" panose="00000500000000000000"/>
              <a:cs typeface="Poppins SemiBold" panose="00000500000000000000"/>
              <a:sym typeface="Poppins SemiBold" panose="00000500000000000000"/>
            </a:endParaRPr>
          </a:p>
        </p:txBody>
      </p:sp>
      <p:sp>
        <p:nvSpPr>
          <p:cNvPr id="266" name="Google Shape;266;p24"/>
          <p:cNvSpPr txBox="1"/>
          <p:nvPr>
            <p:custDataLst>
              <p:tags r:id="rId10"/>
            </p:custDataLst>
          </p:nvPr>
        </p:nvSpPr>
        <p:spPr>
          <a:xfrm>
            <a:off x="4568874" y="3665339"/>
            <a:ext cx="3054399" cy="1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CAS 在核心算法层保证每个 ST 只能执行单次物理验证，并在后台缓存已校验 ST ID，彻底拦截任何试图重播会话（Replay Attack）的行为。</a:t>
            </a:r>
            <a:endParaRPr lang="en-US" sz="16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7" name="Google Shape;267;p24"/>
          <p:cNvSpPr txBox="1"/>
          <p:nvPr/>
        </p:nvSpPr>
        <p:spPr>
          <a:xfrm>
            <a:off x="8328025" y="2682875"/>
            <a:ext cx="2815590" cy="501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3A8A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Service 地址绑定</a:t>
            </a:r>
            <a:endParaRPr lang="en-US" sz="1800" b="0" i="0" u="none" strike="noStrike" cap="none">
              <a:solidFill>
                <a:srgbClr val="1E3A8A"/>
              </a:solidFill>
              <a:latin typeface="Poppins SemiBold" panose="00000500000000000000"/>
              <a:ea typeface="Poppins SemiBold" panose="00000500000000000000"/>
              <a:cs typeface="Poppins SemiBold" panose="00000500000000000000"/>
              <a:sym typeface="Poppins SemiBold" panose="00000500000000000000"/>
            </a:endParaRPr>
          </a:p>
        </p:txBody>
      </p:sp>
      <p:sp>
        <p:nvSpPr>
          <p:cNvPr id="268" name="Google Shape;268;p24"/>
          <p:cNvSpPr txBox="1"/>
          <p:nvPr/>
        </p:nvSpPr>
        <p:spPr>
          <a:xfrm>
            <a:off x="8328124" y="3665339"/>
            <a:ext cx="3054399" cy="1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CAS 端严格限制可执行跳转的 Service 回调白名单，避免恶意分子构造钓鱼地址骗取 ST 产生跨域凭证泄露。</a:t>
            </a:r>
            <a:endParaRPr lang="en-US" sz="16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69" name="Google Shape;269;p24" descr="image.png"/>
          <p:cNvPicPr preferRelativeResize="0"/>
          <p:nvPr>
            <p:custDataLst>
              <p:tags r:id="rId11"/>
            </p:custDataLst>
          </p:nvPr>
        </p:nvPicPr>
        <p:blipFill rotWithShape="1">
          <a:blip r:embed="rId12"/>
          <a:srcRect/>
          <a:stretch>
            <a:fillRect/>
          </a:stretch>
        </p:blipFill>
        <p:spPr>
          <a:xfrm>
            <a:off x="266065" y="2682875"/>
            <a:ext cx="30543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4" descr="image.png"/>
          <p:cNvPicPr preferRelativeResize="0"/>
          <p:nvPr>
            <p:custDataLst>
              <p:tags r:id="rId13"/>
            </p:custDataLst>
          </p:nvPr>
        </p:nvPicPr>
        <p:blipFill rotWithShape="1">
          <a:blip r:embed="rId14"/>
          <a:srcRect/>
          <a:stretch>
            <a:fillRect/>
          </a:stretch>
        </p:blipFill>
        <p:spPr>
          <a:xfrm>
            <a:off x="4102149" y="2682994"/>
            <a:ext cx="237083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4" descr="image.png"/>
          <p:cNvPicPr preferRelativeResize="0"/>
          <p:nvPr/>
        </p:nvPicPr>
        <p:blipFill rotWithShape="1">
          <a:blip r:embed="rId15"/>
          <a:srcRect/>
          <a:stretch>
            <a:fillRect/>
          </a:stretch>
        </p:blipFill>
        <p:spPr>
          <a:xfrm>
            <a:off x="7865209" y="2682994"/>
            <a:ext cx="237083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4"/>
          <p:cNvSpPr txBox="1"/>
          <p:nvPr/>
        </p:nvSpPr>
        <p:spPr>
          <a:xfrm>
            <a:off x="714375" y="571500"/>
            <a:ext cx="1145143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CAS + JWT 统一安全设计要点</a:t>
            </a:r>
            <a:endParaRPr lang="en-US" sz="24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73" name="Google Shape;273;p24"/>
          <p:cNvSpPr/>
          <p:nvPr/>
        </p:nvSpPr>
        <p:spPr>
          <a:xfrm>
            <a:off x="571500" y="571500"/>
            <a:ext cx="57150" cy="419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2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2603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514600"/>
            <a:ext cx="11049000" cy="25336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5"/>
          <p:cNvSpPr/>
          <p:nvPr/>
        </p:nvSpPr>
        <p:spPr>
          <a:xfrm>
            <a:off x="581025" y="2524125"/>
            <a:ext cx="11029950" cy="2514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aphicFrame>
        <p:nvGraphicFramePr>
          <p:cNvPr id="281" name="Google Shape;281;p25"/>
          <p:cNvGraphicFramePr/>
          <p:nvPr/>
        </p:nvGraphicFramePr>
        <p:xfrm>
          <a:off x="581025" y="1330325"/>
          <a:ext cx="11029950" cy="4648200"/>
        </p:xfrm>
        <a:graphic>
          <a:graphicData uri="http://schemas.openxmlformats.org/drawingml/2006/table">
            <a:tbl>
              <a:tblPr firstRow="1" bandRow="1">
                <a:noFill/>
                <a:tableStyleId>{D85139CC-8629-429D-AF3D-B1C0E38B988B}</a:tableStyleId>
              </a:tblPr>
              <a:tblGrid>
                <a:gridCol w="1349375"/>
                <a:gridCol w="3285490"/>
                <a:gridCol w="3284855"/>
                <a:gridCol w="3110230"/>
              </a:tblGrid>
              <a:tr h="92964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0F172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对比核心项</a:t>
                      </a:r>
                      <a:endParaRPr lang="en-US" sz="1125" b="1" i="0" u="none" strike="noStrike" cap="none">
                        <a:solidFill>
                          <a:srgbClr val="0F172A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0F172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方式A：前端驱动（本项目使用）</a:t>
                      </a:r>
                      <a:endParaRPr lang="en-US" sz="1125" b="1" i="0" u="none" strike="noStrike" cap="none">
                        <a:solidFill>
                          <a:srgbClr val="0F172A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0F172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方式B：Servlet 过滤器</a:t>
                      </a:r>
                      <a:endParaRPr lang="en-US" sz="1125" b="1" i="0" u="none" strike="noStrike" cap="none">
                        <a:solidFill>
                          <a:srgbClr val="0F172A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0F172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方式C：代理认证模式</a:t>
                      </a:r>
                      <a:endParaRPr lang="en-US" sz="1125" b="1" i="0" u="none" strike="noStrike" cap="none">
                        <a:solidFill>
                          <a:srgbClr val="0F172A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</a:tr>
              <a:tr h="92964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适合场景</a:t>
                      </a:r>
                      <a:endParaRPr lang="en-US" sz="1125" b="1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前后端分离 SPA 应用</a:t>
                      </a:r>
                      <a:endParaRPr lang="en-US" sz="1125" b="0" i="0" u="none" strike="noStrike" cap="none">
                        <a:solidFill>
                          <a:srgbClr val="2563EB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传统单体服务端渲染应用</a:t>
                      </a:r>
                      <a:endParaRPr lang="en-US" sz="1125" b="0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第三方代录入 / 批量管理</a:t>
                      </a:r>
                      <a:endParaRPr lang="en-US" sz="1125" b="0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2964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页面控制权</a:t>
                      </a:r>
                      <a:endParaRPr lang="en-US" sz="1125" b="1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跳转 CAS 原生页面 / 自定义回调页</a:t>
                      </a:r>
                      <a:endParaRPr lang="en-US" sz="1125" b="0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完全依靠后台 Filter 拦截重定向</a:t>
                      </a:r>
                      <a:endParaRPr lang="en-US" sz="1125" b="0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使用请销假系统自有定制登录页</a:t>
                      </a:r>
                      <a:endParaRPr lang="en-US" sz="1125" b="0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CFD"/>
                    </a:solidFill>
                  </a:tcPr>
                </a:tc>
              </a:tr>
              <a:tr h="92964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安全系数</a:t>
                      </a:r>
                      <a:endParaRPr lang="en-US" sz="1125" b="1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高（双端验证，防 ST 伪造）</a:t>
                      </a:r>
                      <a:endParaRPr lang="en-US" sz="1125" b="0" i="0" u="none" strike="noStrike" cap="none">
                        <a:solidFill>
                          <a:srgbClr val="2563EB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高（后端过滤器拦截直接通信）</a:t>
                      </a:r>
                      <a:endParaRPr lang="en-US" sz="1125" b="0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较低（需代理收集用户校方账号）</a:t>
                      </a:r>
                      <a:endParaRPr lang="en-US" sz="1125" b="0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2964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维护复杂度</a:t>
                      </a:r>
                      <a:endParaRPr lang="en-US" sz="1125" b="1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中等（前后台需编写专门回调逻辑）</a:t>
                      </a:r>
                      <a:endParaRPr lang="en-US" sz="1125" b="0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简单（开箱即用，通过配置类映射）</a:t>
                      </a:r>
                      <a:endParaRPr lang="en-US" sz="1125" b="0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高（需要完全代理并发模拟发送）</a:t>
                      </a:r>
                      <a:endParaRPr lang="en-US" sz="1125" b="0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CFD"/>
                    </a:solidFill>
                  </a:tcPr>
                </a:tc>
              </a:tr>
            </a:tbl>
          </a:graphicData>
        </a:graphic>
      </p:graphicFrame>
      <p:sp>
        <p:nvSpPr>
          <p:cNvPr id="282" name="Google Shape;282;p25"/>
          <p:cNvSpPr/>
          <p:nvPr/>
        </p:nvSpPr>
        <p:spPr>
          <a:xfrm>
            <a:off x="581025" y="3014662"/>
            <a:ext cx="13492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1930300" y="3014662"/>
            <a:ext cx="32853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4" name="Google Shape;284;p25"/>
          <p:cNvSpPr/>
          <p:nvPr/>
        </p:nvSpPr>
        <p:spPr>
          <a:xfrm>
            <a:off x="5215681" y="3014662"/>
            <a:ext cx="32853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5" name="Google Shape;285;p25"/>
          <p:cNvSpPr/>
          <p:nvPr/>
        </p:nvSpPr>
        <p:spPr>
          <a:xfrm>
            <a:off x="8501062" y="3014662"/>
            <a:ext cx="31099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6" name="Google Shape;286;p25"/>
          <p:cNvSpPr/>
          <p:nvPr/>
        </p:nvSpPr>
        <p:spPr>
          <a:xfrm>
            <a:off x="581025" y="3519487"/>
            <a:ext cx="13492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7" name="Google Shape;287;p25"/>
          <p:cNvSpPr/>
          <p:nvPr/>
        </p:nvSpPr>
        <p:spPr>
          <a:xfrm>
            <a:off x="1930300" y="3519487"/>
            <a:ext cx="32853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8" name="Google Shape;288;p25"/>
          <p:cNvSpPr/>
          <p:nvPr/>
        </p:nvSpPr>
        <p:spPr>
          <a:xfrm>
            <a:off x="5215681" y="3519487"/>
            <a:ext cx="32853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8501062" y="3519487"/>
            <a:ext cx="31099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0" name="Google Shape;290;p25"/>
          <p:cNvSpPr/>
          <p:nvPr/>
        </p:nvSpPr>
        <p:spPr>
          <a:xfrm>
            <a:off x="581025" y="4024312"/>
            <a:ext cx="13492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1" name="Google Shape;291;p25"/>
          <p:cNvSpPr/>
          <p:nvPr/>
        </p:nvSpPr>
        <p:spPr>
          <a:xfrm>
            <a:off x="1930300" y="4024312"/>
            <a:ext cx="32853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2" name="Google Shape;292;p25"/>
          <p:cNvSpPr/>
          <p:nvPr/>
        </p:nvSpPr>
        <p:spPr>
          <a:xfrm>
            <a:off x="5215681" y="4024312"/>
            <a:ext cx="32853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3" name="Google Shape;293;p25"/>
          <p:cNvSpPr/>
          <p:nvPr/>
        </p:nvSpPr>
        <p:spPr>
          <a:xfrm>
            <a:off x="8501062" y="4024312"/>
            <a:ext cx="31099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4" name="Google Shape;294;p25"/>
          <p:cNvSpPr/>
          <p:nvPr/>
        </p:nvSpPr>
        <p:spPr>
          <a:xfrm>
            <a:off x="581025" y="4529137"/>
            <a:ext cx="13492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5" name="Google Shape;295;p25"/>
          <p:cNvSpPr/>
          <p:nvPr/>
        </p:nvSpPr>
        <p:spPr>
          <a:xfrm>
            <a:off x="1930300" y="4529137"/>
            <a:ext cx="32853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6" name="Google Shape;296;p25"/>
          <p:cNvSpPr/>
          <p:nvPr/>
        </p:nvSpPr>
        <p:spPr>
          <a:xfrm>
            <a:off x="5215681" y="4529137"/>
            <a:ext cx="32853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7" name="Google Shape;297;p25"/>
          <p:cNvSpPr/>
          <p:nvPr/>
        </p:nvSpPr>
        <p:spPr>
          <a:xfrm>
            <a:off x="8501062" y="4529137"/>
            <a:ext cx="31099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8" name="Google Shape;298;p25"/>
          <p:cNvSpPr txBox="1"/>
          <p:nvPr/>
        </p:nvSpPr>
        <p:spPr>
          <a:xfrm>
            <a:off x="714375" y="571500"/>
            <a:ext cx="1145143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常见三种 CAS 对接架构设计对比</a:t>
            </a:r>
            <a:endParaRPr lang="en-US" sz="24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99" name="Google Shape;299;p25"/>
          <p:cNvSpPr/>
          <p:nvPr/>
        </p:nvSpPr>
        <p:spPr>
          <a:xfrm>
            <a:off x="571500" y="571500"/>
            <a:ext cx="57150" cy="419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2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1892300"/>
            <a:ext cx="5449570" cy="413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286500" y="1892935"/>
            <a:ext cx="5516880" cy="413639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6"/>
          <p:cNvSpPr txBox="1"/>
          <p:nvPr/>
        </p:nvSpPr>
        <p:spPr>
          <a:xfrm>
            <a:off x="847725" y="2028825"/>
            <a:ext cx="5020310" cy="521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2563EB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🖥️ 客户端前端资源 (Vue 3 Codebase)</a:t>
            </a:r>
            <a:endParaRPr lang="en-US" sz="2000" b="0" i="0" u="none" strike="noStrike" cap="none">
              <a:solidFill>
                <a:srgbClr val="2563EB"/>
              </a:solidFill>
              <a:latin typeface="Poppins SemiBold" panose="00000500000000000000"/>
              <a:ea typeface="Poppins SemiBold" panose="00000500000000000000"/>
              <a:cs typeface="Poppins SemiBold" panose="00000500000000000000"/>
              <a:sym typeface="Poppins SemiBold" panose="00000500000000000000"/>
            </a:endParaRPr>
          </a:p>
        </p:txBody>
      </p:sp>
      <p:sp>
        <p:nvSpPr>
          <p:cNvPr id="308" name="Google Shape;308;p26"/>
          <p:cNvSpPr txBox="1"/>
          <p:nvPr/>
        </p:nvSpPr>
        <p:spPr>
          <a:xfrm>
            <a:off x="6562725" y="2028825"/>
            <a:ext cx="5020310" cy="678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2563EB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⚙️</a:t>
            </a:r>
            <a:r>
              <a:rPr lang="en-US" sz="1800" b="0" i="0" u="none" strike="noStrike" cap="none">
                <a:solidFill>
                  <a:srgbClr val="2563EB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 后端微</a:t>
            </a:r>
            <a:r>
              <a:rPr lang="en-US" sz="2400" b="0" i="0" u="none" strike="noStrike" cap="none">
                <a:solidFill>
                  <a:srgbClr val="2563EB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服务</a:t>
            </a:r>
            <a:r>
              <a:rPr lang="en-US" sz="1800" b="0" i="0" u="none" strike="noStrike" cap="none">
                <a:solidFill>
                  <a:srgbClr val="2563EB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资源 (Spring Boot Project)</a:t>
            </a:r>
            <a:endParaRPr lang="en-US" sz="1800" b="0" i="0" u="none" strike="noStrike" cap="none">
              <a:solidFill>
                <a:srgbClr val="2563EB"/>
              </a:solidFill>
              <a:latin typeface="Poppins SemiBold" panose="00000500000000000000"/>
              <a:ea typeface="Poppins SemiBold" panose="00000500000000000000"/>
              <a:cs typeface="Poppins SemiBold" panose="00000500000000000000"/>
              <a:sym typeface="Poppins SemiBold" panose="00000500000000000000"/>
            </a:endParaRPr>
          </a:p>
        </p:txBody>
      </p:sp>
      <p:sp>
        <p:nvSpPr>
          <p:cNvPr id="309" name="Google Shape;309;p26"/>
          <p:cNvSpPr txBox="1"/>
          <p:nvPr>
            <p:custDataLst>
              <p:tags r:id="rId4"/>
            </p:custDataLst>
          </p:nvPr>
        </p:nvSpPr>
        <p:spPr>
          <a:xfrm>
            <a:off x="1057275" y="2505710"/>
            <a:ext cx="4572000" cy="1033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src/views/login/choice.vue</a:t>
            </a:r>
            <a:br>
              <a:rPr lang="en-US"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6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登录分发控制，点击构建 ZJNU 回调 Service URL 跳转。</a:t>
            </a:r>
            <a:endParaRPr lang="en-US" sz="1600" b="0" i="0" u="none" strike="noStrike" cap="non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0" name="Google Shape;310;p26"/>
          <p:cNvSpPr txBox="1"/>
          <p:nvPr>
            <p:custDataLst>
              <p:tags r:id="rId5"/>
            </p:custDataLst>
          </p:nvPr>
        </p:nvSpPr>
        <p:spPr>
          <a:xfrm>
            <a:off x="1057275" y="3308350"/>
            <a:ext cx="4572000" cy="821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src/views/login/cas-callback.vue</a:t>
            </a:r>
            <a:br>
              <a:rPr lang="en-US"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6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回调专用空白容器，提取 URL 中的 Ticket 并向后端传送。</a:t>
            </a:r>
            <a:endParaRPr lang="en-US" sz="1600" b="0" i="0" u="none" strike="noStrike" cap="non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1" name="Google Shape;311;p26"/>
          <p:cNvSpPr txBox="1"/>
          <p:nvPr>
            <p:custDataLst>
              <p:tags r:id="rId6"/>
            </p:custDataLst>
          </p:nvPr>
        </p:nvSpPr>
        <p:spPr>
          <a:xfrm>
            <a:off x="1057275" y="4211320"/>
            <a:ext cx="4572000" cy="474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src/api/auth.js</a:t>
            </a:r>
            <a:br>
              <a:rPr lang="en-US"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6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封装 CAS 登录与 ST 效验 Axios 传输协议。</a:t>
            </a:r>
            <a:endParaRPr lang="en-US" sz="1600" b="0" i="0" u="none" strike="noStrike" cap="non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2" name="Google Shape;312;p26"/>
          <p:cNvSpPr txBox="1"/>
          <p:nvPr>
            <p:custDataLst>
              <p:tags r:id="rId7"/>
            </p:custDataLst>
          </p:nvPr>
        </p:nvSpPr>
        <p:spPr>
          <a:xfrm>
            <a:off x="1057275" y="4756150"/>
            <a:ext cx="4572000" cy="67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src/router/index.js</a:t>
            </a:r>
            <a:br>
              <a:rPr lang="en-US"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6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路由导航守卫，免登录、免拦截白名单配置。</a:t>
            </a:r>
            <a:endParaRPr lang="en-US" sz="1600" b="0" i="0" u="none" strike="noStrike" cap="non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3" name="Google Shape;313;p26"/>
          <p:cNvSpPr txBox="1"/>
          <p:nvPr>
            <p:custDataLst>
              <p:tags r:id="rId8"/>
            </p:custDataLst>
          </p:nvPr>
        </p:nvSpPr>
        <p:spPr>
          <a:xfrm>
            <a:off x="6772275" y="2550795"/>
            <a:ext cx="4572000" cy="75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AuthController.java</a:t>
            </a:r>
            <a:br>
              <a:rPr lang="en-US"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6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暴露验证入口，接收请求验证参数，调取 Service。</a:t>
            </a:r>
            <a:endParaRPr lang="en-US" sz="1600" b="0" i="0" u="none" strike="noStrike" cap="non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4" name="Google Shape;314;p26"/>
          <p:cNvSpPr txBox="1"/>
          <p:nvPr>
            <p:custDataLst>
              <p:tags r:id="rId9"/>
            </p:custDataLst>
          </p:nvPr>
        </p:nvSpPr>
        <p:spPr>
          <a:xfrm>
            <a:off x="6772275" y="3391535"/>
            <a:ext cx="4572000" cy="737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AuthService.java</a:t>
            </a:r>
            <a:br>
              <a:rPr lang="en-US"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6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校验逻辑，比对本地库用户，生成 JWT 授权凭证。</a:t>
            </a:r>
            <a:endParaRPr lang="en-US" sz="1600" b="0" i="0" u="none" strike="noStrike" cap="non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5" name="Google Shape;315;p26"/>
          <p:cNvSpPr txBox="1"/>
          <p:nvPr>
            <p:custDataLst>
              <p:tags r:id="rId10"/>
            </p:custDataLst>
          </p:nvPr>
        </p:nvSpPr>
        <p:spPr>
          <a:xfrm>
            <a:off x="6772275" y="4128770"/>
            <a:ext cx="4572000" cy="62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CasConfig.java</a:t>
            </a:r>
            <a:br>
              <a:rPr lang="en-US"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6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注册 CAS 基础服务器参数，提供证书验证机制。</a:t>
            </a:r>
            <a:endParaRPr lang="en-US" sz="1600" b="0" i="0" u="none" strike="noStrike" cap="non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6" name="Google Shape;316;p26"/>
          <p:cNvSpPr txBox="1"/>
          <p:nvPr>
            <p:custDataLst>
              <p:tags r:id="rId11"/>
            </p:custDataLst>
          </p:nvPr>
        </p:nvSpPr>
        <p:spPr>
          <a:xfrm>
            <a:off x="6772275" y="4686300"/>
            <a:ext cx="4572000" cy="83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InterceptorConfig.java</a:t>
            </a:r>
            <a:br>
              <a:rPr lang="en-US"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6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安全网格防线，对 CAS 回调鉴权地址配置例外规则。</a:t>
            </a:r>
            <a:endParaRPr lang="en-US" sz="1600" b="0" i="0" u="none" strike="noStrike" cap="non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7" name="Google Shape;317;p26"/>
          <p:cNvSpPr txBox="1"/>
          <p:nvPr>
            <p:custDataLst>
              <p:tags r:id="rId12"/>
            </p:custDataLst>
          </p:nvPr>
        </p:nvSpPr>
        <p:spPr>
          <a:xfrm>
            <a:off x="895350" y="2800350"/>
            <a:ext cx="47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lang="en-US" sz="1125" b="1" i="0" u="none" strike="noStrike" cap="non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8" name="Google Shape;318;p26"/>
          <p:cNvSpPr txBox="1"/>
          <p:nvPr>
            <p:custDataLst>
              <p:tags r:id="rId13"/>
            </p:custDataLst>
          </p:nvPr>
        </p:nvSpPr>
        <p:spPr>
          <a:xfrm>
            <a:off x="895350" y="3390900"/>
            <a:ext cx="47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lang="en-US" sz="1125" b="1" i="0" u="none" strike="noStrike" cap="non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9" name="Google Shape;319;p26"/>
          <p:cNvSpPr txBox="1"/>
          <p:nvPr>
            <p:custDataLst>
              <p:tags r:id="rId14"/>
            </p:custDataLst>
          </p:nvPr>
        </p:nvSpPr>
        <p:spPr>
          <a:xfrm>
            <a:off x="895350" y="3981450"/>
            <a:ext cx="47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lang="en-US" sz="1125" b="1" i="0" u="none" strike="noStrike" cap="non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0" name="Google Shape;320;p26"/>
          <p:cNvSpPr txBox="1"/>
          <p:nvPr>
            <p:custDataLst>
              <p:tags r:id="rId15"/>
            </p:custDataLst>
          </p:nvPr>
        </p:nvSpPr>
        <p:spPr>
          <a:xfrm>
            <a:off x="895350" y="4572000"/>
            <a:ext cx="47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lang="en-US" sz="1125" b="1" i="0" u="none" strike="noStrike" cap="non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1" name="Google Shape;321;p26"/>
          <p:cNvSpPr txBox="1"/>
          <p:nvPr>
            <p:custDataLst>
              <p:tags r:id="rId16"/>
            </p:custDataLst>
          </p:nvPr>
        </p:nvSpPr>
        <p:spPr>
          <a:xfrm>
            <a:off x="6610350" y="2800350"/>
            <a:ext cx="47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lang="en-US" sz="1125" b="1" i="0" u="none" strike="noStrike" cap="non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2" name="Google Shape;322;p26"/>
          <p:cNvSpPr txBox="1"/>
          <p:nvPr>
            <p:custDataLst>
              <p:tags r:id="rId17"/>
            </p:custDataLst>
          </p:nvPr>
        </p:nvSpPr>
        <p:spPr>
          <a:xfrm>
            <a:off x="6610350" y="3390900"/>
            <a:ext cx="47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lang="en-US" sz="1125" b="1" i="0" u="none" strike="noStrike" cap="non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3" name="Google Shape;323;p26"/>
          <p:cNvSpPr txBox="1"/>
          <p:nvPr>
            <p:custDataLst>
              <p:tags r:id="rId18"/>
            </p:custDataLst>
          </p:nvPr>
        </p:nvSpPr>
        <p:spPr>
          <a:xfrm>
            <a:off x="6610350" y="3981450"/>
            <a:ext cx="47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lang="en-US" sz="1125" b="1" i="0" u="none" strike="noStrike" cap="non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4" name="Google Shape;324;p26"/>
          <p:cNvSpPr txBox="1"/>
          <p:nvPr>
            <p:custDataLst>
              <p:tags r:id="rId19"/>
            </p:custDataLst>
          </p:nvPr>
        </p:nvSpPr>
        <p:spPr>
          <a:xfrm>
            <a:off x="6610350" y="4572000"/>
            <a:ext cx="47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lang="en-US" sz="1125" b="1" i="0" u="none" strike="noStrike" cap="non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5" name="Google Shape;325;p26"/>
          <p:cNvSpPr txBox="1"/>
          <p:nvPr/>
        </p:nvSpPr>
        <p:spPr>
          <a:xfrm>
            <a:off x="714375" y="571500"/>
            <a:ext cx="1145143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项目 CAS 统一模块文件清单</a:t>
            </a:r>
            <a:endParaRPr lang="en-US" sz="24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326" name="Google Shape;326;p26"/>
          <p:cNvSpPr/>
          <p:nvPr/>
        </p:nvSpPr>
        <p:spPr>
          <a:xfrm>
            <a:off x="571500" y="571500"/>
            <a:ext cx="57150" cy="419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2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7"/>
          <p:cNvSpPr txBox="1"/>
          <p:nvPr/>
        </p:nvSpPr>
        <p:spPr>
          <a:xfrm>
            <a:off x="1285875" y="1692910"/>
            <a:ext cx="10048875" cy="167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信任机制的彻底下放 (CAS)</a:t>
            </a:r>
            <a:r>
              <a:rPr lang="en-US" sz="16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系统将最底层繁琐的用户注册、口令加密、密码找回等敏感服务，完全外包并下放至专业的校级 CAS 统一认证中心，极大地减轻了自身的合规压力。</a:t>
            </a:r>
            <a:endParaRPr lang="en-US" sz="16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3" name="Google Shape;333;p27"/>
          <p:cNvSpPr txBox="1"/>
          <p:nvPr/>
        </p:nvSpPr>
        <p:spPr>
          <a:xfrm>
            <a:off x="1285875" y="2816225"/>
            <a:ext cx="10048875" cy="126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安全权限的高效自控 (JWT)</a:t>
            </a:r>
            <a:r>
              <a:rPr lang="en-US" sz="16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校方 CAS 仅承担“证明你确实是浙师大某教师”的义务；而进入系统后“你属于哪个系、能否批准事假、是否为审批流一员”等微观角色权限，依旧依靠自签 JWT 来完美实现。</a:t>
            </a:r>
            <a:endParaRPr lang="en-US" sz="16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4" name="Google Shape;334;p27"/>
          <p:cNvSpPr txBox="1"/>
          <p:nvPr/>
        </p:nvSpPr>
        <p:spPr>
          <a:xfrm>
            <a:off x="1285875" y="3961130"/>
            <a:ext cx="10048875" cy="684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一句话闭环概括：</a:t>
            </a:r>
            <a:r>
              <a:rPr lang="en-US" sz="16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600" b="1" i="0" u="none" strike="noStrike" cap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“CAS 服务用于确立我是谁，JWT 技术保障我的行为是否合理。”</a:t>
            </a:r>
            <a:endParaRPr lang="en-US" sz="1600" b="1" i="0" u="none" strike="noStrike" cap="none">
              <a:solidFill>
                <a:srgbClr val="0F17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35" name="Google Shape;335;p2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57250" y="1885324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57250" y="2998936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7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57250" y="4062958"/>
            <a:ext cx="148232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7"/>
          <p:cNvSpPr txBox="1"/>
          <p:nvPr/>
        </p:nvSpPr>
        <p:spPr>
          <a:xfrm>
            <a:off x="714375" y="571500"/>
            <a:ext cx="1145143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总结：核心要素与设计反思</a:t>
            </a:r>
            <a:endParaRPr lang="en-US" sz="24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339" name="Google Shape;339;p27"/>
          <p:cNvSpPr/>
          <p:nvPr/>
        </p:nvSpPr>
        <p:spPr>
          <a:xfrm>
            <a:off x="571500" y="571500"/>
            <a:ext cx="57150" cy="419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144000" y="-1016000"/>
            <a:ext cx="4572000" cy="4572000"/>
          </a:xfrm>
          <a:prstGeom prst="ellipse">
            <a:avLst/>
          </a:prstGeom>
          <a:solidFill>
            <a:srgbClr val="07C16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9906000" y="4318000"/>
            <a:ext cx="3048000" cy="3048000"/>
          </a:xfrm>
          <a:prstGeom prst="ellipse">
            <a:avLst/>
          </a:prstGeom>
          <a:solidFill>
            <a:srgbClr val="07C160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651000"/>
            <a:ext cx="1016000" cy="762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286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企业微信通知系统实现梳理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4297">
            <a:off x="1016004" y="3803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4191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浙江师范大学校讯推平台集成方案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4297">
            <a:off x="1016004" y="5708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7C16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59055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技术部   |   2026年6月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70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76200" cy="13335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905000"/>
            <a:ext cx="63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7C160">
                    <a:alpha val="4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5350892">
            <a:off x="1460500" y="2406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2095500" y="19050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系统架构概览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095500" y="2413000"/>
            <a:ext cx="368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梳理系统的核心架构分层，解析设计思路与整体技术选型，为后续模块实现奠定基础。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86500" y="1778000"/>
            <a:ext cx="5270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286500" y="1778000"/>
            <a:ext cx="76200" cy="13335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540500" y="1905000"/>
            <a:ext cx="63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7C160">
                    <a:alpha val="4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5350892">
            <a:off x="6985000" y="2406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7620000" y="19050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核心技术实现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0" y="2413000"/>
            <a:ext cx="368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深入剖析配置管理体系、安全Token验证机制，以及高效灵活的消息分发与处理策略。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3365500"/>
            <a:ext cx="5270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3365500"/>
            <a:ext cx="76200" cy="13335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016000" y="3492500"/>
            <a:ext cx="63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7C160">
                    <a:alpha val="4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5350892">
            <a:off x="1460500" y="39941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2095500" y="34925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通知类型与调用链路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2095500" y="4000500"/>
            <a:ext cx="368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定义系统支持的各类通知类型，梳理从触发到触达的端到端完整调用流程与节点交互。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86500" y="3365500"/>
            <a:ext cx="5270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286500" y="3365500"/>
            <a:ext cx="76200" cy="13335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540500" y="3492500"/>
            <a:ext cx="63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7C160">
                    <a:alpha val="4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5350892">
            <a:off x="6985000" y="39941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7620000" y="34925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通知场景全景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620000" y="4000500"/>
            <a:ext cx="368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全景展示系统覆盖的核心业务通知场景，涵盖不同业务线、不同用户角色的消息触达需求。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2000" y="4953000"/>
            <a:ext cx="5270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762000" y="4953000"/>
            <a:ext cx="76200" cy="13335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1016000" y="5080000"/>
            <a:ext cx="63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7C160">
                    <a:alpha val="4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cxnSp>
        <p:nvCxnSpPr>
          <p:cNvPr id="31" name="Connector 31"/>
          <p:cNvCxnSpPr/>
          <p:nvPr/>
        </p:nvCxnSpPr>
        <p:spPr>
          <a:xfrm rot="5350892">
            <a:off x="1460500" y="5581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AutoShape 32"/>
          <p:cNvSpPr/>
          <p:nvPr/>
        </p:nvSpPr>
        <p:spPr>
          <a:xfrm>
            <a:off x="2095500" y="50800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可靠性设计与群发机制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2095500" y="5588000"/>
            <a:ext cx="368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详解异常错误处理方案、消息可靠性保障机制，以及面向角色与群体的高效群发策略。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286500" y="4953000"/>
            <a:ext cx="5270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6286500" y="4953000"/>
            <a:ext cx="76200" cy="13335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6540500" y="5080000"/>
            <a:ext cx="63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7C160">
                    <a:alpha val="4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cxnSp>
        <p:nvCxnSpPr>
          <p:cNvPr id="37" name="Connector 37"/>
          <p:cNvCxnSpPr/>
          <p:nvPr/>
        </p:nvCxnSpPr>
        <p:spPr>
          <a:xfrm rot="5350892">
            <a:off x="6985000" y="5581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" name="AutoShape 38"/>
          <p:cNvSpPr/>
          <p:nvPr/>
        </p:nvSpPr>
        <p:spPr>
          <a:xfrm>
            <a:off x="7620000" y="50800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7620000" y="5588000"/>
            <a:ext cx="368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回顾系统设计的核心亮点与关键原则，梳理当前成果，并对未来的优化方向进行展望。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系统架构概览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7C16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334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76200" cy="13335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9500" y="2032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87500" y="20066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双通道通知：可靠触达的双重保障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167">
            <a:off x="1079508" y="2533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79500" y="2667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结合数据库持久化的站内通知与企业微信API推送，构建“本地+云端”双重通道，确保关键业务消息100%即时触达用户终端。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556000"/>
            <a:ext cx="5334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62000" y="3556000"/>
            <a:ext cx="76200" cy="1333500"/>
          </a:xfrm>
          <a:prstGeom prst="roundRect">
            <a:avLst>
              <a:gd name="adj" fmla="val 0"/>
            </a:avLst>
          </a:prstGeom>
          <a:solidFill>
            <a:srgbClr val="07C16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9500" y="36830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87500" y="36576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解耦设计：隔离核心与非核心链路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167">
            <a:off x="1079508" y="4184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1079500" y="4318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将微信推送作为异步非核心业务剥离，采用事件驱动模式处理。即使推送服务异常，也不会阻塞请假、调课等主业务流程的正常执行。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143500"/>
            <a:ext cx="5334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5143500"/>
            <a:ext cx="76200" cy="1333500"/>
          </a:xfrm>
          <a:prstGeom prst="roundRect">
            <a:avLst>
              <a:gd name="adj" fmla="val 0"/>
            </a:avLst>
          </a:prstGeom>
          <a:solidFill>
            <a:srgbClr val="07C16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9500" y="52705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587500" y="52451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中转策略：统一网关简化认证管理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9167">
            <a:off x="1079508" y="5772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1079500" y="5842000"/>
            <a:ext cx="482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通过校讯推平台作为统一中转网关，集中处理企业微信的鉴权与API调用逻辑，避免业务系统重复对接，降低维护成本与安全风险。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5390450">
            <a:off x="4191000" y="4184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731000" y="2032000"/>
            <a:ext cx="23495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7C16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58000" y="21590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239000" y="2133600"/>
            <a:ext cx="1714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业务系统层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858000" y="2667000"/>
            <a:ext cx="209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请假、出差、调课等核心业务触发通知事件，同步写入数据库日志。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271000" y="2032000"/>
            <a:ext cx="23495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7C16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98000" y="21590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9779000" y="2133600"/>
            <a:ext cx="1714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通知服务层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398000" y="2667000"/>
            <a:ext cx="209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WeChatNotify Service 异步接管推送任务，实现业务与通知逻辑的彻底解耦。</a:t>
            </a:r>
            <a:endParaRPr lang="en-US" sz="1100"/>
          </a:p>
        </p:txBody>
      </p:sp>
      <p:cxnSp>
        <p:nvCxnSpPr>
          <p:cNvPr id="31" name="Connector 31"/>
          <p:cNvCxnSpPr/>
          <p:nvPr/>
        </p:nvCxnSpPr>
        <p:spPr>
          <a:xfrm rot="5285450">
            <a:off x="7708900" y="3486256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7C160">
                <a:alpha val="5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cxnSp>
        <p:nvCxnSpPr>
          <p:cNvPr id="32" name="Connector 32"/>
          <p:cNvCxnSpPr/>
          <p:nvPr/>
        </p:nvCxnSpPr>
        <p:spPr>
          <a:xfrm rot="5285450">
            <a:off x="10248900" y="3486256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7C160">
                <a:alpha val="5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33" name="AutoShape 33"/>
          <p:cNvSpPr/>
          <p:nvPr/>
        </p:nvSpPr>
        <p:spPr>
          <a:xfrm>
            <a:off x="6731000" y="3810000"/>
            <a:ext cx="4889500" cy="1079500"/>
          </a:xfrm>
          <a:prstGeom prst="roundRect">
            <a:avLst>
              <a:gd name="adj" fmla="val 0"/>
            </a:avLst>
          </a:prstGeom>
          <a:solidFill>
            <a:srgbClr val="07C160">
              <a:alpha val="8000"/>
            </a:srgbClr>
          </a:solidFill>
          <a:ln w="12700" cap="flat" cmpd="sng">
            <a:solidFill>
              <a:srgbClr val="07C16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858000" y="3937000"/>
            <a:ext cx="355600" cy="3556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7366000" y="3937000"/>
            <a:ext cx="4000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统一中转网关：校讯推平台 (xxt.zjnu.edu.cn)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6858000" y="4445000"/>
            <a:ext cx="463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集中处理企业微信的AccessToken管理与接口调用，标准化请求参数，统一日志监控与异常重试机制。</a:t>
            </a:r>
            <a:endParaRPr lang="en-US" sz="1100"/>
          </a:p>
        </p:txBody>
      </p:sp>
      <p:cxnSp>
        <p:nvCxnSpPr>
          <p:cNvPr id="37" name="Connector 37"/>
          <p:cNvCxnSpPr/>
          <p:nvPr/>
        </p:nvCxnSpPr>
        <p:spPr>
          <a:xfrm rot="5262563">
            <a:off x="9010650" y="5232527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7C160">
                <a:alpha val="5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38" name="AutoShape 38"/>
          <p:cNvSpPr/>
          <p:nvPr/>
        </p:nvSpPr>
        <p:spPr>
          <a:xfrm>
            <a:off x="6731000" y="5461000"/>
            <a:ext cx="48895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7C16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9" name="Picture 3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858000" y="5613400"/>
            <a:ext cx="355600" cy="355600"/>
          </a:xfrm>
          <a:prstGeom prst="rect">
            <a:avLst/>
          </a:prstGeom>
        </p:spPr>
      </p:pic>
      <p:sp>
        <p:nvSpPr>
          <p:cNvPr id="40" name="AutoShape 40"/>
          <p:cNvSpPr/>
          <p:nvPr/>
        </p:nvSpPr>
        <p:spPr>
          <a:xfrm>
            <a:off x="7366000" y="5588000"/>
            <a:ext cx="4000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终端触达：企业微信客户端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6858000" y="6032500"/>
            <a:ext cx="463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用户在企业微信端实时接收消息卡片，支持点击跳转查看详情，形成完整的闭环体验。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核心技术实现 - 配置与Token管理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2540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7C16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2540000" cy="508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1778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7526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功能总控配置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20221">
            <a:off x="952519" y="2279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889000" y="24130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配置项：</a:t>
            </a:r>
            <a:r>
              <a:rPr lang="en-US" sz="1300" b="1" i="0" u="none" strike="noStrike">
                <a:solidFill>
                  <a:srgbClr val="07C1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xxt.enabled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系统功能的全局开关，控制校讯推相关服务启停，适配多环境部署与维护需求。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67100" y="1524000"/>
            <a:ext cx="2540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7C16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467100" y="1524000"/>
            <a:ext cx="2540000" cy="508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00" y="1778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102100" y="17526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应用认证密钥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20221">
            <a:off x="3657619" y="2279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3594100" y="24130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配置项：</a:t>
            </a:r>
            <a:r>
              <a:rPr lang="en-US" sz="1300" b="1" i="0" u="none" strike="noStrike">
                <a:solidFill>
                  <a:srgbClr val="07C1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app-id / app-pwd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平台应用的唯一身份标识与鉴权密钥，保障接口调用的合法性与安全性校验。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172200" y="1524000"/>
            <a:ext cx="2540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7C16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172200" y="1524000"/>
            <a:ext cx="2540000" cy="508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62700" y="1778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807200" y="17526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核心接口配置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20221">
            <a:off x="6362719" y="2279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6299200" y="24130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配置项：</a:t>
            </a:r>
            <a:r>
              <a:rPr lang="en-US" sz="1300" b="1" i="0" u="none" strike="noStrike">
                <a:solidFill>
                  <a:srgbClr val="07C1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token / send / card-url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集中管理Token获取、消息发送及卡片生成接口地址，实现接口端点的统一维护与变更。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877300" y="1524000"/>
            <a:ext cx="2540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7C16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877300" y="1524000"/>
            <a:ext cx="2540000" cy="508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67800" y="17780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512300" y="17526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前端路由配置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20221">
            <a:off x="9067819" y="2279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9004300" y="24130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配置项：</a:t>
            </a:r>
            <a:r>
              <a:rPr lang="en-US" sz="1300" b="1" i="0" u="none" strike="noStrike">
                <a:solidFill>
                  <a:srgbClr val="07C1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xxt.frontend-url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配置前端业务根地址，支持在消息卡片中动态拼接业务路由，实现端到端的无缝链接跳转。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4092">
            <a:off x="762004" y="393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762000" y="4318000"/>
            <a:ext cx="5842000" cy="2032000"/>
          </a:xfrm>
          <a:prstGeom prst="roundRect">
            <a:avLst>
              <a:gd name="adj" fmla="val 0"/>
            </a:avLst>
          </a:prstGeom>
          <a:solidFill>
            <a:srgbClr val="07C160">
              <a:alpha val="5000"/>
            </a:srgbClr>
          </a:solidFill>
          <a:ln w="12700" cap="flat" cmpd="sng">
            <a:solidFill>
              <a:srgbClr val="07C160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952500" y="4572000"/>
            <a:ext cx="1397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7C16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1016000" y="4699000"/>
            <a:ext cx="127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请求发起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首次/后续业务请求</a:t>
            </a:r>
            <a:endParaRPr lang="en-US" sz="1100"/>
          </a:p>
        </p:txBody>
      </p:sp>
      <p:cxnSp>
        <p:nvCxnSpPr>
          <p:cNvPr id="31" name="Connector 31"/>
          <p:cNvCxnSpPr/>
          <p:nvPr/>
        </p:nvCxnSpPr>
        <p:spPr>
          <a:xfrm rot="-85925">
            <a:off x="2413079" y="4946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7C160">
                <a:alpha val="100000"/>
              </a:srgbClr>
            </a:solidFill>
            <a:prstDash val="solid"/>
            <a:round/>
            <a:headEnd type="none" w="med" len="med"/>
            <a:tailEnd type="arrow" w="sm" len="sm"/>
          </a:ln>
        </p:spPr>
      </p:cxnSp>
      <p:sp>
        <p:nvSpPr>
          <p:cNvPr id="32" name="AutoShape 32"/>
          <p:cNvSpPr/>
          <p:nvPr/>
        </p:nvSpPr>
        <p:spPr>
          <a:xfrm>
            <a:off x="2984500" y="4572000"/>
            <a:ext cx="1524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7C16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3048000" y="4699000"/>
            <a:ext cx="139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Token 管控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缓存检查/刷新获取</a:t>
            </a:r>
            <a:endParaRPr lang="en-US" sz="1100"/>
          </a:p>
        </p:txBody>
      </p:sp>
      <p:cxnSp>
        <p:nvCxnSpPr>
          <p:cNvPr id="34" name="Connector 34"/>
          <p:cNvCxnSpPr/>
          <p:nvPr/>
        </p:nvCxnSpPr>
        <p:spPr>
          <a:xfrm rot="-85925">
            <a:off x="4572079" y="4946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7C160">
                <a:alpha val="100000"/>
              </a:srgbClr>
            </a:solidFill>
            <a:prstDash val="solid"/>
            <a:round/>
            <a:headEnd type="none" w="med" len="med"/>
            <a:tailEnd type="arrow" w="sm" len="sm"/>
          </a:ln>
        </p:spPr>
      </p:cxnSp>
      <p:sp>
        <p:nvSpPr>
          <p:cNvPr id="35" name="AutoShape 35"/>
          <p:cNvSpPr/>
          <p:nvPr/>
        </p:nvSpPr>
        <p:spPr>
          <a:xfrm>
            <a:off x="5143500" y="4572000"/>
            <a:ext cx="13335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7C16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5207000" y="4699000"/>
            <a:ext cx="120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复用/存储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缓存Token与过期时间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952500" y="5588000"/>
            <a:ext cx="5461000" cy="571500"/>
          </a:xfrm>
          <a:prstGeom prst="roundRect">
            <a:avLst>
              <a:gd name="adj" fmla="val 0"/>
            </a:avLst>
          </a:prstGeom>
          <a:solidFill>
            <a:srgbClr val="07C16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1079500" y="56896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机制说明：优先检查本地缓存Token状态，未过期直接复用；若已过期或即将过期，则自动发起GET请求重新获取并更新缓存。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6985000" y="4318000"/>
            <a:ext cx="2222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7C16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75500" y="4508500"/>
            <a:ext cx="355600" cy="355600"/>
          </a:xfrm>
          <a:prstGeom prst="rect">
            <a:avLst/>
          </a:prstGeom>
        </p:spPr>
      </p:pic>
      <p:sp>
        <p:nvSpPr>
          <p:cNvPr id="41" name="AutoShape 41"/>
          <p:cNvSpPr/>
          <p:nvPr/>
        </p:nvSpPr>
        <p:spPr>
          <a:xfrm>
            <a:off x="7620000" y="4508500"/>
            <a:ext cx="146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智能时效管控</a:t>
            </a:r>
            <a:endParaRPr lang="en-US" sz="1100"/>
          </a:p>
        </p:txBody>
      </p:sp>
      <p:cxnSp>
        <p:nvCxnSpPr>
          <p:cNvPr id="42" name="Connector 42"/>
          <p:cNvCxnSpPr/>
          <p:nvPr/>
        </p:nvCxnSpPr>
        <p:spPr>
          <a:xfrm rot="-23708">
            <a:off x="7175522" y="5073650"/>
            <a:ext cx="184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" name="AutoShape 43"/>
          <p:cNvSpPr/>
          <p:nvPr/>
        </p:nvSpPr>
        <p:spPr>
          <a:xfrm>
            <a:off x="7112000" y="5207000"/>
            <a:ext cx="1968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Token有效期7200秒，系统配置提前5分钟自动刷新，避免因Token过期导致业务请求失败，保障服务稳定性。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9398000" y="4318000"/>
            <a:ext cx="2222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7C16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5" name="Picture 4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588500" y="4508500"/>
            <a:ext cx="355600" cy="355600"/>
          </a:xfrm>
          <a:prstGeom prst="rect">
            <a:avLst/>
          </a:prstGeom>
        </p:spPr>
      </p:pic>
      <p:sp>
        <p:nvSpPr>
          <p:cNvPr id="46" name="AutoShape 46"/>
          <p:cNvSpPr/>
          <p:nvPr/>
        </p:nvSpPr>
        <p:spPr>
          <a:xfrm>
            <a:off x="9969500" y="4508500"/>
            <a:ext cx="146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并发安全防护</a:t>
            </a:r>
            <a:endParaRPr lang="en-US" sz="1100"/>
          </a:p>
        </p:txBody>
      </p:sp>
      <p:cxnSp>
        <p:nvCxnSpPr>
          <p:cNvPr id="47" name="Connector 47"/>
          <p:cNvCxnSpPr/>
          <p:nvPr/>
        </p:nvCxnSpPr>
        <p:spPr>
          <a:xfrm rot="-23708">
            <a:off x="9588522" y="5073650"/>
            <a:ext cx="184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" name="AutoShape 48"/>
          <p:cNvSpPr/>
          <p:nvPr/>
        </p:nvSpPr>
        <p:spPr>
          <a:xfrm>
            <a:off x="9525000" y="5207000"/>
            <a:ext cx="1968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</a:t>
            </a:r>
            <a:r>
              <a:rPr lang="en-US" sz="13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synchronized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同步锁机制，防止高并发场景下重复获取Token，减少无效请求，提升接口调用效率。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核心技术实现 - 消息类型与发送策略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7C16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7C1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两种消息类型对比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76200" cy="1714500"/>
          </a:xfrm>
          <a:prstGeom prst="roundRect">
            <a:avLst>
              <a:gd name="adj" fmla="val 0"/>
            </a:avLst>
          </a:prstGeom>
          <a:solidFill>
            <a:srgbClr val="07C16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65200" y="2540000"/>
            <a:ext cx="3048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纯文本消息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接口格式为POST (form表单)，接收人需传JSON数组。适用于无跳转链接的简单通知场景，传输轻量、送达稳定。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4445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4445000"/>
            <a:ext cx="76200" cy="17145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965200" y="4572000"/>
            <a:ext cx="3048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卡片消息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接口格式为POST (JSON)，接收人工号竖线分隔。支持配置按钮与跳转链接，适合需引导用户进入系统页面操作的复杂通知。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1" name="Connector 11"/>
          <p:cNvCxnSpPr/>
          <p:nvPr/>
        </p:nvCxnSpPr>
        <p:spPr>
          <a:xfrm rot="5389889">
            <a:off x="2349500" y="4184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4699000" y="17780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7C1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智能消息选择策略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2667000"/>
            <a:ext cx="3429000" cy="3492500"/>
          </a:xfrm>
          <a:prstGeom prst="roundRect">
            <a:avLst>
              <a:gd name="adj" fmla="val 0"/>
            </a:avLst>
          </a:prstGeom>
          <a:solidFill>
            <a:srgbClr val="07C160">
              <a:alpha val="5000"/>
            </a:srgbClr>
          </a:solidFill>
          <a:ln w="12700" cap="flat" cmpd="sng">
            <a:solidFill>
              <a:srgbClr val="07C16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889500" y="2921000"/>
            <a:ext cx="3048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16500" y="3111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588000" y="3022600"/>
            <a:ext cx="2286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核心判断：URL有效性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系统自动校验是否能构建有效的业务跳转链接，作为消息类型选择的依据。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4889500" y="4191000"/>
            <a:ext cx="14605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78400" y="4318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5334000" y="4292600"/>
            <a:ext cx="95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有有效URL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发送卡片消息，配置跳转按钮，提升用户操作体验。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477000" y="4191000"/>
            <a:ext cx="14605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65900" y="43180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921500" y="4292600"/>
            <a:ext cx="95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无有效URL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发送纯文本消息，确保通知内容简洁、高效触达。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3" name="Connector 23"/>
          <p:cNvCxnSpPr/>
          <p:nvPr/>
        </p:nvCxnSpPr>
        <p:spPr>
          <a:xfrm rot="5389889">
            <a:off x="6159500" y="4184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8509000" y="17780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7C1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/ 场景化按钮文案规则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509000" y="2540000"/>
            <a:ext cx="3429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8509000" y="2540000"/>
            <a:ext cx="3429000" cy="38100"/>
          </a:xfrm>
          <a:prstGeom prst="roundRect">
            <a:avLst>
              <a:gd name="adj" fmla="val 0"/>
            </a:avLst>
          </a:prstGeom>
          <a:solidFill>
            <a:srgbClr val="07C16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636000" y="2730500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关键词：待审批 / 审核提醒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匹配按钮文案为“去审批”或“去审核”，引导用户快速进入审批流程，减少操作路径。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8509000" y="3873500"/>
            <a:ext cx="3429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8509000" y="3873500"/>
            <a:ext cx="3429000" cy="38100"/>
          </a:xfrm>
          <a:prstGeom prst="roundRect">
            <a:avLst>
              <a:gd name="adj" fmla="val 0"/>
            </a:avLst>
          </a:prstGeom>
          <a:solidFill>
            <a:srgbClr val="07C16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8636000" y="4064000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关键词：总结已提交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匹配按钮文案为“去审核”，明确下一步操作动作，让通知更具指令性和场景感。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8509000" y="5207000"/>
            <a:ext cx="3429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8509000" y="5207000"/>
            <a:ext cx="3429000" cy="38100"/>
          </a:xfrm>
          <a:prstGeom prst="roundRect">
            <a:avLst>
              <a:gd name="adj" fmla="val 0"/>
            </a:avLst>
          </a:prstGeom>
          <a:solidFill>
            <a:srgbClr val="07C16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8636000" y="5397500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关键词：抄送 / 其他通用场景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统一使用“查看详情”作为兜底按钮文案，适用于无明确操作指令的通知类消息。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通知类型与调用链路 - 通知类型定义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7C16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429000" cy="762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349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311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7C1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APPROVAL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946">
            <a:off x="1016014" y="3041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302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审批通知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9370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涉及审批动作的核心通知，如请假、出差、调课申请等场景。此类通知强交互性，需要接收者进行同意、驳回等后续操作。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81500" y="2032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381500" y="2032000"/>
            <a:ext cx="3429000" cy="762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5500" y="2349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143500" y="2311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7C1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SYSTEM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4946">
            <a:off x="4635514" y="3041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635500" y="3302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系统通知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635500" y="39370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由院办、考勤老师等系统角色发出，或系统状态自动变更触发的通知。用于系统级广播、重要公告及流程节点的状态同步告知。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001000" y="2032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001000" y="2032000"/>
            <a:ext cx="3429000" cy="762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0" y="23495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763000" y="2311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7C1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CC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4946">
            <a:off x="8255014" y="3041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8255000" y="3302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抄送通知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255000" y="39370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纯信息同步类通知，不要求接收者执行操作。技术上URL会携带`from=cc`参数，支持前端进行差异化的视觉展示与交互弱化。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62000" y="5715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07C16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1016000" y="584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通过三类通知的标准化定义，实现了通知场景的全覆盖与精细化管控，既保障了核心审批流程的闭环，也兼顾了系统广播与信息同步的效率。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通知类型与调用链路 - 调用链路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2921000"/>
          </a:xfrm>
          <a:prstGeom prst="roundRect">
            <a:avLst>
              <a:gd name="adj" fmla="val 0"/>
            </a:avLst>
          </a:prstGeom>
          <a:solidFill>
            <a:srgbClr val="07C160">
              <a:alpha val="5000"/>
            </a:srgbClr>
          </a:solidFill>
          <a:ln cap="flat" cmpd="sng">
            <a:solidFill>
              <a:srgbClr val="00A85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2413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7C16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6500" y="19685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1930400"/>
            <a:ext cx="1651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请求接入层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21485">
            <a:off x="1206520" y="25336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143000" y="27305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用户在前端完成请假、差旅等业务操作，请求经由Controller层统一接收与分发，进入业务处理流程。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14549">
            <a:off x="3556106" y="2914650"/>
            <a:ext cx="381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7C160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10" name="AutoShape 10"/>
          <p:cNvSpPr/>
          <p:nvPr/>
        </p:nvSpPr>
        <p:spPr>
          <a:xfrm>
            <a:off x="4064000" y="1778000"/>
            <a:ext cx="2413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7C16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54500" y="19685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699000" y="1930400"/>
            <a:ext cx="1651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业务处理与落库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21485">
            <a:off x="4254520" y="25336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191000" y="27305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业务Service执行业务逻辑，首先将通知记录写入数据库，确保站内通知的持久化存储，保障消息可追溯。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14549">
            <a:off x="6604106" y="2914650"/>
            <a:ext cx="381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7C160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16" name="AutoShape 16"/>
          <p:cNvSpPr/>
          <p:nvPr/>
        </p:nvSpPr>
        <p:spPr>
          <a:xfrm>
            <a:off x="7112000" y="1778000"/>
            <a:ext cx="2413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7C16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02500" y="19685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747000" y="1930400"/>
            <a:ext cx="1651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分发与策略判断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21485">
            <a:off x="7302520" y="25336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7239000" y="27305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调用微信通知服务，动态构建跳转URL与按钮文案，智能判断URL有效性，选择最优的消息发送策略。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71744">
            <a:off x="9652159" y="2914650"/>
            <a:ext cx="25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7C160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22" name="AutoShape 22"/>
          <p:cNvSpPr/>
          <p:nvPr/>
        </p:nvSpPr>
        <p:spPr>
          <a:xfrm>
            <a:off x="10033000" y="1778000"/>
            <a:ext cx="1397000" cy="2286000"/>
          </a:xfrm>
          <a:prstGeom prst="roundRect">
            <a:avLst>
              <a:gd name="adj" fmla="val 0"/>
            </a:avLst>
          </a:prstGeom>
          <a:solidFill>
            <a:srgbClr val="07C160">
              <a:alpha val="10000"/>
            </a:srgbClr>
          </a:solidFill>
          <a:ln w="12700" cap="flat" cmpd="sng">
            <a:solidFill>
              <a:srgbClr val="07C16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23500" y="1968500"/>
            <a:ext cx="355600" cy="3556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0160000" y="2476500"/>
            <a:ext cx="1143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消息触达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卡片/文本消息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推送至企业微信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4092">
            <a:off x="762004" y="4819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762000" y="5207000"/>
            <a:ext cx="3429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762000" y="5207000"/>
            <a:ext cx="50800" cy="11430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2500" y="53975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1397000" y="53594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WeChatNotifyService.java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通知发送核心服务类，封装企业微信接口调用、Token管理及消息分发逻辑。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4381500" y="5207000"/>
            <a:ext cx="3429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4381500" y="5207000"/>
            <a:ext cx="50800" cy="11430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72000" y="5397500"/>
            <a:ext cx="304800" cy="3048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5016500" y="53594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 Service (Leave/Travel)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各业务模块的触发源，在完成业务逻辑后调用通知服务，实现业务与通知解耦。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8001000" y="5207000"/>
            <a:ext cx="3429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8001000" y="5207000"/>
            <a:ext cx="50800" cy="11430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91500" y="5397500"/>
            <a:ext cx="304800" cy="3048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8636000" y="53594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Notification.java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通知实体类，统一封装消息标题、内容、接收人及业务关联ID，规范数据结构。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通知场景全景 (1/2)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7C16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7C1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核心业务全流程覆盖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76200" cy="17145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6035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603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请假流程：闭环式节点触发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9291">
            <a:off x="1016009" y="3168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3302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从提交申请到最终销假，全链路打通学生、审批人、教学老师及考勤管理员。每一步关键状态变更均自动触发定向通知，确保信息同步无延迟。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5085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762000" y="4508500"/>
            <a:ext cx="76200" cy="1714500"/>
          </a:xfrm>
          <a:prstGeom prst="roundRect">
            <a:avLst>
              <a:gd name="adj" fmla="val 0"/>
            </a:avLst>
          </a:prstGeom>
          <a:solidFill>
            <a:srgbClr val="07C16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6990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24000" y="4699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出差流程：多角色复杂协同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9291">
            <a:off x="1016009" y="526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1016000" y="53975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覆盖多级审批、行程调整、工作总结与费用报销等复杂环节。针对不同节点（如审批、调课、财务）推送定制化消息，串联校内多部门高效协作。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5390450">
            <a:off x="4064000" y="4057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604000" y="1651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7C1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关键节点通知场景示例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604000" y="2413000"/>
            <a:ext cx="4826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604000" y="2413000"/>
            <a:ext cx="50800" cy="1206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794500" y="25400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请假提交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9822">
            <a:off x="6794509" y="29781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794500" y="31115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面向审批人发送“请假申请待审批”卡片，包含事由与时长，直接嵌入“去审批”操作按钮，缩短处理路径。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604000" y="3810000"/>
            <a:ext cx="4826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604000" y="3810000"/>
            <a:ext cx="50800" cy="12065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794500" y="39370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调课审核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9822">
            <a:off x="6794509" y="43751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6794500" y="45085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自动触达教学老师推送“调课审核提醒”，附带调课时间与替代方案，支持老师一键审核或回复建议，保障教学秩序。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604000" y="5207000"/>
            <a:ext cx="4826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604000" y="5207000"/>
            <a:ext cx="50800" cy="1206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6794500" y="53340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结果同步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-9822">
            <a:off x="6794509" y="57721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6794500" y="58420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向院办与考勤老师同步“流程办结通知”，自动更新考勤系统数据，同时告知学生最终审批结果，实现信息对称。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通知场景全景 (2/2)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508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762000" y="1905000"/>
          <a:ext cx="10668000" cy="4724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70000"/>
                <a:gridCol w="3556000"/>
                <a:gridCol w="2921000"/>
                <a:gridCol w="2921000"/>
              </a:tblGrid>
              <a:tr h="762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序号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7C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C160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业务流程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7C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C160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通知对象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7C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C160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通知类型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7C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C160">
                        <a:alpha val="10000"/>
                      </a:srgbClr>
                    </a:solidFill>
                  </a:tcPr>
                </a:tc>
              </a:tr>
              <a:tr h="660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7C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请假/出差提交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7C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审批人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7C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7C16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APPROVAL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7C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60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02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审批驳回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申请人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7C16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APPROVAL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60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调课审核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教学老师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7C16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APPROVAL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60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04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审批通过（流程归档）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院办 / 考勤老师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3B82F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SYSTEM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60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审批通过（信息同步）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抄送人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59E0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CC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60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06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销假确认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所有审批人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3B82F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SYSTEM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AutoShape 5"/>
          <p:cNvSpPr/>
          <p:nvPr/>
        </p:nvSpPr>
        <p:spPr>
          <a:xfrm>
            <a:off x="762000" y="5969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07C16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6096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5969000"/>
            <a:ext cx="990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通过分层级、分角色的通知体系设计，确保审批全流程信息在申请人、审批人及系统角色间高效流转，避免关键节点遗漏，保障业务闭环完整性。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可靠性设计与群发机制 - 错误处理与可靠性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0800" cy="3048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939800" y="14986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多层防护机制：全链路异常拦截与容错处理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24765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159000"/>
            <a:ext cx="2476500" cy="508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349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33500" y="23114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请求准入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20834">
            <a:off x="952519" y="2851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889000" y="29845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请求进入系统网关，统一拦截非法请求与超限流量，确保入口合规，过滤无效负载。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492500" y="2159000"/>
            <a:ext cx="24765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3492500" y="2159000"/>
            <a:ext cx="2476500" cy="50800"/>
          </a:xfrm>
          <a:prstGeom prst="roundRect">
            <a:avLst>
              <a:gd name="adj" fmla="val 0"/>
            </a:avLst>
          </a:prstGeom>
          <a:solidFill>
            <a:srgbClr val="07C16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3000" y="2349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064000" y="23114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基础核验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20834">
            <a:off x="3683019" y="2851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3619500" y="29845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检查功能开关状态，未启用则直接返回；校验用户工号有效性，无效则记录警告并跳过处理。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2159000"/>
            <a:ext cx="24765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223000" y="2159000"/>
            <a:ext cx="2476500" cy="50800"/>
          </a:xfrm>
          <a:prstGeom prst="roundRect">
            <a:avLst>
              <a:gd name="adj" fmla="val 0"/>
            </a:avLst>
          </a:prstGeom>
          <a:solidFill>
            <a:srgbClr val="07C16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3500" y="23495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794500" y="23114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鉴权保障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20834">
            <a:off x="6413519" y="2851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350000" y="29845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尝试获取调用凭证Token，若获取失败则记录系统错误日志，直接跳过该批次推送，避免阻塞。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953500" y="2159000"/>
            <a:ext cx="24765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8953500" y="2159000"/>
            <a:ext cx="2476500" cy="50800"/>
          </a:xfrm>
          <a:prstGeom prst="roundRect">
            <a:avLst>
              <a:gd name="adj" fmla="val 0"/>
            </a:avLst>
          </a:prstGeom>
          <a:solidFill>
            <a:srgbClr val="07C16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44000" y="23495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9525000" y="23114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执行与兜底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20834">
            <a:off x="9144019" y="2851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9080500" y="29845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执行HTTP API调用，捕获所有异常并记录详细日志；调用成功则完成，失败则纳入补偿重试队列。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-4092">
            <a:off x="762004" y="4375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/>
        </p:nvSpPr>
        <p:spPr>
          <a:xfrm>
            <a:off x="762000" y="4699000"/>
            <a:ext cx="3556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762000" y="4699000"/>
            <a:ext cx="76200" cy="16510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4889500"/>
            <a:ext cx="355600" cy="3556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1460500" y="4851400"/>
            <a:ext cx="273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站内通知：强一致性保障</a:t>
            </a:r>
            <a:endParaRPr lang="en-US" sz="1100"/>
          </a:p>
        </p:txBody>
      </p:sp>
      <p:cxnSp>
        <p:nvCxnSpPr>
          <p:cNvPr id="34" name="Connector 34"/>
          <p:cNvCxnSpPr/>
          <p:nvPr/>
        </p:nvCxnSpPr>
        <p:spPr>
          <a:xfrm rot="-14323">
            <a:off x="1016013" y="5391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" name="AutoShape 35"/>
          <p:cNvSpPr/>
          <p:nvPr/>
        </p:nvSpPr>
        <p:spPr>
          <a:xfrm>
            <a:off x="1016000" y="5524500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采用数据库事务写入机制，确保核心通知数据落地可靠；写入失败则触发事务回滚，保障数据零丢失。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4572000" y="4699000"/>
            <a:ext cx="3556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4572000" y="4699000"/>
            <a:ext cx="76200" cy="16510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26000" y="4889500"/>
            <a:ext cx="355600" cy="355600"/>
          </a:xfrm>
          <a:prstGeom prst="rect">
            <a:avLst/>
          </a:prstGeom>
        </p:spPr>
      </p:pic>
      <p:sp>
        <p:nvSpPr>
          <p:cNvPr id="39" name="AutoShape 39"/>
          <p:cNvSpPr/>
          <p:nvPr/>
        </p:nvSpPr>
        <p:spPr>
          <a:xfrm>
            <a:off x="5270500" y="4851400"/>
            <a:ext cx="273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企微推送：尽力而为策略</a:t>
            </a:r>
            <a:endParaRPr lang="en-US" sz="1100"/>
          </a:p>
        </p:txBody>
      </p:sp>
      <p:cxnSp>
        <p:nvCxnSpPr>
          <p:cNvPr id="40" name="Connector 40"/>
          <p:cNvCxnSpPr/>
          <p:nvPr/>
        </p:nvCxnSpPr>
        <p:spPr>
          <a:xfrm rot="-14323">
            <a:off x="4826013" y="5391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" name="AutoShape 41"/>
          <p:cNvSpPr/>
          <p:nvPr/>
        </p:nvSpPr>
        <p:spPr>
          <a:xfrm>
            <a:off x="4826000" y="5524500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依赖外部API调用，网络抖动或服务不可用属常态；调用失败不影响主流程，通过异步重试机制做最终补偿。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8382000" y="4699000"/>
            <a:ext cx="3556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3" name="AutoShape 43"/>
          <p:cNvSpPr/>
          <p:nvPr/>
        </p:nvSpPr>
        <p:spPr>
          <a:xfrm>
            <a:off x="8382000" y="4699000"/>
            <a:ext cx="76200" cy="1651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4" name="Picture 44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636000" y="4889500"/>
            <a:ext cx="355600" cy="355600"/>
          </a:xfrm>
          <a:prstGeom prst="rect">
            <a:avLst/>
          </a:prstGeom>
        </p:spPr>
      </p:pic>
      <p:sp>
        <p:nvSpPr>
          <p:cNvPr id="45" name="AutoShape 45"/>
          <p:cNvSpPr/>
          <p:nvPr/>
        </p:nvSpPr>
        <p:spPr>
          <a:xfrm>
            <a:off x="9080500" y="4851400"/>
            <a:ext cx="273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核心流程：解耦与高可用</a:t>
            </a:r>
            <a:endParaRPr lang="en-US" sz="1100"/>
          </a:p>
        </p:txBody>
      </p:sp>
      <p:cxnSp>
        <p:nvCxnSpPr>
          <p:cNvPr id="46" name="Connector 46"/>
          <p:cNvCxnSpPr/>
          <p:nvPr/>
        </p:nvCxnSpPr>
        <p:spPr>
          <a:xfrm rot="-14323">
            <a:off x="8636013" y="5391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" name="AutoShape 47"/>
          <p:cNvSpPr/>
          <p:nvPr/>
        </p:nvSpPr>
        <p:spPr>
          <a:xfrm>
            <a:off x="8636000" y="5524500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通知模块作为业务附属流程，完全异步解耦；即使通知全链路失败，也绝对不回滚主业务交易，确保核心闭环。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可靠性设计与群发机制 - 按角色群发机制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7C16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62000" y="1778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7C1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自动化群发执行流程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540000"/>
            <a:ext cx="5080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540000"/>
            <a:ext cx="76200" cy="9525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7305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2641600"/>
            <a:ext cx="4000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角色检索：精准定位目标用户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基于预设的角色标识（如院办、考勤老师），在系统中查询并拉取所有匹配的用户列表，确保通知对象无遗漏。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3683000"/>
            <a:ext cx="5080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3683000"/>
            <a:ext cx="76200" cy="952500"/>
          </a:xfrm>
          <a:prstGeom prst="roundRect">
            <a:avLst>
              <a:gd name="adj" fmla="val 0"/>
            </a:avLst>
          </a:prstGeom>
          <a:solidFill>
            <a:srgbClr val="07C16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8735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651000" y="3784600"/>
            <a:ext cx="4000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站内留痕：写入通知日志记录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为检索到的每个用户逐条写入站内通知记录，留存完整的操作日志，作为后续消息送达与追溯的可靠凭证。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080000"/>
            <a:ext cx="5080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62000" y="5080000"/>
            <a:ext cx="76200" cy="952500"/>
          </a:xfrm>
          <a:prstGeom prst="roundRect">
            <a:avLst>
              <a:gd name="adj" fmla="val 0"/>
            </a:avLst>
          </a:prstGeom>
          <a:solidFill>
            <a:srgbClr val="07C16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27050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651000" y="5181600"/>
            <a:ext cx="4000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批量触达：聚合ID调用API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清洗并聚合用户唯一ID，调用企业微信批量通知接口，将消息一次性推送给所有目标用户，提升发送效率与稳定性。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7" name="Connector 17"/>
          <p:cNvCxnSpPr/>
          <p:nvPr/>
        </p:nvCxnSpPr>
        <p:spPr>
          <a:xfrm rot="5389257">
            <a:off x="4191000" y="405766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477000" y="1778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7C1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核心群发角色与应用场景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2540000"/>
            <a:ext cx="2476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7C16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477000" y="2540000"/>
            <a:ext cx="2476500" cy="508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604000" y="2730500"/>
            <a:ext cx="2222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院办行政角色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07C1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标识：yuanban_office</a:t>
            </a:r>
            <a:endParaRPr lang="en-US" sz="1100" b="0" i="0" u="none" strike="noStrike">
              <a:solidFill>
                <a:srgbClr val="07C16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覆盖负责行政统筹与事务审批的核心部门成员。主要用于审批通过确认、调课流程完成后的同步通知场景。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9080500" y="2540000"/>
            <a:ext cx="2476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7C16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9080500" y="2540000"/>
            <a:ext cx="2476500" cy="50800"/>
          </a:xfrm>
          <a:prstGeom prst="roundRect">
            <a:avLst>
              <a:gd name="adj" fmla="val 0"/>
            </a:avLst>
          </a:prstGeom>
          <a:solidFill>
            <a:srgbClr val="07C16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9207500" y="2730500"/>
            <a:ext cx="2222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考勤管理角色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07C1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标识：kaoqin_teacher</a:t>
            </a:r>
            <a:endParaRPr lang="en-US" sz="1100" b="0" i="0" u="none" strike="noStrike">
              <a:solidFill>
                <a:srgbClr val="07C16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针对负责学生考勤、异常跟进的教师群体。用于审批通过反馈、调课完成后的考勤数据同步提醒。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477000" y="46990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7C16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477000" y="4699000"/>
            <a:ext cx="2476500" cy="50800"/>
          </a:xfrm>
          <a:prstGeom prst="roundRect">
            <a:avLst>
              <a:gd name="adj" fmla="val 0"/>
            </a:avLst>
          </a:prstGeom>
          <a:solidFill>
            <a:srgbClr val="07C16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604000" y="4826000"/>
            <a:ext cx="2222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全局通用抄送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07C1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标识：COURSE_ADJUST_CC_ALL</a:t>
            </a:r>
            <a:endParaRPr lang="en-US" sz="1100" b="0" i="0" u="none" strike="noStrike">
              <a:solidFill>
                <a:srgbClr val="07C16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系统预设的关键管理节点抄送人，覆盖所有审批流程通过后的统一告知，确保管理链路信息透明。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9080500" y="46990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7C16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9080500" y="4699000"/>
            <a:ext cx="2476500" cy="50800"/>
          </a:xfrm>
          <a:prstGeom prst="roundRect">
            <a:avLst>
              <a:gd name="adj" fmla="val 0"/>
            </a:avLst>
          </a:prstGeom>
          <a:solidFill>
            <a:srgbClr val="07C16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9207500" y="4826000"/>
            <a:ext cx="2222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授课教师角色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07C1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标识：under/post_teacher</a:t>
            </a:r>
            <a:endParaRPr lang="en-US" sz="1100" b="0" i="0" u="none" strike="noStrike">
              <a:solidFill>
                <a:srgbClr val="07C16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涵盖本科与研究生授课教师。专用于课程调整申请通过后的定向通知，保障教学环节信息同步及时。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总结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24765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2476500" cy="508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032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952500" y="26670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双通道通知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20834">
            <a:off x="952519" y="3232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3429000"/>
            <a:ext cx="209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兼顾系统内通知的可靠性与企业微信触达的及时性，确保消息不丢失、必送达。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92500" y="1778000"/>
            <a:ext cx="24765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492500" y="1778000"/>
            <a:ext cx="2476500" cy="508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3000" y="2032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683000" y="26670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灵活消息策略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20834">
            <a:off x="3683019" y="3232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3683000" y="3429000"/>
            <a:ext cx="209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支持文本与卡片消息自适应展示，按钮文案贴合业务场景，提升用户操作体验。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1778000"/>
            <a:ext cx="24765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223000" y="1778000"/>
            <a:ext cx="2476500" cy="508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3500" y="2032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413500" y="26670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高可用架构设计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20834">
            <a:off x="6413519" y="3232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6413500" y="3429000"/>
            <a:ext cx="209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通过失败解耦、多层防护机制保障系统稳定，完善并发控制确保接口调用安全。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953500" y="1778000"/>
            <a:ext cx="24765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953500" y="1778000"/>
            <a:ext cx="2476500" cy="508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44000" y="20320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144000" y="26670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业务场景全覆盖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20834">
            <a:off x="9144019" y="3232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9144000" y="3429000"/>
            <a:ext cx="209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覆盖请假、出差、调课等全流程业务通知，适配员工、审批人、管理员等多角色。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4092">
            <a:off x="762004" y="4692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7C16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762000" y="5080000"/>
            <a:ext cx="3467100" cy="1270000"/>
          </a:xfrm>
          <a:prstGeom prst="roundRect">
            <a:avLst>
              <a:gd name="adj" fmla="val 0"/>
            </a:avLst>
          </a:prstGeom>
          <a:solidFill>
            <a:srgbClr val="07C16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2500" y="5270500"/>
            <a:ext cx="355600" cy="3556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1460500" y="5232400"/>
            <a:ext cx="266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业务与通知解耦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952500" y="5715000"/>
            <a:ext cx="30861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核心业务流程与通知发送逻辑分离，通知服务故障不影响主业务流转，保障系统核心可用性。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4394200" y="5080000"/>
            <a:ext cx="3467100" cy="1270000"/>
          </a:xfrm>
          <a:prstGeom prst="roundRect">
            <a:avLst>
              <a:gd name="adj" fmla="val 0"/>
            </a:avLst>
          </a:prstGeom>
          <a:solidFill>
            <a:srgbClr val="07C16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84700" y="5270500"/>
            <a:ext cx="355600" cy="3556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5092700" y="5232400"/>
            <a:ext cx="266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外部调用“尽力而为”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4584700" y="5715000"/>
            <a:ext cx="30861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优先保障核心业务，外部接口调用允许失败，通过重试机制兜底，避免因外部依赖拖垮系统。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8026400" y="5080000"/>
            <a:ext cx="3467100" cy="1270000"/>
          </a:xfrm>
          <a:prstGeom prst="roundRect">
            <a:avLst>
              <a:gd name="adj" fmla="val 0"/>
            </a:avLst>
          </a:prstGeom>
          <a:solidFill>
            <a:srgbClr val="07C16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216900" y="5270500"/>
            <a:ext cx="355600" cy="355600"/>
          </a:xfrm>
          <a:prstGeom prst="rect">
            <a:avLst/>
          </a:prstGeom>
        </p:spPr>
      </p:pic>
      <p:sp>
        <p:nvSpPr>
          <p:cNvPr id="38" name="AutoShape 38"/>
          <p:cNvSpPr/>
          <p:nvPr/>
        </p:nvSpPr>
        <p:spPr>
          <a:xfrm>
            <a:off x="8724900" y="5232400"/>
            <a:ext cx="266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配置化与可扩展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8216900" y="5715000"/>
            <a:ext cx="30861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通知规则、模板与接收人配置化管理，支持新增业务场景快速接入，降低系统维护成本。</a:t>
            </a:r>
            <a:endParaRPr lang="en-US" sz="1100"/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owerpoint template design by DAJU_PPT正版来源小红书大橘PPT微信DAJU_PPT请勿抄袭搬运！盗版必究！"/>
          <p:cNvGrpSpPr/>
          <p:nvPr/>
        </p:nvGrpSpPr>
        <p:grpSpPr>
          <a:xfrm>
            <a:off x="0" y="5283200"/>
            <a:ext cx="12192188" cy="1574800"/>
            <a:chOff x="1" y="5283225"/>
            <a:chExt cx="12191999" cy="1574776"/>
          </a:xfrm>
        </p:grpSpPr>
        <p:sp>
          <p:nvSpPr>
            <p:cNvPr id="4" name="powerpoint template design by DAJU_PPT正版来源小红书大橘PPT微信DAJU_PPT请勿抄袭搬运！盗版必究！-1"/>
            <p:cNvSpPr/>
            <p:nvPr/>
          </p:nvSpPr>
          <p:spPr>
            <a:xfrm>
              <a:off x="1" y="5283225"/>
              <a:ext cx="12191999" cy="1574776"/>
            </a:xfrm>
            <a:custGeom>
              <a:avLst/>
              <a:gdLst>
                <a:gd name="connsiteX0" fmla="*/ 0 w 12191999"/>
                <a:gd name="connsiteY0" fmla="*/ 0 h 1574776"/>
                <a:gd name="connsiteX1" fmla="*/ 121527 w 12191999"/>
                <a:gd name="connsiteY1" fmla="*/ 105084 h 1574776"/>
                <a:gd name="connsiteX2" fmla="*/ 6096001 w 12191999"/>
                <a:gd name="connsiteY2" fmla="*/ 1545053 h 1574776"/>
                <a:gd name="connsiteX3" fmla="*/ 12070473 w 12191999"/>
                <a:gd name="connsiteY3" fmla="*/ 105085 h 1574776"/>
                <a:gd name="connsiteX4" fmla="*/ 12191999 w 12191999"/>
                <a:gd name="connsiteY4" fmla="*/ 1 h 1574776"/>
                <a:gd name="connsiteX5" fmla="*/ 12191999 w 12191999"/>
                <a:gd name="connsiteY5" fmla="*/ 1574776 h 1574776"/>
                <a:gd name="connsiteX6" fmla="*/ 0 w 12191999"/>
                <a:gd name="connsiteY6" fmla="*/ 1574776 h 1574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1574776">
                  <a:moveTo>
                    <a:pt x="0" y="0"/>
                  </a:moveTo>
                  <a:lnTo>
                    <a:pt x="121527" y="105084"/>
                  </a:lnTo>
                  <a:cubicBezTo>
                    <a:pt x="1232752" y="959961"/>
                    <a:pt x="3490973" y="1545053"/>
                    <a:pt x="6096001" y="1545053"/>
                  </a:cubicBezTo>
                  <a:cubicBezTo>
                    <a:pt x="8701028" y="1545053"/>
                    <a:pt x="10959248" y="959962"/>
                    <a:pt x="12070473" y="105085"/>
                  </a:cubicBezTo>
                  <a:lnTo>
                    <a:pt x="12191999" y="1"/>
                  </a:lnTo>
                  <a:lnTo>
                    <a:pt x="12191999" y="1574776"/>
                  </a:lnTo>
                  <a:lnTo>
                    <a:pt x="0" y="1574776"/>
                  </a:lnTo>
                  <a:close/>
                </a:path>
              </a:pathLst>
            </a:cu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  <p:sp>
          <p:nvSpPr>
            <p:cNvPr id="5" name="powerpoint template design by DAJU_PPT正版来源小红书大橘PPT微信DAJU_PPT请勿抄袭搬运！盗版必究！-2" hidden="1"/>
            <p:cNvSpPr/>
            <p:nvPr userDrawn="1"/>
          </p:nvSpPr>
          <p:spPr>
            <a:xfrm>
              <a:off x="1" y="5804166"/>
              <a:ext cx="12191999" cy="1053835"/>
            </a:xfrm>
            <a:custGeom>
              <a:avLst/>
              <a:gdLst>
                <a:gd name="connsiteX0" fmla="*/ 0 w 12191999"/>
                <a:gd name="connsiteY0" fmla="*/ 0 h 1053835"/>
                <a:gd name="connsiteX1" fmla="*/ 84912 w 12191999"/>
                <a:gd name="connsiteY1" fmla="*/ 44439 h 1053835"/>
                <a:gd name="connsiteX2" fmla="*/ 6096001 w 12191999"/>
                <a:gd name="connsiteY2" fmla="*/ 918960 h 1053835"/>
                <a:gd name="connsiteX3" fmla="*/ 12107089 w 12191999"/>
                <a:gd name="connsiteY3" fmla="*/ 44439 h 1053835"/>
                <a:gd name="connsiteX4" fmla="*/ 12191999 w 12191999"/>
                <a:gd name="connsiteY4" fmla="*/ 1 h 1053835"/>
                <a:gd name="connsiteX5" fmla="*/ 12191999 w 12191999"/>
                <a:gd name="connsiteY5" fmla="*/ 1053835 h 1053835"/>
                <a:gd name="connsiteX6" fmla="*/ 0 w 12191999"/>
                <a:gd name="connsiteY6" fmla="*/ 1053835 h 1053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1053835">
                  <a:moveTo>
                    <a:pt x="0" y="0"/>
                  </a:moveTo>
                  <a:lnTo>
                    <a:pt x="84912" y="44439"/>
                  </a:lnTo>
                  <a:cubicBezTo>
                    <a:pt x="1182612" y="562756"/>
                    <a:pt x="3462028" y="918960"/>
                    <a:pt x="6096001" y="918960"/>
                  </a:cubicBezTo>
                  <a:cubicBezTo>
                    <a:pt x="8729972" y="918960"/>
                    <a:pt x="11009388" y="562756"/>
                    <a:pt x="12107089" y="44439"/>
                  </a:cubicBezTo>
                  <a:lnTo>
                    <a:pt x="12191999" y="1"/>
                  </a:lnTo>
                  <a:lnTo>
                    <a:pt x="12191999" y="1053835"/>
                  </a:lnTo>
                  <a:lnTo>
                    <a:pt x="0" y="1053835"/>
                  </a:lnTo>
                  <a:close/>
                </a:path>
              </a:pathLst>
            </a:custGeom>
            <a:solidFill>
              <a:srgbClr val="FFFFFF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  <p:sp>
          <p:nvSpPr>
            <p:cNvPr id="8" name="powerpoint template design by DAJU_PPT正版来源小红书大橘PPT微信DAJU_PPT请勿抄袭搬运！盗版必究！-3"/>
            <p:cNvSpPr/>
            <p:nvPr userDrawn="1"/>
          </p:nvSpPr>
          <p:spPr>
            <a:xfrm>
              <a:off x="1" y="5826095"/>
              <a:ext cx="12191999" cy="1031906"/>
            </a:xfrm>
            <a:custGeom>
              <a:avLst/>
              <a:gdLst>
                <a:gd name="connsiteX0" fmla="*/ 0 w 12191999"/>
                <a:gd name="connsiteY0" fmla="*/ 0 h 1031906"/>
                <a:gd name="connsiteX1" fmla="*/ 97612 w 12191999"/>
                <a:gd name="connsiteY1" fmla="*/ 51085 h 1031906"/>
                <a:gd name="connsiteX2" fmla="*/ 6108700 w 12191999"/>
                <a:gd name="connsiteY2" fmla="*/ 925606 h 1031906"/>
                <a:gd name="connsiteX3" fmla="*/ 12119789 w 12191999"/>
                <a:gd name="connsiteY3" fmla="*/ 51085 h 1031906"/>
                <a:gd name="connsiteX4" fmla="*/ 12191999 w 12191999"/>
                <a:gd name="connsiteY4" fmla="*/ 13293 h 1031906"/>
                <a:gd name="connsiteX5" fmla="*/ 12191999 w 12191999"/>
                <a:gd name="connsiteY5" fmla="*/ 1031906 h 1031906"/>
                <a:gd name="connsiteX6" fmla="*/ 0 w 12191999"/>
                <a:gd name="connsiteY6" fmla="*/ 1031906 h 1031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1031906">
                  <a:moveTo>
                    <a:pt x="0" y="0"/>
                  </a:moveTo>
                  <a:lnTo>
                    <a:pt x="97612" y="51085"/>
                  </a:lnTo>
                  <a:cubicBezTo>
                    <a:pt x="1195312" y="569402"/>
                    <a:pt x="3474728" y="925606"/>
                    <a:pt x="6108700" y="925606"/>
                  </a:cubicBezTo>
                  <a:cubicBezTo>
                    <a:pt x="8742672" y="925606"/>
                    <a:pt x="11022088" y="569402"/>
                    <a:pt x="12119789" y="51085"/>
                  </a:cubicBezTo>
                  <a:lnTo>
                    <a:pt x="12191999" y="13293"/>
                  </a:lnTo>
                  <a:lnTo>
                    <a:pt x="12191999" y="1031906"/>
                  </a:lnTo>
                  <a:lnTo>
                    <a:pt x="0" y="1031906"/>
                  </a:lnTo>
                  <a:close/>
                </a:path>
              </a:pathLst>
            </a:cu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</p:grpSp>
      <p:sp>
        <p:nvSpPr>
          <p:cNvPr id="87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>
                <a:solidFill>
                  <a:schemeClr val="bg1"/>
                </a:solidFill>
              </a:rPr>
            </a:fld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 txBox="1"/>
          <p:nvPr/>
        </p:nvSpPr>
        <p:spPr>
          <a:xfrm>
            <a:off x="959417" y="8553167"/>
            <a:ext cx="65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 sz="4800" b="1" spc="3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/>
        </p:nvSpPr>
        <p:spPr>
          <a:xfrm>
            <a:off x="2075669" y="2030205"/>
            <a:ext cx="8040663" cy="184665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zh-CN" sz="6600" b="1" spc="300" dirty="0">
                <a:solidFill>
                  <a:schemeClr val="accent2"/>
                </a:solidFill>
                <a:cs typeface="+mn-ea"/>
                <a:sym typeface="+mn-lt"/>
              </a:rPr>
              <a:t>THANKS</a:t>
            </a:r>
            <a:endParaRPr lang="en-US" altLang="zh-CN" sz="6600" b="1" spc="300" dirty="0">
              <a:solidFill>
                <a:schemeClr val="accent2"/>
              </a:solidFill>
              <a:cs typeface="+mn-ea"/>
              <a:sym typeface="+mn-lt"/>
            </a:endParaRPr>
          </a:p>
          <a:p>
            <a:pPr algn="ctr"/>
            <a:r>
              <a:rPr lang="zh-CN" altLang="en-US" sz="5400" b="1" spc="300" dirty="0">
                <a:solidFill>
                  <a:schemeClr val="accent1"/>
                </a:solidFill>
                <a:cs typeface="+mn-ea"/>
                <a:sym typeface="+mn-lt"/>
              </a:rPr>
              <a:t>谢谢观看，恳请批评指正</a:t>
            </a:r>
            <a:endParaRPr lang="zh-CN" altLang="en-US" sz="5400" b="1" spc="3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13" name="powerpoint template design by DAJU_PPT正版来源小红书大橘PPT微信DAJU_PPT请勿抄袭搬运！盗版必究！"/>
          <p:cNvGrpSpPr/>
          <p:nvPr/>
        </p:nvGrpSpPr>
        <p:grpSpPr>
          <a:xfrm>
            <a:off x="2656946" y="4543521"/>
            <a:ext cx="6878109" cy="160811"/>
            <a:chOff x="2656946" y="4546640"/>
            <a:chExt cx="6878109" cy="160811"/>
          </a:xfrm>
        </p:grpSpPr>
        <p:cxnSp>
          <p:nvCxnSpPr>
            <p:cNvPr id="14" name="powerpoint template design by DAJU_PPT正版来源小红书大橘PPT微信DAJU_PPT请勿抄袭搬运！盗版必究！-1"/>
            <p:cNvCxnSpPr/>
            <p:nvPr/>
          </p:nvCxnSpPr>
          <p:spPr>
            <a:xfrm>
              <a:off x="2978668" y="4627045"/>
              <a:ext cx="6234664" cy="0"/>
            </a:xfrm>
            <a:prstGeom prst="line">
              <a:avLst/>
            </a:prstGeom>
            <a:solidFill>
              <a:schemeClr val="accent2"/>
            </a:solidFill>
            <a:ln w="12700" cap="rnd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组合 14"/>
            <p:cNvGrpSpPr/>
            <p:nvPr/>
          </p:nvGrpSpPr>
          <p:grpSpPr>
            <a:xfrm>
              <a:off x="2656946" y="4546640"/>
              <a:ext cx="6878109" cy="160811"/>
              <a:chOff x="3756540" y="4546640"/>
              <a:chExt cx="6878109" cy="160811"/>
            </a:xfrm>
          </p:grpSpPr>
          <p:grpSp>
            <p:nvGrpSpPr>
              <p:cNvPr id="16" name="组合 15"/>
              <p:cNvGrpSpPr/>
              <p:nvPr/>
            </p:nvGrpSpPr>
            <p:grpSpPr>
              <a:xfrm>
                <a:off x="10375329" y="4546640"/>
                <a:ext cx="259320" cy="160811"/>
                <a:chOff x="1624393" y="5255315"/>
                <a:chExt cx="1415847" cy="878001"/>
              </a:xfrm>
              <a:solidFill>
                <a:schemeClr val="accent2"/>
              </a:solidFill>
            </p:grpSpPr>
            <p:sp>
              <p:nvSpPr>
                <p:cNvPr id="27" name="powerpoint template design by DAJU_PPT正版来源小红书大橘PPT微信DAJU_PPT请勿抄袭搬运！盗版必究！-2"/>
                <p:cNvSpPr/>
                <p:nvPr>
                  <p:custDataLst>
                    <p:tags r:id="rId1"/>
                  </p:custDataLst>
                </p:nvPr>
              </p:nvSpPr>
              <p:spPr>
                <a:xfrm rot="16200000">
                  <a:off x="1390067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powerpoint template design by DAJU_PPT正版来源小红书大橘PPT微信DAJU_PPT请勿抄袭搬运！盗版必究！-3"/>
                <p:cNvSpPr/>
                <p:nvPr>
                  <p:custDataLst>
                    <p:tags r:id="rId2"/>
                  </p:custDataLst>
                </p:nvPr>
              </p:nvSpPr>
              <p:spPr>
                <a:xfrm rot="16200000">
                  <a:off x="1893316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powerpoint template design by DAJU_PPT正版来源小红书大橘PPT微信DAJU_PPT请勿抄袭搬运！盗版必究！-4"/>
                <p:cNvSpPr/>
                <p:nvPr>
                  <p:custDataLst>
                    <p:tags r:id="rId3"/>
                  </p:custDataLst>
                </p:nvPr>
              </p:nvSpPr>
              <p:spPr>
                <a:xfrm rot="16200000">
                  <a:off x="2396565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8" name="组合 17"/>
              <p:cNvGrpSpPr/>
              <p:nvPr/>
            </p:nvGrpSpPr>
            <p:grpSpPr>
              <a:xfrm flipH="1">
                <a:off x="3756540" y="4546640"/>
                <a:ext cx="259320" cy="160811"/>
                <a:chOff x="1624393" y="5255315"/>
                <a:chExt cx="1415847" cy="878001"/>
              </a:xfrm>
              <a:solidFill>
                <a:schemeClr val="accent2"/>
              </a:solidFill>
            </p:grpSpPr>
            <p:sp>
              <p:nvSpPr>
                <p:cNvPr id="19" name="powerpoint template design by DAJU_PPT正版来源小红书大橘PPT微信DAJU_PPT请勿抄袭搬运！盗版必究！-5"/>
                <p:cNvSpPr/>
                <p:nvPr>
                  <p:custDataLst>
                    <p:tags r:id="rId4"/>
                  </p:custDataLst>
                </p:nvPr>
              </p:nvSpPr>
              <p:spPr>
                <a:xfrm rot="16200000">
                  <a:off x="1390067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powerpoint template design by DAJU_PPT正版来源小红书大橘PPT微信DAJU_PPT请勿抄袭搬运！盗版必究！-6"/>
                <p:cNvSpPr/>
                <p:nvPr>
                  <p:custDataLst>
                    <p:tags r:id="rId5"/>
                  </p:custDataLst>
                </p:nvPr>
              </p:nvSpPr>
              <p:spPr>
                <a:xfrm rot="16200000">
                  <a:off x="1893316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powerpoint template design by DAJU_PPT正版来源小红书大橘PPT微信DAJU_PPT请勿抄袭搬运！盗版必究！-7"/>
                <p:cNvSpPr/>
                <p:nvPr>
                  <p:custDataLst>
                    <p:tags r:id="rId6"/>
                  </p:custDataLst>
                </p:nvPr>
              </p:nvSpPr>
              <p:spPr>
                <a:xfrm rot="16200000">
                  <a:off x="2396565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027" y="533337"/>
            <a:ext cx="1499612" cy="1499612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PA" val="v5.2.9"/>
</p:tagLst>
</file>

<file path=ppt/tags/tag2.xml><?xml version="1.0" encoding="utf-8"?>
<p:tagLst xmlns:p="http://schemas.openxmlformats.org/presentationml/2006/main">
  <p:tag name="PA" val="v5.2.9"/>
</p:tagLst>
</file>

<file path=ppt/tags/tag3.xml><?xml version="1.0" encoding="utf-8"?>
<p:tagLst xmlns:p="http://schemas.openxmlformats.org/presentationml/2006/main">
  <p:tag name="PA" val="v5.2.9"/>
</p:tagLst>
</file>

<file path=ppt/tags/tag4.xml><?xml version="1.0" encoding="utf-8"?>
<p:tagLst xmlns:p="http://schemas.openxmlformats.org/presentationml/2006/main">
  <p:tag name="PA" val="v5.2.9"/>
</p:tagLst>
</file>

<file path=ppt/tags/tag5.xml><?xml version="1.0" encoding="utf-8"?>
<p:tagLst xmlns:p="http://schemas.openxmlformats.org/presentationml/2006/main">
  <p:tag name="PA" val="v5.2.9"/>
</p:tagLst>
</file>

<file path=ppt/tags/tag6.xml><?xml version="1.0" encoding="utf-8"?>
<p:tagLst xmlns:p="http://schemas.openxmlformats.org/presentationml/2006/main">
  <p:tag name="PA" val="v5.2.9"/>
</p:tagLst>
</file>

<file path=ppt/tags/tag7.xml><?xml version="1.0" encoding="utf-8"?>
<p:tagLst xmlns:p="http://schemas.openxmlformats.org/presentationml/2006/main">
  <p:tag name="ISLIDE.ICON" val="#36637;"/>
</p:tagLst>
</file>

<file path=ppt/tags/tag8.xml><?xml version="1.0" encoding="utf-8"?>
<p:tagLst xmlns:p="http://schemas.openxmlformats.org/presentationml/2006/main">
  <p:tag name="ISLIDE.ICON" val="#35732;"/>
</p:tagLst>
</file>

<file path=ppt/tags/tag9.xml><?xml version="1.0" encoding="utf-8"?>
<p:tagLst xmlns:p="http://schemas.openxmlformats.org/presentationml/2006/main">
  <p:tag name="KSO_WM_DIAGRAM_VIRTUALLY_FRAME" val="{&quot;height&quot;:84,&quot;left&quot;:61.5,&quot;top&quot;:138.75,&quot;width&quot;:835.5}"/>
</p:tagLst>
</file>

<file path=ppt/tags/tag10.xml><?xml version="1.0" encoding="utf-8"?>
<p:tagLst xmlns:p="http://schemas.openxmlformats.org/presentationml/2006/main">
  <p:tag name="KSO_WM_DIAGRAM_VIRTUALLY_FRAME" val="{&quot;height&quot;:84,&quot;left&quot;:61.5,&quot;top&quot;:138.75,&quot;width&quot;:835.5}"/>
</p:tagLst>
</file>

<file path=ppt/tags/tag11.xml><?xml version="1.0" encoding="utf-8"?>
<p:tagLst xmlns:p="http://schemas.openxmlformats.org/presentationml/2006/main">
  <p:tag name="KSO_WM_DIAGRAM_VIRTUALLY_FRAME" val="{&quot;height&quot;:84,&quot;left&quot;:61.5,&quot;top&quot;:138.75,&quot;width&quot;:835.5}"/>
</p:tagLst>
</file>

<file path=ppt/tags/tag12.xml><?xml version="1.0" encoding="utf-8"?>
<p:tagLst xmlns:p="http://schemas.openxmlformats.org/presentationml/2006/main">
  <p:tag name="KSO_WM_DIAGRAM_VIRTUALLY_FRAME" val="{&quot;height&quot;:84,&quot;left&quot;:61.5,&quot;top&quot;:138.75,&quot;width&quot;:835.5}"/>
</p:tagLst>
</file>

<file path=ppt/tags/tag13.xml><?xml version="1.0" encoding="utf-8"?>
<p:tagLst xmlns:p="http://schemas.openxmlformats.org/presentationml/2006/main">
  <p:tag name="KSO_WM_DIAGRAM_VIRTUALLY_FRAME" val="{&quot;height&quot;:84,&quot;left&quot;:61.5,&quot;top&quot;:138.75,&quot;width&quot;:835.5}"/>
</p:tagLst>
</file>

<file path=ppt/tags/tag14.xml><?xml version="1.0" encoding="utf-8"?>
<p:tagLst xmlns:p="http://schemas.openxmlformats.org/presentationml/2006/main">
  <p:tag name="KSO_WM_DIAGRAM_VIRTUALLY_FRAME" val="{&quot;height&quot;:84,&quot;left&quot;:61.5,&quot;top&quot;:138.75,&quot;width&quot;:835.5}"/>
</p:tagLst>
</file>

<file path=ppt/tags/tag15.xml><?xml version="1.0" encoding="utf-8"?>
<p:tagLst xmlns:p="http://schemas.openxmlformats.org/presentationml/2006/main">
  <p:tag name="KSO_WM_DIAGRAM_VIRTUALLY_FRAME" val="{&quot;height&quot;:84,&quot;left&quot;:61.5,&quot;top&quot;:138.75,&quot;width&quot;:835.5}"/>
</p:tagLst>
</file>

<file path=ppt/tags/tag16.xml><?xml version="1.0" encoding="utf-8"?>
<p:tagLst xmlns:p="http://schemas.openxmlformats.org/presentationml/2006/main">
  <p:tag name="KSO_WM_DIAGRAM_VIRTUALLY_FRAME" val="{&quot;height&quot;:84,&quot;left&quot;:61.5,&quot;top&quot;:138.75,&quot;width&quot;:835.5}"/>
</p:tagLst>
</file>

<file path=ppt/tags/tag17.xml><?xml version="1.0" encoding="utf-8"?>
<p:tagLst xmlns:p="http://schemas.openxmlformats.org/presentationml/2006/main">
  <p:tag name="KSO_WM_DIAGRAM_VIRTUALLY_FRAME" val="{&quot;height&quot;:84,&quot;left&quot;:61.5,&quot;top&quot;:138.75,&quot;width&quot;:835.5}"/>
</p:tagLst>
</file>

<file path=ppt/tags/tag18.xml><?xml version="1.0" encoding="utf-8"?>
<p:tagLst xmlns:p="http://schemas.openxmlformats.org/presentationml/2006/main">
  <p:tag name="KSO_WM_DIAGRAM_VIRTUALLY_FRAME" val="{&quot;height&quot;:84,&quot;left&quot;:61.5,&quot;top&quot;:138.75,&quot;width&quot;:835.5}"/>
</p:tagLst>
</file>

<file path=ppt/tags/tag19.xml><?xml version="1.0" encoding="utf-8"?>
<p:tagLst xmlns:p="http://schemas.openxmlformats.org/presentationml/2006/main">
  <p:tag name="KSO_WM_DIAGRAM_VIRTUALLY_FRAME" val="{&quot;height&quot;:84,&quot;left&quot;:61.5,&quot;top&quot;:138.75,&quot;width&quot;:835.5}"/>
</p:tagLst>
</file>

<file path=ppt/tags/tag20.xml><?xml version="1.0" encoding="utf-8"?>
<p:tagLst xmlns:p="http://schemas.openxmlformats.org/presentationml/2006/main">
  <p:tag name="KSO_WM_DIAGRAM_VIRTUALLY_FRAME" val="{&quot;height&quot;:84,&quot;left&quot;:61.5,&quot;top&quot;:138.75,&quot;width&quot;:835.5}"/>
</p:tagLst>
</file>

<file path=ppt/tags/tag21.xml><?xml version="1.0" encoding="utf-8"?>
<p:tagLst xmlns:p="http://schemas.openxmlformats.org/presentationml/2006/main">
  <p:tag name="KSO_WM_DIAGRAM_VIRTUALLY_FRAME" val="{&quot;height&quot;:84,&quot;left&quot;:61.5,&quot;top&quot;:138.75,&quot;width&quot;:835.5}"/>
</p:tagLst>
</file>

<file path=ppt/tags/tag22.xml><?xml version="1.0" encoding="utf-8"?>
<p:tagLst xmlns:p="http://schemas.openxmlformats.org/presentationml/2006/main">
  <p:tag name="KSO_WM_DIAGRAM_VIRTUALLY_FRAME" val="{&quot;height&quot;:84,&quot;left&quot;:61.5,&quot;top&quot;:138.75,&quot;width&quot;:835.5}"/>
</p:tagLst>
</file>

<file path=ppt/tags/tag23.xml><?xml version="1.0" encoding="utf-8"?>
<p:tagLst xmlns:p="http://schemas.openxmlformats.org/presentationml/2006/main">
  <p:tag name="KSO_WM_DIAGRAM_VIRTUALLY_FRAME" val="{&quot;height&quot;:84,&quot;left&quot;:61.5,&quot;top&quot;:138.75,&quot;width&quot;:835.5}"/>
</p:tagLst>
</file>

<file path=ppt/tags/tag24.xml><?xml version="1.0" encoding="utf-8"?>
<p:tagLst xmlns:p="http://schemas.openxmlformats.org/presentationml/2006/main">
  <p:tag name="TABLE_ENDDRAG_ORIGIN_RECT" val="831*90"/>
  <p:tag name="TABLE_ENDDRAG_RECT" val="32*256*831*90"/>
</p:tagLst>
</file>

<file path=ppt/tags/tag25.xml><?xml version="1.0" encoding="utf-8"?>
<p:tagLst xmlns:p="http://schemas.openxmlformats.org/presentationml/2006/main">
  <p:tag name="TABLE_ENDDRAG_ORIGIN_RECT" val="671*166"/>
  <p:tag name="TABLE_ENDDRAG_RECT" val="144*225*671*166"/>
</p:tagLst>
</file>

<file path=ppt/tags/tag26.xml><?xml version="1.0" encoding="utf-8"?>
<p:tagLst xmlns:p="http://schemas.openxmlformats.org/presentationml/2006/main">
  <p:tag name="KSO_WM_DIAGRAM_VIRTUALLY_FRAME" val="{&quot;height&quot;:277.7,&quot;left&quot;:3.55,&quot;top&quot;:134.45,&quot;width&quot;:946.95}"/>
</p:tagLst>
</file>

<file path=ppt/tags/tag27.xml><?xml version="1.0" encoding="utf-8"?>
<p:tagLst xmlns:p="http://schemas.openxmlformats.org/presentationml/2006/main">
  <p:tag name="KSO_WM_DIAGRAM_VIRTUALLY_FRAME" val="{&quot;height&quot;:277.7,&quot;left&quot;:3.55,&quot;top&quot;:134.45,&quot;width&quot;:946.95}"/>
</p:tagLst>
</file>

<file path=ppt/tags/tag28.xml><?xml version="1.0" encoding="utf-8"?>
<p:tagLst xmlns:p="http://schemas.openxmlformats.org/presentationml/2006/main">
  <p:tag name="KSO_WM_DIAGRAM_VIRTUALLY_FRAME" val="{&quot;height&quot;:277.7,&quot;left&quot;:3.55,&quot;top&quot;:134.45,&quot;width&quot;:946.95}"/>
</p:tagLst>
</file>

<file path=ppt/tags/tag29.xml><?xml version="1.0" encoding="utf-8"?>
<p:tagLst xmlns:p="http://schemas.openxmlformats.org/presentationml/2006/main">
  <p:tag name="KSO_WM_DIAGRAM_VIRTUALLY_FRAME" val="{&quot;height&quot;:277.7,&quot;left&quot;:3.55,&quot;top&quot;:134.45,&quot;width&quot;:946.95}"/>
</p:tagLst>
</file>

<file path=ppt/tags/tag30.xml><?xml version="1.0" encoding="utf-8"?>
<p:tagLst xmlns:p="http://schemas.openxmlformats.org/presentationml/2006/main">
  <p:tag name="KSO_WM_DIAGRAM_VIRTUALLY_FRAME" val="{&quot;height&quot;:277.7,&quot;left&quot;:3.55,&quot;top&quot;:134.45,&quot;width&quot;:946.95}"/>
</p:tagLst>
</file>

<file path=ppt/tags/tag31.xml><?xml version="1.0" encoding="utf-8"?>
<p:tagLst xmlns:p="http://schemas.openxmlformats.org/presentationml/2006/main">
  <p:tag name="KSO_WM_DIAGRAM_VIRTUALLY_FRAME" val="{&quot;height&quot;:277.7,&quot;left&quot;:3.55,&quot;top&quot;:134.45,&quot;width&quot;:946.95}"/>
</p:tagLst>
</file>

<file path=ppt/tags/tag32.xml><?xml version="1.0" encoding="utf-8"?>
<p:tagLst xmlns:p="http://schemas.openxmlformats.org/presentationml/2006/main">
  <p:tag name="KSO_WM_DIAGRAM_VIRTUALLY_FRAME" val="{&quot;height&quot;:277.7,&quot;left&quot;:3.55,&quot;top&quot;:134.45,&quot;width&quot;:946.95}"/>
</p:tagLst>
</file>

<file path=ppt/tags/tag33.xml><?xml version="1.0" encoding="utf-8"?>
<p:tagLst xmlns:p="http://schemas.openxmlformats.org/presentationml/2006/main">
  <p:tag name="KSO_WM_DIAGRAM_VIRTUALLY_FRAME" val="{&quot;height&quot;:277.7,&quot;left&quot;:3.55,&quot;top&quot;:134.45,&quot;width&quot;:946.95}"/>
</p:tagLst>
</file>

<file path=ppt/tags/tag34.xml><?xml version="1.0" encoding="utf-8"?>
<p:tagLst xmlns:p="http://schemas.openxmlformats.org/presentationml/2006/main">
  <p:tag name="KSO_WM_DIAGRAM_VIRTUALLY_FRAME" val="{&quot;height&quot;:277.7,&quot;left&quot;:3.55,&quot;top&quot;:134.45,&quot;width&quot;:946.95}"/>
</p:tagLst>
</file>

<file path=ppt/tags/tag35.xml><?xml version="1.0" encoding="utf-8"?>
<p:tagLst xmlns:p="http://schemas.openxmlformats.org/presentationml/2006/main">
  <p:tag name="KSO_WM_DIAGRAM_VIRTUALLY_FRAME" val="{&quot;height&quot;:277.7,&quot;left&quot;:3.55,&quot;top&quot;:134.45,&quot;width&quot;:946.95}"/>
</p:tagLst>
</file>

<file path=ppt/tags/tag36.xml><?xml version="1.0" encoding="utf-8"?>
<p:tagLst xmlns:p="http://schemas.openxmlformats.org/presentationml/2006/main">
  <p:tag name="KSO_WM_DIAGRAM_VIRTUALLY_FRAME" val="{&quot;height&quot;:277.7,&quot;left&quot;:3.55,&quot;top&quot;:134.45,&quot;width&quot;:946.95}"/>
</p:tagLst>
</file>

<file path=ppt/tags/tag37.xml><?xml version="1.0" encoding="utf-8"?>
<p:tagLst xmlns:p="http://schemas.openxmlformats.org/presentationml/2006/main">
  <p:tag name="KSO_WM_DIAGRAM_VIRTUALLY_FRAME" val="{&quot;height&quot;:277.7,&quot;left&quot;:3.55,&quot;top&quot;:134.45,&quot;width&quot;:946.95}"/>
</p:tagLst>
</file>

<file path=ppt/tags/tag38.xml><?xml version="1.0" encoding="utf-8"?>
<p:tagLst xmlns:p="http://schemas.openxmlformats.org/presentationml/2006/main">
  <p:tag name="KSO_WM_DIAGRAM_VIRTUALLY_FRAME" val="{&quot;height&quot;:336.95,&quot;left&quot;:3.55,&quot;top&quot;:134.45,&quot;width&quot;:952.1}"/>
</p:tagLst>
</file>

<file path=ppt/tags/tag39.xml><?xml version="1.0" encoding="utf-8"?>
<p:tagLst xmlns:p="http://schemas.openxmlformats.org/presentationml/2006/main">
  <p:tag name="KSO_WM_DIAGRAM_VIRTUALLY_FRAME" val="{&quot;height&quot;:336.95,&quot;left&quot;:3.55,&quot;top&quot;:134.45,&quot;width&quot;:952.1}"/>
</p:tagLst>
</file>

<file path=ppt/tags/tag40.xml><?xml version="1.0" encoding="utf-8"?>
<p:tagLst xmlns:p="http://schemas.openxmlformats.org/presentationml/2006/main">
  <p:tag name="KSO_WM_DIAGRAM_VIRTUALLY_FRAME" val="{&quot;height&quot;:336.95,&quot;left&quot;:3.55,&quot;top&quot;:134.45,&quot;width&quot;:952.1}"/>
</p:tagLst>
</file>

<file path=ppt/tags/tag41.xml><?xml version="1.0" encoding="utf-8"?>
<p:tagLst xmlns:p="http://schemas.openxmlformats.org/presentationml/2006/main">
  <p:tag name="KSO_WM_DIAGRAM_VIRTUALLY_FRAME" val="{&quot;height&quot;:336.95,&quot;left&quot;:3.55,&quot;top&quot;:134.45,&quot;width&quot;:952.1}"/>
</p:tagLst>
</file>

<file path=ppt/tags/tag42.xml><?xml version="1.0" encoding="utf-8"?>
<p:tagLst xmlns:p="http://schemas.openxmlformats.org/presentationml/2006/main">
  <p:tag name="TABLE_ENDDRAG_ORIGIN_RECT" val="487*181"/>
  <p:tag name="TABLE_ENDDRAG_RECT" val="419*210*487*181"/>
</p:tagLst>
</file>

<file path=ppt/tags/tag43.xml><?xml version="1.0" encoding="utf-8"?>
<p:tagLst xmlns:p="http://schemas.openxmlformats.org/presentationml/2006/main">
  <p:tag name="TABLE_ENDDRAG_ORIGIN_RECT" val="752*283"/>
  <p:tag name="TABLE_ENDDRAG_RECT" val="84*171*752*283"/>
</p:tagLst>
</file>

<file path=ppt/tags/tag44.xml><?xml version="1.0" encoding="utf-8"?>
<p:tagLst xmlns:p="http://schemas.openxmlformats.org/presentationml/2006/main">
  <p:tag name="ISLIDE.ICON" val="#35732;"/>
</p:tagLst>
</file>

<file path=ppt/tags/tag45.xml><?xml version="1.0" encoding="utf-8"?>
<p:tagLst xmlns:p="http://schemas.openxmlformats.org/presentationml/2006/main">
  <p:tag name="KSO_WM_DIAGRAM_VIRTUALLY_FRAME" val="{&quot;height&quot;:266.05,&quot;left&quot;:20.95,&quot;top&quot;:188.75,&quot;width&quot;:610.15}"/>
</p:tagLst>
</file>

<file path=ppt/tags/tag46.xml><?xml version="1.0" encoding="utf-8"?>
<p:tagLst xmlns:p="http://schemas.openxmlformats.org/presentationml/2006/main">
  <p:tag name="KSO_WM_DIAGRAM_VIRTUALLY_FRAME" val="{&quot;height&quot;:266.05,&quot;left&quot;:20.95,&quot;top&quot;:188.75,&quot;width&quot;:610.15}"/>
</p:tagLst>
</file>

<file path=ppt/tags/tag47.xml><?xml version="1.0" encoding="utf-8"?>
<p:tagLst xmlns:p="http://schemas.openxmlformats.org/presentationml/2006/main">
  <p:tag name="KSO_WM_DIAGRAM_VIRTUALLY_FRAME" val="{&quot;height&quot;:266.05,&quot;left&quot;:20.95,&quot;top&quot;:188.75,&quot;width&quot;:610.15}"/>
</p:tagLst>
</file>

<file path=ppt/tags/tag48.xml><?xml version="1.0" encoding="utf-8"?>
<p:tagLst xmlns:p="http://schemas.openxmlformats.org/presentationml/2006/main">
  <p:tag name="KSO_WM_DIAGRAM_VIRTUALLY_FRAME" val="{&quot;height&quot;:266.05,&quot;left&quot;:20.95,&quot;top&quot;:188.75,&quot;width&quot;:610.15}"/>
</p:tagLst>
</file>

<file path=ppt/tags/tag49.xml><?xml version="1.0" encoding="utf-8"?>
<p:tagLst xmlns:p="http://schemas.openxmlformats.org/presentationml/2006/main">
  <p:tag name="KSO_WM_DIAGRAM_VIRTUALLY_FRAME" val="{&quot;height&quot;:266.05,&quot;left&quot;:20.95,&quot;top&quot;:188.75,&quot;width&quot;:610.15}"/>
</p:tagLst>
</file>

<file path=ppt/tags/tag50.xml><?xml version="1.0" encoding="utf-8"?>
<p:tagLst xmlns:p="http://schemas.openxmlformats.org/presentationml/2006/main">
  <p:tag name="KSO_WM_DIAGRAM_VIRTUALLY_FRAME" val="{&quot;height&quot;:266.05,&quot;left&quot;:20.95,&quot;top&quot;:188.75,&quot;width&quot;:610.15}"/>
</p:tagLst>
</file>

<file path=ppt/tags/tag51.xml><?xml version="1.0" encoding="utf-8"?>
<p:tagLst xmlns:p="http://schemas.openxmlformats.org/presentationml/2006/main">
  <p:tag name="KSO_WM_DIAGRAM_VIRTUALLY_FRAME" val="{&quot;height&quot;:266.05,&quot;left&quot;:20.95,&quot;top&quot;:188.75,&quot;width&quot;:610.15}"/>
</p:tagLst>
</file>

<file path=ppt/tags/tag52.xml><?xml version="1.0" encoding="utf-8"?>
<p:tagLst xmlns:p="http://schemas.openxmlformats.org/presentationml/2006/main">
  <p:tag name="KSO_WM_DIAGRAM_VIRTUALLY_FRAME" val="{&quot;height&quot;:266.05,&quot;left&quot;:20.95,&quot;top&quot;:188.75,&quot;width&quot;:610.15}"/>
</p:tagLst>
</file>

<file path=ppt/tags/tag53.xml><?xml version="1.0" encoding="utf-8"?>
<p:tagLst xmlns:p="http://schemas.openxmlformats.org/presentationml/2006/main">
  <p:tag name="KSO_WM_DIAGRAM_VIRTUALLY_FRAME" val="{&quot;height&quot;:237.3,&quot;left&quot;:70.5,&quot;top&quot;:197.3,&quot;width&quot;:822.75}"/>
</p:tagLst>
</file>

<file path=ppt/tags/tag54.xml><?xml version="1.0" encoding="utf-8"?>
<p:tagLst xmlns:p="http://schemas.openxmlformats.org/presentationml/2006/main">
  <p:tag name="KSO_WM_DIAGRAM_VIRTUALLY_FRAME" val="{&quot;height&quot;:237.3,&quot;left&quot;:70.5,&quot;top&quot;:197.3,&quot;width&quot;:822.75}"/>
</p:tagLst>
</file>

<file path=ppt/tags/tag55.xml><?xml version="1.0" encoding="utf-8"?>
<p:tagLst xmlns:p="http://schemas.openxmlformats.org/presentationml/2006/main">
  <p:tag name="KSO_WM_DIAGRAM_VIRTUALLY_FRAME" val="{&quot;height&quot;:237.3,&quot;left&quot;:70.5,&quot;top&quot;:197.3,&quot;width&quot;:822.75}"/>
</p:tagLst>
</file>

<file path=ppt/tags/tag56.xml><?xml version="1.0" encoding="utf-8"?>
<p:tagLst xmlns:p="http://schemas.openxmlformats.org/presentationml/2006/main">
  <p:tag name="KSO_WM_DIAGRAM_VIRTUALLY_FRAME" val="{&quot;height&quot;:237.3,&quot;left&quot;:70.5,&quot;top&quot;:197.3,&quot;width&quot;:822.75}"/>
</p:tagLst>
</file>

<file path=ppt/tags/tag57.xml><?xml version="1.0" encoding="utf-8"?>
<p:tagLst xmlns:p="http://schemas.openxmlformats.org/presentationml/2006/main">
  <p:tag name="KSO_WM_DIAGRAM_VIRTUALLY_FRAME" val="{&quot;height&quot;:237.3,&quot;left&quot;:70.5,&quot;top&quot;:197.3,&quot;width&quot;:822.75}"/>
</p:tagLst>
</file>

<file path=ppt/tags/tag58.xml><?xml version="1.0" encoding="utf-8"?>
<p:tagLst xmlns:p="http://schemas.openxmlformats.org/presentationml/2006/main">
  <p:tag name="KSO_WM_DIAGRAM_VIRTUALLY_FRAME" val="{&quot;height&quot;:237.3,&quot;left&quot;:70.5,&quot;top&quot;:197.3,&quot;width&quot;:822.75}"/>
</p:tagLst>
</file>

<file path=ppt/tags/tag59.xml><?xml version="1.0" encoding="utf-8"?>
<p:tagLst xmlns:p="http://schemas.openxmlformats.org/presentationml/2006/main">
  <p:tag name="KSO_WM_DIAGRAM_VIRTUALLY_FRAME" val="{&quot;height&quot;:237.3,&quot;left&quot;:70.5,&quot;top&quot;:197.3,&quot;width&quot;:822.75}"/>
</p:tagLst>
</file>

<file path=ppt/tags/tag60.xml><?xml version="1.0" encoding="utf-8"?>
<p:tagLst xmlns:p="http://schemas.openxmlformats.org/presentationml/2006/main">
  <p:tag name="KSO_WM_DIAGRAM_VIRTUALLY_FRAME" val="{&quot;height&quot;:237.3,&quot;left&quot;:70.5,&quot;top&quot;:197.3,&quot;width&quot;:822.75}"/>
</p:tagLst>
</file>

<file path=ppt/tags/tag61.xml><?xml version="1.0" encoding="utf-8"?>
<p:tagLst xmlns:p="http://schemas.openxmlformats.org/presentationml/2006/main">
  <p:tag name="KSO_WM_DIAGRAM_VIRTUALLY_FRAME" val="{&quot;height&quot;:237.3,&quot;left&quot;:70.5,&quot;top&quot;:197.3,&quot;width&quot;:822.75}"/>
</p:tagLst>
</file>

<file path=ppt/tags/tag62.xml><?xml version="1.0" encoding="utf-8"?>
<p:tagLst xmlns:p="http://schemas.openxmlformats.org/presentationml/2006/main">
  <p:tag name="KSO_WM_DIAGRAM_VIRTUALLY_FRAME" val="{&quot;height&quot;:237.3,&quot;left&quot;:70.5,&quot;top&quot;:197.3,&quot;width&quot;:822.75}"/>
</p:tagLst>
</file>

<file path=ppt/tags/tag63.xml><?xml version="1.0" encoding="utf-8"?>
<p:tagLst xmlns:p="http://schemas.openxmlformats.org/presentationml/2006/main">
  <p:tag name="KSO_WM_DIAGRAM_VIRTUALLY_FRAME" val="{&quot;height&quot;:237.3,&quot;left&quot;:70.5,&quot;top&quot;:197.3,&quot;width&quot;:822.75}"/>
</p:tagLst>
</file>

<file path=ppt/tags/tag64.xml><?xml version="1.0" encoding="utf-8"?>
<p:tagLst xmlns:p="http://schemas.openxmlformats.org/presentationml/2006/main">
  <p:tag name="KSO_WM_DIAGRAM_VIRTUALLY_FRAME" val="{&quot;height&quot;:237.3,&quot;left&quot;:70.5,&quot;top&quot;:197.3,&quot;width&quot;:822.75}"/>
</p:tagLst>
</file>

<file path=ppt/tags/tag65.xml><?xml version="1.0" encoding="utf-8"?>
<p:tagLst xmlns:p="http://schemas.openxmlformats.org/presentationml/2006/main">
  <p:tag name="KSO_WM_DIAGRAM_VIRTUALLY_FRAME" val="{&quot;height&quot;:237.3,&quot;left&quot;:70.5,&quot;top&quot;:197.3,&quot;width&quot;:822.75}"/>
</p:tagLst>
</file>

<file path=ppt/tags/tag66.xml><?xml version="1.0" encoding="utf-8"?>
<p:tagLst xmlns:p="http://schemas.openxmlformats.org/presentationml/2006/main">
  <p:tag name="KSO_WM_DIAGRAM_VIRTUALLY_FRAME" val="{&quot;height&quot;:237.3,&quot;left&quot;:70.5,&quot;top&quot;:197.3,&quot;width&quot;:822.75}"/>
</p:tagLst>
</file>

<file path=ppt/tags/tag67.xml><?xml version="1.0" encoding="utf-8"?>
<p:tagLst xmlns:p="http://schemas.openxmlformats.org/presentationml/2006/main">
  <p:tag name="KSO_WM_DIAGRAM_VIRTUALLY_FRAME" val="{&quot;height&quot;:237.3,&quot;left&quot;:70.5,&quot;top&quot;:197.3,&quot;width&quot;:822.75}"/>
</p:tagLst>
</file>

<file path=ppt/tags/tag68.xml><?xml version="1.0" encoding="utf-8"?>
<p:tagLst xmlns:p="http://schemas.openxmlformats.org/presentationml/2006/main">
  <p:tag name="KSO_WM_DIAGRAM_VIRTUALLY_FRAME" val="{&quot;height&quot;:237.3,&quot;left&quot;:70.5,&quot;top&quot;:197.3,&quot;width&quot;:822.75}"/>
</p:tagLst>
</file>

<file path=ppt/tags/tag69.xml><?xml version="1.0" encoding="utf-8"?>
<p:tagLst xmlns:p="http://schemas.openxmlformats.org/presentationml/2006/main">
  <p:tag name="PA" val="v5.2.9"/>
</p:tagLst>
</file>

<file path=ppt/tags/tag70.xml><?xml version="1.0" encoding="utf-8"?>
<p:tagLst xmlns:p="http://schemas.openxmlformats.org/presentationml/2006/main">
  <p:tag name="PA" val="v5.2.9"/>
</p:tagLst>
</file>

<file path=ppt/tags/tag71.xml><?xml version="1.0" encoding="utf-8"?>
<p:tagLst xmlns:p="http://schemas.openxmlformats.org/presentationml/2006/main">
  <p:tag name="PA" val="v5.2.9"/>
</p:tagLst>
</file>

<file path=ppt/tags/tag72.xml><?xml version="1.0" encoding="utf-8"?>
<p:tagLst xmlns:p="http://schemas.openxmlformats.org/presentationml/2006/main">
  <p:tag name="PA" val="v5.2.9"/>
</p:tagLst>
</file>

<file path=ppt/tags/tag73.xml><?xml version="1.0" encoding="utf-8"?>
<p:tagLst xmlns:p="http://schemas.openxmlformats.org/presentationml/2006/main">
  <p:tag name="PA" val="v5.2.9"/>
</p:tagLst>
</file>

<file path=ppt/tags/tag74.xml><?xml version="1.0" encoding="utf-8"?>
<p:tagLst xmlns:p="http://schemas.openxmlformats.org/presentationml/2006/main">
  <p:tag name="PA" val="v5.2.9"/>
</p:tagLst>
</file>

<file path=ppt/tags/tag75.xml><?xml version="1.0" encoding="utf-8"?>
<p:tagLst xmlns:p="http://schemas.openxmlformats.org/presentationml/2006/main">
  <p:tag name="ISLIDE.ICON" val="#36637;"/>
</p:tagLst>
</file>

<file path=ppt/tags/tag76.xml><?xml version="1.0" encoding="utf-8"?>
<p:tagLst xmlns:p="http://schemas.openxmlformats.org/presentationml/2006/main">
  <p:tag name="ISLIDE.GUIDESSETTING" val="{&quot;Id&quot;:null,&quot;Name&quot;:&quot;适中&quot;,&quot;HeaderHeight&quot;:10.0,&quot;FooterHeight&quot;:5.0,&quot;SideMargin&quot;:5.0,&quot;TopMargin&quot;:0.0,&quot;BottomMargin&quot;:0.0,&quot;IntervalMargin&quot;:1.5,&quot;SettingType&quot;:&quot;System&quot;}"/>
</p:tagLst>
</file>

<file path=ppt/theme/theme1.xml><?xml version="1.0" encoding="utf-8"?>
<a:theme xmlns:a="http://schemas.openxmlformats.org/drawingml/2006/main" name="Office Theme">
  <a:themeElements>
    <a:clrScheme name="00深蓝+金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394761"/>
      </a:accent1>
      <a:accent2>
        <a:srgbClr val="D0B296"/>
      </a:accent2>
      <a:accent3>
        <a:srgbClr val="394761"/>
      </a:accent3>
      <a:accent4>
        <a:srgbClr val="D0B296"/>
      </a:accent4>
      <a:accent5>
        <a:srgbClr val="394761"/>
      </a:accent5>
      <a:accent6>
        <a:srgbClr val="D0B296"/>
      </a:accent6>
      <a:hlink>
        <a:srgbClr val="DF213B"/>
      </a:hlink>
      <a:folHlink>
        <a:srgbClr val="954F72"/>
      </a:folHlink>
    </a:clrScheme>
    <a:fontScheme name="mmhun255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11682</Words>
  <Application>WPS 演示</Application>
  <PresentationFormat>宽屏</PresentationFormat>
  <Paragraphs>1054</Paragraphs>
  <Slides>61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61</vt:i4>
      </vt:variant>
    </vt:vector>
  </HeadingPairs>
  <TitlesOfParts>
    <vt:vector size="79" baseType="lpstr">
      <vt:lpstr>Arial</vt:lpstr>
      <vt:lpstr>宋体</vt:lpstr>
      <vt:lpstr>Wingdings</vt:lpstr>
      <vt:lpstr>微软雅黑</vt:lpstr>
      <vt:lpstr>阿里巴巴普惠体 2.0 45 Light</vt:lpstr>
      <vt:lpstr>Calibri</vt:lpstr>
      <vt:lpstr>Times New Roman</vt:lpstr>
      <vt:lpstr>等线</vt:lpstr>
      <vt:lpstr>Segoe Print</vt:lpstr>
      <vt:lpstr>Arial Unicode MS</vt:lpstr>
      <vt:lpstr>ＭＳ 明朝</vt:lpstr>
      <vt:lpstr>Symbol</vt:lpstr>
      <vt:lpstr>Noto Sans SC</vt:lpstr>
      <vt:lpstr>Poppins</vt:lpstr>
      <vt:lpstr>Calibri</vt:lpstr>
      <vt:lpstr>Poppins SemiBold</vt:lpstr>
      <vt:lpstr>Arial</vt:lpstr>
      <vt:lpstr>Office Theme</vt:lpstr>
      <vt:lpstr>PowerPoint 演示文稿</vt:lpstr>
      <vt:lpstr>PowerPoint 演示文稿</vt:lpstr>
      <vt:lpstr>阶段成果总览</vt:lpstr>
      <vt:lpstr>指标点批量导入功能</vt:lpstr>
      <vt:lpstr>指标点批量导入功能</vt:lpstr>
      <vt:lpstr>指标点批量导入功能</vt:lpstr>
      <vt:lpstr>指标点批量导入功能</vt:lpstr>
      <vt:lpstr>指标点批量导入功能</vt:lpstr>
      <vt:lpstr>样式调整、界面优化</vt:lpstr>
      <vt:lpstr>教务管理员端界面优化</vt:lpstr>
      <vt:lpstr>教务管理员端界面优化</vt:lpstr>
      <vt:lpstr>教务管理员端界面优化</vt:lpstr>
      <vt:lpstr>教务管理员端界面优化</vt:lpstr>
      <vt:lpstr>主讲教师端课程大纲相关页面优化</vt:lpstr>
      <vt:lpstr>主讲教师端课程大纲相关页面优化</vt:lpstr>
      <vt:lpstr>主讲教师端课程大纲相关页面优化</vt:lpstr>
      <vt:lpstr>专业负责人端页面优化</vt:lpstr>
      <vt:lpstr>系统管理员端页面优化</vt:lpstr>
      <vt:lpstr>宏观看板权限扩展</vt:lpstr>
      <vt:lpstr>学生名单导入</vt:lpstr>
      <vt:lpstr>学生名单导入</vt:lpstr>
      <vt:lpstr>班级导入</vt:lpstr>
      <vt:lpstr>班级导入</vt:lpstr>
      <vt:lpstr>班级导入</vt:lpstr>
      <vt:lpstr>主讲教师端批量导入</vt:lpstr>
      <vt:lpstr>主讲教师端批量导入</vt:lpstr>
      <vt:lpstr>主讲教师端批量导入</vt:lpstr>
      <vt:lpstr>主讲教师端批量导入</vt:lpstr>
      <vt:lpstr>主讲教师端批量导入</vt:lpstr>
      <vt:lpstr>主讲教师端批量导入</vt:lpstr>
      <vt:lpstr>PowerPoint 演示文稿</vt:lpstr>
      <vt:lpstr>核心问题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曾子升</dc:creator>
  <cp:lastModifiedBy>泪雨的终结</cp:lastModifiedBy>
  <cp:revision>1034</cp:revision>
  <dcterms:created xsi:type="dcterms:W3CDTF">2019-11-26T03:41:00Z</dcterms:created>
  <dcterms:modified xsi:type="dcterms:W3CDTF">2026-06-17T03:59:07Z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1E01BD82F9DA4AF08479D95CA643C276_13</vt:lpwstr>
  </property>
  <property fmtid="{D5CDD505-2E9C-101B-9397-08002B2CF9AE}" pid="3" name="KSOProductBuildVer">
    <vt:lpwstr>2052-12.1.0.26895</vt:lpwstr>
  </property>
</Properties>
</file>