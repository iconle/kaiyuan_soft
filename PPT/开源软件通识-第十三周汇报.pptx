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39" r:id="rId3"/>
    <p:sldId id="643" r:id="rId5"/>
    <p:sldId id="702" r:id="rId6"/>
    <p:sldId id="866" r:id="rId7"/>
    <p:sldId id="833" r:id="rId8"/>
    <p:sldId id="867" r:id="rId9"/>
    <p:sldId id="868" r:id="rId10"/>
    <p:sldId id="861" r:id="rId11"/>
    <p:sldId id="870" r:id="rId12"/>
    <p:sldId id="875" r:id="rId13"/>
    <p:sldId id="869" r:id="rId14"/>
    <p:sldId id="862" r:id="rId15"/>
    <p:sldId id="872" r:id="rId16"/>
    <p:sldId id="873" r:id="rId17"/>
    <p:sldId id="874" r:id="rId18"/>
    <p:sldId id="876" r:id="rId19"/>
    <p:sldId id="877" r:id="rId20"/>
    <p:sldId id="863" r:id="rId21"/>
    <p:sldId id="878" r:id="rId22"/>
    <p:sldId id="879" r:id="rId23"/>
    <p:sldId id="864" r:id="rId24"/>
    <p:sldId id="881" r:id="rId25"/>
    <p:sldId id="882" r:id="rId26"/>
    <p:sldId id="883" r:id="rId27"/>
    <p:sldId id="885" r:id="rId28"/>
    <p:sldId id="886" r:id="rId29"/>
    <p:sldId id="665" r:id="rId30"/>
    <p:sldId id="896" r:id="rId31"/>
    <p:sldId id="811" r:id="rId32"/>
    <p:sldId id="897" r:id="rId33"/>
    <p:sldId id="898" r:id="rId34"/>
    <p:sldId id="899" r:id="rId35"/>
    <p:sldId id="900" r:id="rId36"/>
    <p:sldId id="901" r:id="rId37"/>
    <p:sldId id="904" r:id="rId38"/>
    <p:sldId id="716" r:id="rId39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85EBCEA-17E7-46C7-8BF8-09EC538FBA5A}">
          <p14:sldIdLst>
            <p14:sldId id="639"/>
            <p14:sldId id="643"/>
            <p14:sldId id="702"/>
            <p14:sldId id="866"/>
            <p14:sldId id="833"/>
            <p14:sldId id="867"/>
            <p14:sldId id="868"/>
            <p14:sldId id="861"/>
            <p14:sldId id="870"/>
            <p14:sldId id="875"/>
            <p14:sldId id="869"/>
            <p14:sldId id="862"/>
            <p14:sldId id="872"/>
            <p14:sldId id="873"/>
            <p14:sldId id="874"/>
            <p14:sldId id="876"/>
            <p14:sldId id="877"/>
            <p14:sldId id="863"/>
            <p14:sldId id="878"/>
            <p14:sldId id="879"/>
            <p14:sldId id="864"/>
            <p14:sldId id="881"/>
            <p14:sldId id="882"/>
            <p14:sldId id="883"/>
            <p14:sldId id="885"/>
            <p14:sldId id="886"/>
            <p14:sldId id="665"/>
            <p14:sldId id="896"/>
            <p14:sldId id="811"/>
            <p14:sldId id="897"/>
            <p14:sldId id="898"/>
            <p14:sldId id="899"/>
            <p14:sldId id="900"/>
            <p14:sldId id="901"/>
            <p14:sldId id="904"/>
            <p14:sldId id="7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BE3"/>
    <a:srgbClr val="66CCFF"/>
    <a:srgbClr val="FFFF66"/>
    <a:srgbClr val="FFFFFF"/>
    <a:srgbClr val="394761"/>
    <a:srgbClr val="023C99"/>
    <a:srgbClr val="D0B296"/>
    <a:srgbClr val="538B4B"/>
    <a:srgbClr val="E8FAE5"/>
    <a:srgbClr val="9D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700" autoAdjust="0"/>
  </p:normalViewPr>
  <p:slideViewPr>
    <p:cSldViewPr snapToGrid="0" showGuides="1">
      <p:cViewPr varScale="1">
        <p:scale>
          <a:sx n="76" d="100"/>
          <a:sy n="76" d="100"/>
        </p:scale>
        <p:origin x="946" y="53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100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3553758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2117179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5242560" y="3025032"/>
            <a:ext cx="1706880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79809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559444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>
              <a:defRPr lang="zh-CN" altLang="en-US" sz="28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单击此处标题</a:t>
            </a:r>
            <a:endParaRPr lang="zh-CN" altLang="en-US" dirty="0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3452-3CC8-4E8B-993B-C9E13B0C484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5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21.png"/><Relationship Id="rId6" Type="http://schemas.openxmlformats.org/officeDocument/2006/relationships/image" Target="../media/image24.png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3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9.xml"/><Relationship Id="rId7" Type="http://schemas.openxmlformats.org/officeDocument/2006/relationships/image" Target="../media/image1.png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0" Type="http://schemas.openxmlformats.org/officeDocument/2006/relationships/notesSlide" Target="../notesSlides/notesSlide33.xml"/><Relationship Id="rId1" Type="http://schemas.openxmlformats.org/officeDocument/2006/relationships/tags" Target="../tags/tag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7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9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4" name="powerpoint template design by DAJU_PPT正版来源小红书大橘PPT微信DAJU_PPT请勿抄袭搬运！盗版必究！"/>
          <p:cNvSpPr txBox="1"/>
          <p:nvPr/>
        </p:nvSpPr>
        <p:spPr>
          <a:xfrm>
            <a:off x="4457797" y="2145249"/>
            <a:ext cx="3276600" cy="9232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spc="300" smtClean="0">
                <a:solidFill>
                  <a:schemeClr val="accent1"/>
                </a:solidFill>
                <a:cs typeface="+mn-ea"/>
                <a:sym typeface="+mn-lt"/>
              </a:rPr>
              <a:t>开源软件</a:t>
            </a:r>
            <a:r>
              <a:rPr lang="zh-CN" altLang="en-US" sz="4000" b="1" spc="300" smtClean="0">
                <a:solidFill>
                  <a:schemeClr val="accent1"/>
                </a:solidFill>
                <a:cs typeface="+mn-ea"/>
                <a:sym typeface="+mn-lt"/>
              </a:rPr>
              <a:t>通识</a:t>
            </a:r>
            <a:endParaRPr lang="zh-CN" altLang="en-US" sz="4000" b="1" spc="300" smtClean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79" name="powerpoint template design by DAJU_PPT正版来源小红书大橘PPT微信DAJU_PPT请勿抄袭搬运！盗版必究！"/>
          <p:cNvSpPr txBox="1"/>
          <p:nvPr/>
        </p:nvSpPr>
        <p:spPr>
          <a:xfrm>
            <a:off x="1242152" y="3261623"/>
            <a:ext cx="9707884" cy="645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spc="300">
                <a:cs typeface="+mn-ea"/>
                <a:sym typeface="+mn-lt"/>
              </a:rPr>
              <a:t>第十三周</a:t>
            </a:r>
            <a:r>
              <a:rPr lang="zh-CN" altLang="en-US" sz="2800" spc="300">
                <a:cs typeface="+mn-ea"/>
                <a:sym typeface="+mn-lt"/>
              </a:rPr>
              <a:t>汇报</a:t>
            </a:r>
            <a:endParaRPr lang="zh-CN" altLang="en-US" sz="2800" spc="300">
              <a:cs typeface="+mn-ea"/>
              <a:sym typeface="+mn-lt"/>
            </a:endParaRPr>
          </a:p>
        </p:txBody>
      </p:sp>
      <p:sp>
        <p:nvSpPr>
          <p:cNvPr id="52" name="powerpoint template design by DAJU_PPT正版来源小红书大橘PPT微信DAJU_PPT请勿抄袭搬运！盗版必究！"/>
          <p:cNvSpPr txBox="1"/>
          <p:nvPr/>
        </p:nvSpPr>
        <p:spPr>
          <a:xfrm>
            <a:off x="3797300" y="5234940"/>
            <a:ext cx="4956175" cy="12979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dirty="0">
                <a:latin typeface="+mn-ea"/>
              </a:rPr>
              <a:t>汇报</a:t>
            </a:r>
            <a:r>
              <a:rPr lang="zh-CN" altLang="en-US" sz="1800" b="1">
                <a:latin typeface="+mn-ea"/>
              </a:rPr>
              <a:t>人</a:t>
            </a:r>
            <a:r>
              <a:rPr lang="zh-CN" altLang="en-US" sz="1800" b="1" smtClean="0">
                <a:latin typeface="+mn-ea"/>
              </a:rPr>
              <a:t>：邱志斌</a:t>
            </a:r>
            <a:endParaRPr lang="en-US" altLang="zh-CN" sz="1800" b="1" smtClean="0">
              <a:latin typeface="+mn-ea"/>
            </a:endParaRPr>
          </a:p>
          <a:p>
            <a:pPr algn="ctr"/>
            <a:r>
              <a:rPr lang="zh-CN" altLang="en-US" b="1" smtClean="0">
                <a:latin typeface="+mn-ea"/>
              </a:rPr>
              <a:t>小组成员：查琪乐、邱志斌、邱嘉堃、刘辉艺、吴思雨、闫皇冲、李伟鹏、褚茂</a:t>
            </a:r>
            <a:r>
              <a:rPr lang="zh-CN" altLang="en-US" b="1" smtClean="0">
                <a:latin typeface="+mn-ea"/>
              </a:rPr>
              <a:t>誉</a:t>
            </a:r>
            <a:endParaRPr lang="zh-CN" altLang="en-US" b="1" smtClean="0">
              <a:latin typeface="+mn-ea"/>
            </a:endParaRPr>
          </a:p>
        </p:txBody>
      </p: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6" name="powerpoint template design by DAJU_PPT正版来源小红书大橘PPT微信DAJU_PPT请勿抄袭搬运！盗版必究！"/>
          <p:cNvGrpSpPr/>
          <p:nvPr/>
        </p:nvGrpSpPr>
        <p:grpSpPr>
          <a:xfrm>
            <a:off x="2656946" y="5016372"/>
            <a:ext cx="6878109" cy="160811"/>
            <a:chOff x="2656946" y="4546640"/>
            <a:chExt cx="6878109" cy="160811"/>
          </a:xfrm>
        </p:grpSpPr>
        <p:cxnSp>
          <p:nvCxnSpPr>
            <p:cNvPr id="12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4" name="powerpoint template design by DAJU_PPT正版来源小红书大橘PPT微信DAJU_PPT请勿抄袭搬运！盗版必究！-2"/>
                <p:cNvSpPr/>
                <p:nvPr>
                  <p:custDataLst>
                    <p:tags r:id="rId1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powerpoint template design by DAJU_PPT正版来源小红书大橘PPT微信DAJU_PPT请勿抄袭搬运！盗版必究！-3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powerpoint template design by DAJU_PPT正版来源小红书大橘PPT微信DAJU_PPT请勿抄袭搬运！盗版必究！-4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689877"/>
            <a:ext cx="1499612" cy="1499612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6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7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6" name="powerpoint template design by DAJU_PPT正版来源小红书大橘PPT微信DAJU_PPT请勿抄袭搬运！盗版必究！" hidden="1"/>
          <p:cNvSpPr/>
          <p:nvPr userDrawn="1"/>
        </p:nvSpPr>
        <p:spPr>
          <a:xfrm>
            <a:off x="-188" y="4585664"/>
            <a:ext cx="12192188" cy="1053851"/>
          </a:xfrm>
          <a:custGeom>
            <a:avLst/>
            <a:gdLst>
              <a:gd name="connsiteX0" fmla="*/ 0 w 12191999"/>
              <a:gd name="connsiteY0" fmla="*/ 0 h 1053835"/>
              <a:gd name="connsiteX1" fmla="*/ 84912 w 12191999"/>
              <a:gd name="connsiteY1" fmla="*/ 44439 h 1053835"/>
              <a:gd name="connsiteX2" fmla="*/ 6096001 w 12191999"/>
              <a:gd name="connsiteY2" fmla="*/ 918960 h 1053835"/>
              <a:gd name="connsiteX3" fmla="*/ 12107089 w 12191999"/>
              <a:gd name="connsiteY3" fmla="*/ 44439 h 1053835"/>
              <a:gd name="connsiteX4" fmla="*/ 12191999 w 12191999"/>
              <a:gd name="connsiteY4" fmla="*/ 1 h 1053835"/>
              <a:gd name="connsiteX5" fmla="*/ 12191999 w 12191999"/>
              <a:gd name="connsiteY5" fmla="*/ 1053835 h 1053835"/>
              <a:gd name="connsiteX6" fmla="*/ 0 w 12191999"/>
              <a:gd name="connsiteY6" fmla="*/ 1053835 h 10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1053835">
                <a:moveTo>
                  <a:pt x="0" y="0"/>
                </a:moveTo>
                <a:lnTo>
                  <a:pt x="84912" y="44439"/>
                </a:lnTo>
                <a:cubicBezTo>
                  <a:pt x="1182612" y="562756"/>
                  <a:pt x="3462028" y="918960"/>
                  <a:pt x="6096001" y="918960"/>
                </a:cubicBezTo>
                <a:cubicBezTo>
                  <a:pt x="8729972" y="918960"/>
                  <a:pt x="11009388" y="562756"/>
                  <a:pt x="12107089" y="44439"/>
                </a:cubicBezTo>
                <a:lnTo>
                  <a:pt x="12191999" y="1"/>
                </a:lnTo>
                <a:lnTo>
                  <a:pt x="12191999" y="1053835"/>
                </a:lnTo>
                <a:lnTo>
                  <a:pt x="0" y="1053835"/>
                </a:lnTo>
                <a:close/>
              </a:path>
            </a:pathLst>
          </a:custGeom>
          <a:solidFill>
            <a:srgbClr val="FFFFFF"/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2.0 45 Light"/>
              <a:ea typeface="阿里巴巴普惠体 2.0 45 Light"/>
              <a:cs typeface="+mn-cs"/>
            </a:endParaRPr>
          </a:p>
        </p:txBody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171825" y="3553460"/>
            <a:ext cx="5956300" cy="553720"/>
          </a:xfrm>
          <a:prstGeom prst="rect">
            <a:avLst/>
          </a:prstGeom>
        </p:spPr>
        <p:txBody>
          <a:bodyPr wrap="square"/>
          <a:lstStyle/>
          <a:p>
            <a:r>
              <a:rPr sz="4000" dirty="0">
                <a:latin typeface="+mn-lt"/>
                <a:ea typeface="+mn-ea"/>
                <a:cs typeface="+mn-ea"/>
                <a:sym typeface="+mn-lt"/>
              </a:rPr>
              <a:t>上周小组</a:t>
            </a:r>
            <a:r>
              <a:rPr sz="4000" dirty="0">
                <a:latin typeface="+mn-lt"/>
                <a:ea typeface="+mn-ea"/>
                <a:cs typeface="+mn-ea"/>
                <a:sym typeface="+mn-lt"/>
              </a:rPr>
              <a:t>工作</a:t>
            </a:r>
            <a:endParaRPr sz="4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01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grpSp>
        <p:nvGrpSpPr>
          <p:cNvPr id="3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3" name="组合 2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4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3" name="组合 1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1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14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系统架构设计：邱志斌、查琪乐</a:t>
            </a:r>
            <a:endParaRPr lang="zh-CN" altLang="en-US"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342743" y="3336531"/>
            <a:ext cx="3059085" cy="151345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475746" y="3557694"/>
            <a:ext cx="2849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系统架构设计：邱志斌，查琪乐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475746" y="3914591"/>
            <a:ext cx="2926082" cy="75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理清系统需求，分析核心业务的基础，设计三级计算处理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流程，完成系统的主要框架设计与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搭建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758379" y="3087148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7910" y="1513840"/>
            <a:ext cx="8399780" cy="47282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/>
      <p:bldP spid="11" grpId="0"/>
      <p:bldP spid="12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系统架构设计：邱志斌、查琪</a:t>
            </a:r>
            <a:r>
              <a:rPr lang="zh-CN" altLang="en-US"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乐</a:t>
            </a:r>
            <a:endParaRPr lang="zh-CN" altLang="en-US"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75433" y="3270491"/>
            <a:ext cx="3059085" cy="151345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408436" y="3491654"/>
            <a:ext cx="2849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系统架构设计：邱志斌，查琪乐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408436" y="3848551"/>
            <a:ext cx="2926082" cy="75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理清系统需求，分析核心业务的基础，设计三级计算处理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流程，完成系统的主要框架设计与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搭建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691069" y="3021108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065" y="1923415"/>
            <a:ext cx="8553450" cy="378269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/>
      <p:bldP spid="11" grpId="0"/>
      <p:bldP spid="1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数据库设计：邱嘉堃，闫皇</a:t>
            </a:r>
            <a:r>
              <a:rPr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冲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352268" y="3036811"/>
            <a:ext cx="3059085" cy="151345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485271" y="3257974"/>
            <a:ext cx="26593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库设计：邱嘉堃，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闫皇冲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485271" y="3614871"/>
            <a:ext cx="2926082" cy="530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修改并上次的数据库设计，设计符合当前系统架构的数据库，绘制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ER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图，维护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数据库。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635189" y="2788063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02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1085" y="1329690"/>
            <a:ext cx="8345170" cy="469709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/>
      <p:bldP spid="15" grpId="0"/>
      <p:bldP spid="1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数据库设计：邱嘉堃，闫皇冲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352268" y="3018396"/>
            <a:ext cx="3059085" cy="151345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485271" y="3239559"/>
            <a:ext cx="2849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模型设计：邱嘉堃，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闫皇冲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485271" y="3596456"/>
            <a:ext cx="2926082" cy="530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修改并上次的数据库设计，设计符合当前系统架构的数据库，绘制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ER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图，维护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数据库。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635189" y="2769648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02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图片 5" descr="er-diagram-original-layout-fixed-no-touch.draw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2380" y="1595755"/>
            <a:ext cx="8072755" cy="44564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/>
      <p:bldP spid="15" grpId="0"/>
      <p:bldP spid="1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数据库设计：邱嘉堃，闫皇冲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352268" y="3018396"/>
            <a:ext cx="3059085" cy="151345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485271" y="3239559"/>
            <a:ext cx="2849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模型设计：邱嘉堃，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闫皇冲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485271" y="3596456"/>
            <a:ext cx="2926082" cy="530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修改并上次的数据库设计，设计符合当前系统架构的数据库，绘制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ER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图，维护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数据库。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635189" y="2769648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02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315" y="1722755"/>
            <a:ext cx="8364220" cy="403987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/>
      <p:bldP spid="15" grpId="0"/>
      <p:bldP spid="1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前端设计与开发：李伟鹏、褚茂</a:t>
            </a:r>
            <a:r>
              <a:rPr lang="zh-CN" altLang="en-US"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誉</a:t>
            </a:r>
            <a:endParaRPr lang="zh-CN" altLang="en-US"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62733" y="3026016"/>
            <a:ext cx="3059085" cy="151345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395736" y="3247179"/>
            <a:ext cx="2773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前端开发：李伟鹏，褚茂誉</a:t>
            </a:r>
            <a:endParaRPr lang="zh-CN" alt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>
          <a:xfrm>
            <a:off x="395736" y="3604076"/>
            <a:ext cx="2926082" cy="988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集成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Element Plus UI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组件库；配置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Vue Router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（路由守卫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+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动态菜单）；配置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Pinia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状态管理（用户信息存储）；封装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Axios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请求（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utils/request.js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，含请求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响应拦截器）；实现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AdminLayout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布局（顶部栏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+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侧边栏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+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内容区）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 19"/>
          <p:cNvSpPr/>
          <p:nvPr>
            <p:custDataLst>
              <p:tags r:id="rId5"/>
            </p:custDataLst>
          </p:nvPr>
        </p:nvSpPr>
        <p:spPr>
          <a:xfrm>
            <a:off x="678369" y="2776633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03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2500" y="1596390"/>
            <a:ext cx="8590915" cy="42646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/>
      <p:bldP spid="19" grpId="0"/>
      <p:bldP spid="20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前端设计与开发：李伟鹏、褚茂誉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47" name="AutoShape 4"/>
          <p:cNvSpPr/>
          <p:nvPr/>
        </p:nvSpPr>
        <p:spPr>
          <a:xfrm>
            <a:off x="622300" y="1054100"/>
            <a:ext cx="10795000" cy="1460500"/>
          </a:xfrm>
          <a:prstGeom prst="roundRect">
            <a:avLst>
              <a:gd name="adj" fmla="val 0"/>
            </a:avLst>
          </a:prstGeom>
          <a:solidFill>
            <a:srgbClr val="F5F7FA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5"/>
          <p:cNvSpPr/>
          <p:nvPr/>
        </p:nvSpPr>
        <p:spPr>
          <a:xfrm>
            <a:off x="685800" y="1117600"/>
            <a:ext cx="2070100" cy="1333500"/>
          </a:xfrm>
          <a:prstGeom prst="roundRect">
            <a:avLst>
              <a:gd name="adj" fmla="val 0"/>
            </a:avLst>
          </a:prstGeom>
          <a:solidFill>
            <a:srgbClr val="1E90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6"/>
          <p:cNvSpPr/>
          <p:nvPr/>
        </p:nvSpPr>
        <p:spPr>
          <a:xfrm>
            <a:off x="685800" y="1117600"/>
            <a:ext cx="20701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7"/>
          <p:cNvSpPr/>
          <p:nvPr/>
        </p:nvSpPr>
        <p:spPr>
          <a:xfrm>
            <a:off x="749300" y="1181100"/>
            <a:ext cx="1943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api/ 接口层</a:t>
            </a:r>
            <a:endParaRPr lang="en-US" sz="1100"/>
          </a:p>
        </p:txBody>
      </p:sp>
      <p:sp>
        <p:nvSpPr>
          <p:cNvPr id="51" name="AutoShape 8"/>
          <p:cNvSpPr/>
          <p:nvPr/>
        </p:nvSpPr>
        <p:spPr>
          <a:xfrm>
            <a:off x="749300" y="1562100"/>
            <a:ext cx="1943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按业务模块封装后端请求，统一处理响应格式与网络错误，为上层提供干净的数据服务。</a:t>
            </a:r>
            <a:endParaRPr lang="en-US" sz="1100"/>
          </a:p>
        </p:txBody>
      </p:sp>
      <p:sp>
        <p:nvSpPr>
          <p:cNvPr id="52" name="AutoShape 9"/>
          <p:cNvSpPr/>
          <p:nvPr/>
        </p:nvSpPr>
        <p:spPr>
          <a:xfrm>
            <a:off x="2832100" y="1117600"/>
            <a:ext cx="2070100" cy="1333500"/>
          </a:xfrm>
          <a:prstGeom prst="roundRect">
            <a:avLst>
              <a:gd name="adj" fmla="val 0"/>
            </a:avLst>
          </a:prstGeom>
          <a:solidFill>
            <a:srgbClr val="1E90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10"/>
          <p:cNvSpPr/>
          <p:nvPr/>
        </p:nvSpPr>
        <p:spPr>
          <a:xfrm>
            <a:off x="2832100" y="1117600"/>
            <a:ext cx="20701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11"/>
          <p:cNvSpPr/>
          <p:nvPr/>
        </p:nvSpPr>
        <p:spPr>
          <a:xfrm>
            <a:off x="2895600" y="1181100"/>
            <a:ext cx="1943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components/ 组件层</a:t>
            </a:r>
            <a:endParaRPr lang="en-US" sz="1100"/>
          </a:p>
        </p:txBody>
      </p:sp>
      <p:sp>
        <p:nvSpPr>
          <p:cNvPr id="55" name="AutoShape 12"/>
          <p:cNvSpPr/>
          <p:nvPr/>
        </p:nvSpPr>
        <p:spPr>
          <a:xfrm>
            <a:off x="2895600" y="1562100"/>
            <a:ext cx="1943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沉淀通用业务组件与基础UI组件，统一视觉语言，减少重复开发，提升页面构建效率。</a:t>
            </a:r>
            <a:endParaRPr lang="en-US" sz="1100"/>
          </a:p>
        </p:txBody>
      </p:sp>
      <p:sp>
        <p:nvSpPr>
          <p:cNvPr id="56" name="AutoShape 13"/>
          <p:cNvSpPr/>
          <p:nvPr/>
        </p:nvSpPr>
        <p:spPr>
          <a:xfrm>
            <a:off x="4978400" y="1117600"/>
            <a:ext cx="2070100" cy="1333500"/>
          </a:xfrm>
          <a:prstGeom prst="roundRect">
            <a:avLst>
              <a:gd name="adj" fmla="val 0"/>
            </a:avLst>
          </a:prstGeom>
          <a:solidFill>
            <a:srgbClr val="1E90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14"/>
          <p:cNvSpPr/>
          <p:nvPr/>
        </p:nvSpPr>
        <p:spPr>
          <a:xfrm>
            <a:off x="4978400" y="1117600"/>
            <a:ext cx="20701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AutoShape 15"/>
          <p:cNvSpPr/>
          <p:nvPr/>
        </p:nvSpPr>
        <p:spPr>
          <a:xfrm>
            <a:off x="5041900" y="1181100"/>
            <a:ext cx="1943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router/ 路由层</a:t>
            </a:r>
            <a:endParaRPr lang="en-US" sz="1100"/>
          </a:p>
        </p:txBody>
      </p:sp>
      <p:sp>
        <p:nvSpPr>
          <p:cNvPr id="59" name="AutoShape 16"/>
          <p:cNvSpPr/>
          <p:nvPr/>
        </p:nvSpPr>
        <p:spPr>
          <a:xfrm>
            <a:off x="5041900" y="1562100"/>
            <a:ext cx="1943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定义SPA页面访问路径，集成全局导航守卫，在页面跳转时执行权限检查与状态预处理。</a:t>
            </a:r>
            <a:endParaRPr lang="en-US" sz="1100"/>
          </a:p>
        </p:txBody>
      </p:sp>
      <p:sp>
        <p:nvSpPr>
          <p:cNvPr id="60" name="AutoShape 17"/>
          <p:cNvSpPr/>
          <p:nvPr/>
        </p:nvSpPr>
        <p:spPr>
          <a:xfrm>
            <a:off x="7124700" y="1117600"/>
            <a:ext cx="2070100" cy="1333500"/>
          </a:xfrm>
          <a:prstGeom prst="roundRect">
            <a:avLst>
              <a:gd name="adj" fmla="val 0"/>
            </a:avLst>
          </a:prstGeom>
          <a:solidFill>
            <a:srgbClr val="1E90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AutoShape 18"/>
          <p:cNvSpPr/>
          <p:nvPr/>
        </p:nvSpPr>
        <p:spPr>
          <a:xfrm>
            <a:off x="7124700" y="1117600"/>
            <a:ext cx="20701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AutoShape 19"/>
          <p:cNvSpPr/>
          <p:nvPr/>
        </p:nvSpPr>
        <p:spPr>
          <a:xfrm>
            <a:off x="7188200" y="1181100"/>
            <a:ext cx="1943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stores/ 状态层</a:t>
            </a:r>
            <a:endParaRPr lang="en-US" sz="1100"/>
          </a:p>
        </p:txBody>
      </p:sp>
      <p:sp>
        <p:nvSpPr>
          <p:cNvPr id="63" name="AutoShape 20"/>
          <p:cNvSpPr/>
          <p:nvPr/>
        </p:nvSpPr>
        <p:spPr>
          <a:xfrm>
            <a:off x="7188200" y="1562100"/>
            <a:ext cx="1943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基于Pinia集中管理用户信息、权限令牌及全局业务状态，实现跨组件的高效数据共享。</a:t>
            </a:r>
            <a:endParaRPr lang="en-US" sz="1100"/>
          </a:p>
        </p:txBody>
      </p:sp>
      <p:sp>
        <p:nvSpPr>
          <p:cNvPr id="64" name="AutoShape 21"/>
          <p:cNvSpPr/>
          <p:nvPr/>
        </p:nvSpPr>
        <p:spPr>
          <a:xfrm>
            <a:off x="9271000" y="1117600"/>
            <a:ext cx="2070100" cy="1333500"/>
          </a:xfrm>
          <a:prstGeom prst="roundRect">
            <a:avLst>
              <a:gd name="adj" fmla="val 0"/>
            </a:avLst>
          </a:prstGeom>
          <a:solidFill>
            <a:srgbClr val="1E90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5" name="AutoShape 22"/>
          <p:cNvSpPr/>
          <p:nvPr/>
        </p:nvSpPr>
        <p:spPr>
          <a:xfrm>
            <a:off x="9271000" y="1117600"/>
            <a:ext cx="20701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6" name="AutoShape 23"/>
          <p:cNvSpPr/>
          <p:nvPr/>
        </p:nvSpPr>
        <p:spPr>
          <a:xfrm>
            <a:off x="9334500" y="1181100"/>
            <a:ext cx="1943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views/ 视图层</a:t>
            </a:r>
            <a:endParaRPr lang="en-US" sz="1100"/>
          </a:p>
        </p:txBody>
      </p:sp>
      <p:sp>
        <p:nvSpPr>
          <p:cNvPr id="67" name="AutoShape 24"/>
          <p:cNvSpPr/>
          <p:nvPr/>
        </p:nvSpPr>
        <p:spPr>
          <a:xfrm>
            <a:off x="9334500" y="1562100"/>
            <a:ext cx="1943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按业务域与角色划分页面目录，承载具体的业务逻辑与用户交互，是架构的最终呈现端。</a:t>
            </a:r>
            <a:endParaRPr lang="en-US" sz="1100"/>
          </a:p>
        </p:txBody>
      </p:sp>
      <p:sp>
        <p:nvSpPr>
          <p:cNvPr id="68" name="AutoShape 25"/>
          <p:cNvSpPr/>
          <p:nvPr/>
        </p:nvSpPr>
        <p:spPr>
          <a:xfrm>
            <a:off x="622300" y="27051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E9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9" name="AutoShape 26"/>
          <p:cNvSpPr/>
          <p:nvPr/>
        </p:nvSpPr>
        <p:spPr>
          <a:xfrm>
            <a:off x="622300" y="2705100"/>
            <a:ext cx="52705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0" name="AutoShape 27"/>
          <p:cNvSpPr/>
          <p:nvPr/>
        </p:nvSpPr>
        <p:spPr>
          <a:xfrm>
            <a:off x="812800" y="28067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核心组件：宏观支撑矩阵配置页</a:t>
            </a:r>
            <a:endParaRPr lang="en-US" sz="1100"/>
          </a:p>
        </p:txBody>
      </p:sp>
      <p:sp>
        <p:nvSpPr>
          <p:cNvPr id="71" name="AutoShape 28"/>
          <p:cNvSpPr/>
          <p:nvPr/>
        </p:nvSpPr>
        <p:spPr>
          <a:xfrm>
            <a:off x="812800" y="32131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基于el-table实现动态列矩阵布局，支持单元格实时编辑。核心特性包括：</a:t>
            </a: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实时校验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（失焦自动计算合计，非1.0数值即时标红预警）与</a:t>
            </a: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交互增强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（鼠标悬停触发十字准星高亮，锁定当前操作维度）。这一设计将复杂的配置工作转化为直观、低容错的操作体验，显著降低用户失误率。</a:t>
            </a:r>
            <a:endParaRPr lang="en-US" sz="1100"/>
          </a:p>
        </p:txBody>
      </p:sp>
      <p:sp>
        <p:nvSpPr>
          <p:cNvPr id="72" name="AutoShape 29"/>
          <p:cNvSpPr/>
          <p:nvPr/>
        </p:nvSpPr>
        <p:spPr>
          <a:xfrm>
            <a:off x="6083300" y="27051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E9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3" name="AutoShape 30"/>
          <p:cNvSpPr/>
          <p:nvPr/>
        </p:nvSpPr>
        <p:spPr>
          <a:xfrm>
            <a:off x="6083300" y="2705100"/>
            <a:ext cx="52705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4" name="AutoShape 31"/>
          <p:cNvSpPr/>
          <p:nvPr/>
        </p:nvSpPr>
        <p:spPr>
          <a:xfrm>
            <a:off x="6273800" y="28067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核心组件：成绩导入与预览页</a:t>
            </a:r>
            <a:endParaRPr lang="en-US" sz="1100"/>
          </a:p>
        </p:txBody>
      </p:sp>
      <p:sp>
        <p:nvSpPr>
          <p:cNvPr id="75" name="AutoShape 32"/>
          <p:cNvSpPr/>
          <p:nvPr/>
        </p:nvSpPr>
        <p:spPr>
          <a:xfrm>
            <a:off x="6273800" y="32131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重构传统表单流程，支持Excel文件拖拽上传与前端即时解析。系统自动识别数据完整性，将缺失关键信息的单元格高亮为黄色，引导教师在预览阶段直接在线补录，避免了“上传-报错-修正-重传”的低效循环，大幅缩短了数据处理周期。</a:t>
            </a:r>
            <a:endParaRPr lang="en-US" sz="1100"/>
          </a:p>
        </p:txBody>
      </p:sp>
      <p:sp>
        <p:nvSpPr>
          <p:cNvPr id="76" name="AutoShape 33"/>
          <p:cNvSpPr/>
          <p:nvPr/>
        </p:nvSpPr>
        <p:spPr>
          <a:xfrm>
            <a:off x="622300" y="4673600"/>
            <a:ext cx="6731000" cy="1587500"/>
          </a:xfrm>
          <a:prstGeom prst="roundRect">
            <a:avLst>
              <a:gd name="adj" fmla="val 0"/>
            </a:avLst>
          </a:prstGeom>
          <a:solidFill>
            <a:srgbClr val="F0F6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7" name="AutoShape 34"/>
          <p:cNvSpPr/>
          <p:nvPr/>
        </p:nvSpPr>
        <p:spPr>
          <a:xfrm>
            <a:off x="622300" y="4673600"/>
            <a:ext cx="50800" cy="1587500"/>
          </a:xfrm>
          <a:prstGeom prst="roundRect">
            <a:avLst>
              <a:gd name="adj" fmla="val 0"/>
            </a:avLst>
          </a:prstGeom>
          <a:solidFill>
            <a:srgbClr val="1E90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8" name="AutoShape 35"/>
          <p:cNvSpPr/>
          <p:nvPr/>
        </p:nvSpPr>
        <p:spPr>
          <a:xfrm>
            <a:off x="812800" y="4737100"/>
            <a:ext cx="622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路由与权限守卫体系</a:t>
            </a:r>
            <a:endParaRPr lang="en-US" sz="1100"/>
          </a:p>
        </p:txBody>
      </p:sp>
      <p:sp>
        <p:nvSpPr>
          <p:cNvPr id="79" name="AutoShape 36"/>
          <p:cNvSpPr/>
          <p:nvPr/>
        </p:nvSpPr>
        <p:spPr>
          <a:xfrm>
            <a:off x="812800" y="5118100"/>
            <a:ext cx="635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采用“静态路由定义+动态角色校验”模式。在路由表中预配置每个路径的可访问角色列表，全局前置守卫在导航阶段自动检查Pinia中存储的当前用户角色信息。对于无权限访问的资源，系统执行拦截并跳转至友好提示页，既保障了数据安全，又实现了无感知的权限隔离。</a:t>
            </a:r>
            <a:endParaRPr lang="en-US" sz="1100"/>
          </a:p>
        </p:txBody>
      </p:sp>
      <p:sp>
        <p:nvSpPr>
          <p:cNvPr id="80" name="AutoShape 37"/>
          <p:cNvSpPr/>
          <p:nvPr/>
        </p:nvSpPr>
        <p:spPr>
          <a:xfrm>
            <a:off x="7607300" y="4673600"/>
            <a:ext cx="3873500" cy="1587500"/>
          </a:xfrm>
          <a:prstGeom prst="roundRect">
            <a:avLst>
              <a:gd name="adj" fmla="val 0"/>
            </a:avLst>
          </a:prstGeom>
          <a:solidFill>
            <a:srgbClr val="1E90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1" name="AutoShape 38"/>
          <p:cNvSpPr/>
          <p:nvPr/>
        </p:nvSpPr>
        <p:spPr>
          <a:xfrm>
            <a:off x="7607300" y="4673600"/>
            <a:ext cx="3873500" cy="25400"/>
          </a:xfrm>
          <a:prstGeom prst="roundRect">
            <a:avLst>
              <a:gd name="adj" fmla="val 0"/>
            </a:avLst>
          </a:prstGeom>
          <a:solidFill>
            <a:srgbClr val="1E90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2" name="AutoShape 39"/>
          <p:cNvSpPr/>
          <p:nvPr/>
        </p:nvSpPr>
        <p:spPr>
          <a:xfrm>
            <a:off x="7734300" y="4737100"/>
            <a:ext cx="361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5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体验与架构的平衡</a:t>
            </a:r>
            <a:endParaRPr lang="en-US" sz="1100"/>
          </a:p>
        </p:txBody>
      </p:sp>
      <p:sp>
        <p:nvSpPr>
          <p:cNvPr id="83" name="AutoShape 40"/>
          <p:cNvSpPr/>
          <p:nvPr/>
        </p:nvSpPr>
        <p:spPr>
          <a:xfrm>
            <a:off x="7734300" y="5118100"/>
            <a:ext cx="361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在保证代码高内聚、低耦合的同时，将技术能力转化为用户价值。通过即时反馈、可视化辅助与交互优化，让复杂的业务配置变得简单直观，达成技术架构稳健性与用户体验流畅性的双重目标。</a:t>
            </a:r>
            <a:endParaRPr lang="en-US" sz="11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前端设计与开发：李伟鹏、褚茂</a:t>
            </a:r>
            <a:r>
              <a:rPr lang="zh-CN" altLang="en-US"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誉</a:t>
            </a:r>
            <a:endParaRPr lang="zh-CN" altLang="en-US"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487523" y="3026016"/>
            <a:ext cx="3059085" cy="151345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620526" y="3247179"/>
            <a:ext cx="2773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前端开发：李伟鹏，褚茂誉</a:t>
            </a:r>
            <a:endParaRPr lang="zh-CN" alt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>
          <a:xfrm>
            <a:off x="620526" y="3604076"/>
            <a:ext cx="2926082" cy="988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集成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Element Plus UI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组件库；配置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Vue Router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（路由守卫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+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动态菜单）；配置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Pinia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状态管理（用户信息存储）；封装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Axios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请求（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utils/request.js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，含请求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响应拦截器）；实现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AdminLayout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布局（顶部栏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+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侧边栏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+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内容区）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 19"/>
          <p:cNvSpPr/>
          <p:nvPr>
            <p:custDataLst>
              <p:tags r:id="rId5"/>
            </p:custDataLst>
          </p:nvPr>
        </p:nvSpPr>
        <p:spPr>
          <a:xfrm>
            <a:off x="903159" y="2776633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03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rcRect r="31403" b="-1087"/>
          <a:stretch>
            <a:fillRect/>
          </a:stretch>
        </p:blipFill>
        <p:spPr>
          <a:xfrm>
            <a:off x="4012565" y="1146175"/>
            <a:ext cx="6814185" cy="51041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/>
      <p:bldP spid="19" grpId="0"/>
      <p:bldP spid="20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前端设计与开发：李伟鹏、褚茂誉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487523" y="3026016"/>
            <a:ext cx="3059085" cy="151345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620526" y="3247179"/>
            <a:ext cx="2773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前端开发：李伟鹏，褚茂誉</a:t>
            </a:r>
            <a:endParaRPr lang="zh-CN" alt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>
          <a:xfrm>
            <a:off x="620526" y="3604076"/>
            <a:ext cx="2926082" cy="988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集成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Element Plus UI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组件库；配置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Vue Router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（路由守卫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+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动态菜单）；配置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Pinia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状态管理（用户信息存储）；封装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Axios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请求（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utils/request.js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，含请求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响应拦截器）；实现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AdminLayout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布局（顶部栏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+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侧边栏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+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内容区）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 19"/>
          <p:cNvSpPr/>
          <p:nvPr>
            <p:custDataLst>
              <p:tags r:id="rId5"/>
            </p:custDataLst>
          </p:nvPr>
        </p:nvSpPr>
        <p:spPr>
          <a:xfrm>
            <a:off x="903159" y="2776633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03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r="31059" b="155"/>
          <a:stretch>
            <a:fillRect/>
          </a:stretch>
        </p:blipFill>
        <p:spPr>
          <a:xfrm>
            <a:off x="4472305" y="990600"/>
            <a:ext cx="5934075" cy="552069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/>
      <p:bldP spid="19" grpId="0"/>
      <p:bldP spid="20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后端开发：刘辉艺，吴</a:t>
            </a:r>
            <a:r>
              <a:rPr lang="zh-CN" altLang="en-US" sz="28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思雨</a:t>
            </a:r>
            <a:endParaRPr lang="zh-CN" altLang="en-US"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300990" y="2769870"/>
            <a:ext cx="3121025" cy="2178685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398276" y="2991274"/>
            <a:ext cx="2773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后端开发：刘辉艺，吴思</a:t>
            </a:r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雨</a:t>
            </a:r>
            <a:endParaRPr lang="zh-CN" alt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矩形 22"/>
          <p:cNvSpPr/>
          <p:nvPr>
            <p:custDataLst>
              <p:tags r:id="rId4"/>
            </p:custDataLst>
          </p:nvPr>
        </p:nvSpPr>
        <p:spPr>
          <a:xfrm>
            <a:off x="398276" y="3298006"/>
            <a:ext cx="2926082" cy="1691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①搭建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Boot 3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后端项目基础框架，统一代码结构和开发规范；②创建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Maven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多模块项目结构（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common / dao / service / web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）；③引入核心依赖：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Spring Boot 3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MyBatis-Plus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Lombok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Hutool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；④配置多环境配置文件（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dev / test / prod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⑤统一返回格式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Result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和全局异常处理；集成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Security + JWT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认证框架。</a:t>
            </a: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矩形 23"/>
          <p:cNvSpPr/>
          <p:nvPr>
            <p:custDataLst>
              <p:tags r:id="rId5"/>
            </p:custDataLst>
          </p:nvPr>
        </p:nvSpPr>
        <p:spPr>
          <a:xfrm>
            <a:off x="842834" y="2520728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575" y="1663700"/>
            <a:ext cx="8380730" cy="454025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/>
      <p:bldP spid="23" grpId="0"/>
      <p:bldP spid="2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后端开发：刘辉艺，吴思雨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43" name="AutoShape 4"/>
          <p:cNvSpPr/>
          <p:nvPr/>
        </p:nvSpPr>
        <p:spPr>
          <a:xfrm>
            <a:off x="571500" y="122682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1E90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5"/>
          <p:cNvSpPr/>
          <p:nvPr/>
        </p:nvSpPr>
        <p:spPr>
          <a:xfrm>
            <a:off x="571500" y="1226820"/>
            <a:ext cx="34925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6"/>
          <p:cNvSpPr/>
          <p:nvPr/>
        </p:nvSpPr>
        <p:spPr>
          <a:xfrm>
            <a:off x="698500" y="137922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9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基础配置层 /config</a:t>
            </a:r>
            <a:endParaRPr lang="en-US" sz="1100"/>
          </a:p>
        </p:txBody>
      </p:sp>
      <p:sp>
        <p:nvSpPr>
          <p:cNvPr id="46" name="AutoShape 7"/>
          <p:cNvSpPr/>
          <p:nvPr/>
        </p:nvSpPr>
        <p:spPr>
          <a:xfrm>
            <a:off x="698500" y="1861820"/>
            <a:ext cx="323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集中管理系统全局配置参数，包含数据库连接、服务端口、第三方API密钥及环境变量映射，实现配置与业务逻辑的解耦，支持多环境灵活切换部署。</a:t>
            </a:r>
            <a:endParaRPr lang="en-US" sz="1100"/>
          </a:p>
        </p:txBody>
      </p:sp>
      <p:sp>
        <p:nvSpPr>
          <p:cNvPr id="47" name="AutoShape 8"/>
          <p:cNvSpPr/>
          <p:nvPr/>
        </p:nvSpPr>
        <p:spPr>
          <a:xfrm>
            <a:off x="4254500" y="122682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1E90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9"/>
          <p:cNvSpPr/>
          <p:nvPr/>
        </p:nvSpPr>
        <p:spPr>
          <a:xfrm>
            <a:off x="4254500" y="1226820"/>
            <a:ext cx="34925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10"/>
          <p:cNvSpPr/>
          <p:nvPr/>
        </p:nvSpPr>
        <p:spPr>
          <a:xfrm>
            <a:off x="4381500" y="137922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9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安全认证层 /security</a:t>
            </a:r>
            <a:endParaRPr lang="en-US" sz="1100"/>
          </a:p>
        </p:txBody>
      </p:sp>
      <p:sp>
        <p:nvSpPr>
          <p:cNvPr id="50" name="AutoShape 11"/>
          <p:cNvSpPr/>
          <p:nvPr/>
        </p:nvSpPr>
        <p:spPr>
          <a:xfrm>
            <a:off x="4381500" y="1861820"/>
            <a:ext cx="323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封装统一的鉴权与授权逻辑，集成JWT令牌校验、RBAC权限模型及接口访问控制。为系统提供坚实的安全屏障，确保用户身份合法性与数据访问安全性。</a:t>
            </a:r>
            <a:endParaRPr lang="en-US" sz="1100"/>
          </a:p>
        </p:txBody>
      </p:sp>
      <p:sp>
        <p:nvSpPr>
          <p:cNvPr id="51" name="AutoShape 12"/>
          <p:cNvSpPr/>
          <p:nvPr/>
        </p:nvSpPr>
        <p:spPr>
          <a:xfrm>
            <a:off x="7937500" y="122682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1E90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AutoShape 13"/>
          <p:cNvSpPr/>
          <p:nvPr/>
        </p:nvSpPr>
        <p:spPr>
          <a:xfrm>
            <a:off x="7937500" y="1226820"/>
            <a:ext cx="3492500" cy="381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14"/>
          <p:cNvSpPr/>
          <p:nvPr/>
        </p:nvSpPr>
        <p:spPr>
          <a:xfrm>
            <a:off x="8064500" y="137922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9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通用核心层 /common</a:t>
            </a:r>
            <a:endParaRPr lang="en-US" sz="1100"/>
          </a:p>
        </p:txBody>
      </p:sp>
      <p:sp>
        <p:nvSpPr>
          <p:cNvPr id="54" name="AutoShape 15"/>
          <p:cNvSpPr/>
          <p:nvPr/>
        </p:nvSpPr>
        <p:spPr>
          <a:xfrm>
            <a:off x="8064500" y="1861820"/>
            <a:ext cx="323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提供跨业务通用能力。包含标准化API响应体(Result.java)与全局异常拦截器，统一系统数据返回格式，自动捕获处理运行时异常，提升开发效率与接口稳定性。</a:t>
            </a:r>
            <a:endParaRPr lang="en-US" sz="1100"/>
          </a:p>
        </p:txBody>
      </p:sp>
      <p:sp>
        <p:nvSpPr>
          <p:cNvPr id="55" name="AutoShape 16"/>
          <p:cNvSpPr/>
          <p:nvPr/>
        </p:nvSpPr>
        <p:spPr>
          <a:xfrm>
            <a:off x="571500" y="3131820"/>
            <a:ext cx="273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9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AutoShape 17"/>
          <p:cNvSpPr/>
          <p:nvPr/>
        </p:nvSpPr>
        <p:spPr>
          <a:xfrm>
            <a:off x="571500" y="3131820"/>
            <a:ext cx="2730500" cy="25400"/>
          </a:xfrm>
          <a:prstGeom prst="roundRect">
            <a:avLst>
              <a:gd name="adj" fmla="val 0"/>
            </a:avLst>
          </a:prstGeom>
          <a:solidFill>
            <a:srgbClr val="1E90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18"/>
          <p:cNvSpPr/>
          <p:nvPr/>
        </p:nvSpPr>
        <p:spPr>
          <a:xfrm>
            <a:off x="673100" y="323342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Module A · 宏观数据</a:t>
            </a:r>
            <a:endParaRPr lang="en-US" sz="1100"/>
          </a:p>
        </p:txBody>
      </p:sp>
      <p:sp>
        <p:nvSpPr>
          <p:cNvPr id="58" name="AutoShape 19"/>
          <p:cNvSpPr/>
          <p:nvPr/>
        </p:nvSpPr>
        <p:spPr>
          <a:xfrm>
            <a:off x="673100" y="370332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负责毕业要求指标、课程体系框架及宏观达成度矩阵的核心数据建模与管理。作为系统的基础底座，为上层业务提供标准化的顶层数据结构支持。</a:t>
            </a:r>
            <a:endParaRPr lang="en-US" sz="1100"/>
          </a:p>
        </p:txBody>
      </p:sp>
      <p:sp>
        <p:nvSpPr>
          <p:cNvPr id="59" name="AutoShape 20"/>
          <p:cNvSpPr/>
          <p:nvPr/>
        </p:nvSpPr>
        <p:spPr>
          <a:xfrm>
            <a:off x="3429000" y="3131820"/>
            <a:ext cx="273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9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0" name="AutoShape 21"/>
          <p:cNvSpPr/>
          <p:nvPr/>
        </p:nvSpPr>
        <p:spPr>
          <a:xfrm>
            <a:off x="3429000" y="3131820"/>
            <a:ext cx="2730500" cy="25400"/>
          </a:xfrm>
          <a:prstGeom prst="roundRect">
            <a:avLst>
              <a:gd name="adj" fmla="val 0"/>
            </a:avLst>
          </a:prstGeom>
          <a:solidFill>
            <a:srgbClr val="1E90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AutoShape 22"/>
          <p:cNvSpPr/>
          <p:nvPr/>
        </p:nvSpPr>
        <p:spPr>
          <a:xfrm>
            <a:off x="3530600" y="323342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Module B · 微观映射</a:t>
            </a:r>
            <a:endParaRPr lang="en-US" sz="1100"/>
          </a:p>
        </p:txBody>
      </p:sp>
      <p:sp>
        <p:nvSpPr>
          <p:cNvPr id="62" name="AutoShape 23"/>
          <p:cNvSpPr/>
          <p:nvPr/>
        </p:nvSpPr>
        <p:spPr>
          <a:xfrm>
            <a:off x="3530600" y="370332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聚焦课程大纲的数字化落地。管理课程教学目标、考核方式与权重分配，建立课程目标到毕业要求的微观支撑关系，实现评价标准的精细化定义。</a:t>
            </a:r>
            <a:endParaRPr lang="en-US" sz="1100"/>
          </a:p>
        </p:txBody>
      </p:sp>
      <p:sp>
        <p:nvSpPr>
          <p:cNvPr id="63" name="AutoShape 24"/>
          <p:cNvSpPr/>
          <p:nvPr/>
        </p:nvSpPr>
        <p:spPr>
          <a:xfrm>
            <a:off x="6286500" y="3131820"/>
            <a:ext cx="273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9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4" name="AutoShape 25"/>
          <p:cNvSpPr/>
          <p:nvPr/>
        </p:nvSpPr>
        <p:spPr>
          <a:xfrm>
            <a:off x="6286500" y="3131820"/>
            <a:ext cx="2730500" cy="25400"/>
          </a:xfrm>
          <a:prstGeom prst="roundRect">
            <a:avLst>
              <a:gd name="adj" fmla="val 0"/>
            </a:avLst>
          </a:prstGeom>
          <a:solidFill>
            <a:srgbClr val="1E90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5" name="AutoShape 26"/>
          <p:cNvSpPr/>
          <p:nvPr/>
        </p:nvSpPr>
        <p:spPr>
          <a:xfrm>
            <a:off x="6388100" y="323342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Module C · 评价执行</a:t>
            </a:r>
            <a:endParaRPr lang="en-US" sz="1100"/>
          </a:p>
        </p:txBody>
      </p:sp>
      <p:sp>
        <p:nvSpPr>
          <p:cNvPr id="66" name="AutoShape 27"/>
          <p:cNvSpPr/>
          <p:nvPr/>
        </p:nvSpPr>
        <p:spPr>
          <a:xfrm>
            <a:off x="6388100" y="370332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处理核心业务流转。支持多维度成绩数据的批量导入与校验，自动触发达成度计算引擎。提供直接评价与间接评价的数据接入能力，驱动业务流程闭环。</a:t>
            </a:r>
            <a:endParaRPr lang="en-US" sz="1100"/>
          </a:p>
        </p:txBody>
      </p:sp>
      <p:sp>
        <p:nvSpPr>
          <p:cNvPr id="67" name="AutoShape 28"/>
          <p:cNvSpPr/>
          <p:nvPr/>
        </p:nvSpPr>
        <p:spPr>
          <a:xfrm>
            <a:off x="9144000" y="3131820"/>
            <a:ext cx="273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9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8" name="AutoShape 29"/>
          <p:cNvSpPr/>
          <p:nvPr/>
        </p:nvSpPr>
        <p:spPr>
          <a:xfrm>
            <a:off x="9144000" y="3131820"/>
            <a:ext cx="2730500" cy="25400"/>
          </a:xfrm>
          <a:prstGeom prst="roundRect">
            <a:avLst>
              <a:gd name="adj" fmla="val 0"/>
            </a:avLst>
          </a:prstGeom>
          <a:solidFill>
            <a:srgbClr val="1E90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9" name="AutoShape 30"/>
          <p:cNvSpPr/>
          <p:nvPr/>
        </p:nvSpPr>
        <p:spPr>
          <a:xfrm>
            <a:off x="9245600" y="323342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Module D · 成果输出</a:t>
            </a:r>
            <a:endParaRPr lang="en-US" sz="1100"/>
          </a:p>
        </p:txBody>
      </p:sp>
      <p:sp>
        <p:nvSpPr>
          <p:cNvPr id="70" name="AutoShape 31"/>
          <p:cNvSpPr/>
          <p:nvPr/>
        </p:nvSpPr>
        <p:spPr>
          <a:xfrm>
            <a:off x="9245600" y="370332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生成与归档业务成果。根据计算结果动态生成达成度分析报表，支持Word/Excel底稿一键导出。满足校内存档与外部评估的双重文档交付需求。</a:t>
            </a:r>
            <a:endParaRPr lang="en-US" sz="1100"/>
          </a:p>
        </p:txBody>
      </p:sp>
      <p:sp>
        <p:nvSpPr>
          <p:cNvPr id="71" name="AutoShape 32"/>
          <p:cNvSpPr/>
          <p:nvPr/>
        </p:nvSpPr>
        <p:spPr>
          <a:xfrm>
            <a:off x="571500" y="5163820"/>
            <a:ext cx="5461000" cy="1206500"/>
          </a:xfrm>
          <a:prstGeom prst="roundRect">
            <a:avLst>
              <a:gd name="adj" fmla="val 0"/>
            </a:avLst>
          </a:prstGeom>
          <a:solidFill>
            <a:srgbClr val="1E90FF">
              <a:alpha val="8000"/>
            </a:srgbClr>
          </a:solidFill>
          <a:ln w="12700" cap="flat" cmpd="sng">
            <a:solidFill>
              <a:srgbClr val="1E9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2" name="AutoShape 33"/>
          <p:cNvSpPr/>
          <p:nvPr/>
        </p:nvSpPr>
        <p:spPr>
          <a:xfrm>
            <a:off x="698500" y="524002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核心计算引擎 /engine — 系统的“大脑”</a:t>
            </a:r>
            <a:endParaRPr lang="en-US" sz="1100"/>
          </a:p>
        </p:txBody>
      </p:sp>
      <p:sp>
        <p:nvSpPr>
          <p:cNvPr id="73" name="AutoShape 34"/>
          <p:cNvSpPr/>
          <p:nvPr/>
        </p:nvSpPr>
        <p:spPr>
          <a:xfrm>
            <a:off x="698500" y="560832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封装复杂的达成度算法与逻辑，独立于业务模块运行。支持动态加载评价模型，根据配置自动完成多维度数据的运算，确保结果的准确性与高效性。</a:t>
            </a:r>
            <a:endParaRPr lang="en-US" sz="1100"/>
          </a:p>
        </p:txBody>
      </p:sp>
      <p:sp>
        <p:nvSpPr>
          <p:cNvPr id="74" name="AutoShape 35"/>
          <p:cNvSpPr/>
          <p:nvPr/>
        </p:nvSpPr>
        <p:spPr>
          <a:xfrm>
            <a:off x="6286500" y="5163820"/>
            <a:ext cx="55245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9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5" name="AutoShape 36"/>
          <p:cNvSpPr/>
          <p:nvPr/>
        </p:nvSpPr>
        <p:spPr>
          <a:xfrm>
            <a:off x="6413500" y="5240020"/>
            <a:ext cx="527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架构设计原则：高内聚 · 低耦合</a:t>
            </a:r>
            <a:endParaRPr lang="en-US" sz="1100"/>
          </a:p>
        </p:txBody>
      </p:sp>
      <p:sp>
        <p:nvSpPr>
          <p:cNvPr id="76" name="AutoShape 37"/>
          <p:cNvSpPr/>
          <p:nvPr/>
        </p:nvSpPr>
        <p:spPr>
          <a:xfrm>
            <a:off x="6413500" y="560832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各功能模块职责边界清晰，通过接口交互，降低模块间依赖。既保证了业务的快速迭代与独立开发，也为未来的系统扩展与维护提供了坚实的架构基础。</a:t>
            </a:r>
            <a:endParaRPr lang="en-US" sz="11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后端开发：刘辉艺，吴思雨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462915" y="2769870"/>
            <a:ext cx="3121025" cy="2178685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560201" y="2991274"/>
            <a:ext cx="2773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后端开发：刘辉艺，</a:t>
            </a:r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吴思雨</a:t>
            </a:r>
            <a:endParaRPr lang="zh-CN" alt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矩形 22"/>
          <p:cNvSpPr/>
          <p:nvPr>
            <p:custDataLst>
              <p:tags r:id="rId4"/>
            </p:custDataLst>
          </p:nvPr>
        </p:nvSpPr>
        <p:spPr>
          <a:xfrm>
            <a:off x="560201" y="3298006"/>
            <a:ext cx="2926082" cy="1691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①搭建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Boot 3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后端项目基础框架，统一代码结构和开发规范；②创建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Maven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多模块项目结构（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common / dao / service / web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）；③引入核心依赖：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Spring Boot 3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MyBatis-Plus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Lombok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Hutool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；④配置多环境配置文件（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dev / test / prod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⑤统一返回格式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Result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和全局异常处理；集成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Security + JWT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认证框架。</a:t>
            </a: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矩形 23"/>
          <p:cNvSpPr/>
          <p:nvPr>
            <p:custDataLst>
              <p:tags r:id="rId5"/>
            </p:custDataLst>
          </p:nvPr>
        </p:nvSpPr>
        <p:spPr>
          <a:xfrm>
            <a:off x="842834" y="2520728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7610" y="936625"/>
            <a:ext cx="8139430" cy="555244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/>
      <p:bldP spid="23" grpId="0"/>
      <p:bldP spid="2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后端开发：刘辉艺，吴思雨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462915" y="2769870"/>
            <a:ext cx="3121025" cy="2178685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560201" y="2991274"/>
            <a:ext cx="2773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后端开发：刘辉艺，</a:t>
            </a:r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吴思雨</a:t>
            </a:r>
            <a:endParaRPr lang="zh-CN" alt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矩形 22"/>
          <p:cNvSpPr/>
          <p:nvPr>
            <p:custDataLst>
              <p:tags r:id="rId4"/>
            </p:custDataLst>
          </p:nvPr>
        </p:nvSpPr>
        <p:spPr>
          <a:xfrm>
            <a:off x="560201" y="3298006"/>
            <a:ext cx="2926082" cy="1691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①搭建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Boot 3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后端项目基础框架，统一代码结构和开发规范；②创建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Maven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多模块项目结构（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common / dao / service / web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）；③引入核心依赖：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Spring Boot 3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MyBatis-Plus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Lombok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Hutool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；④配置多环境配置文件（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dev / test / prod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⑤统一返回格式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Result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和全局异常处理；集成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Security + JWT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认证框架。</a:t>
            </a: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矩形 23"/>
          <p:cNvSpPr/>
          <p:nvPr>
            <p:custDataLst>
              <p:tags r:id="rId5"/>
            </p:custDataLst>
          </p:nvPr>
        </p:nvSpPr>
        <p:spPr>
          <a:xfrm>
            <a:off x="842834" y="2520728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8585" y="956945"/>
            <a:ext cx="7672070" cy="543750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/>
      <p:bldP spid="23" grpId="0"/>
      <p:bldP spid="2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后端开发：刘辉艺，吴思雨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462915" y="2769870"/>
            <a:ext cx="3121025" cy="2178685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560201" y="2991274"/>
            <a:ext cx="2773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后端开发：刘辉艺，</a:t>
            </a:r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吴思雨</a:t>
            </a:r>
            <a:endParaRPr lang="zh-CN" alt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矩形 22"/>
          <p:cNvSpPr/>
          <p:nvPr>
            <p:custDataLst>
              <p:tags r:id="rId4"/>
            </p:custDataLst>
          </p:nvPr>
        </p:nvSpPr>
        <p:spPr>
          <a:xfrm>
            <a:off x="560201" y="3298006"/>
            <a:ext cx="2926082" cy="1691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①搭建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Boot 3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后端项目基础框架，统一代码结构和开发规范；②创建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Maven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多模块项目结构（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common / dao / service / web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）；③引入核心依赖：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Spring Boot 3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MyBatis-Plus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Lombok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Hutool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；④配置多环境配置文件（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dev / test / prod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⑤统一返回格式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Result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和全局异常处理；集成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Security + JWT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认证框架。</a:t>
            </a: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矩形 23"/>
          <p:cNvSpPr/>
          <p:nvPr>
            <p:custDataLst>
              <p:tags r:id="rId5"/>
            </p:custDataLst>
          </p:nvPr>
        </p:nvSpPr>
        <p:spPr>
          <a:xfrm>
            <a:off x="842834" y="2520728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0950" y="1195070"/>
            <a:ext cx="7907655" cy="496824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/>
      <p:bldP spid="23" grpId="0"/>
      <p:bldP spid="2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后端开发：刘辉艺，吴思雨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462915" y="2769870"/>
            <a:ext cx="3121025" cy="2178685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560201" y="2991274"/>
            <a:ext cx="2773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后端开发：刘辉艺，</a:t>
            </a:r>
            <a:r>
              <a:rPr lang="zh-CN" altLang="en-US" sz="1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吴思雨</a:t>
            </a:r>
            <a:endParaRPr lang="zh-CN" alt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矩形 22"/>
          <p:cNvSpPr/>
          <p:nvPr>
            <p:custDataLst>
              <p:tags r:id="rId4"/>
            </p:custDataLst>
          </p:nvPr>
        </p:nvSpPr>
        <p:spPr>
          <a:xfrm>
            <a:off x="560201" y="3298006"/>
            <a:ext cx="2926082" cy="1691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①搭建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Boot 3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后端项目基础框架，统一代码结构和开发规范；②创建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Maven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多模块项目结构（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common / dao / service / web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）；③引入核心依赖：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Spring Boot 3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MyBatis-Plus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Lombok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Hutool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；④配置多环境配置文件（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dev / test / prod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）；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⑤统一返回格式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Result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和全局异常处理；集成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 Spring Security + JWT 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认证框架。</a:t>
            </a: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矩形 23"/>
          <p:cNvSpPr/>
          <p:nvPr>
            <p:custDataLst>
              <p:tags r:id="rId5"/>
            </p:custDataLst>
          </p:nvPr>
        </p:nvSpPr>
        <p:spPr>
          <a:xfrm>
            <a:off x="842834" y="2520728"/>
            <a:ext cx="847898" cy="41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6665" y="1372870"/>
            <a:ext cx="7974330" cy="47790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/>
      <p:bldP spid="23" grpId="0"/>
      <p:bldP spid="2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三级计算流程设计：邱志斌，查琪</a:t>
            </a:r>
            <a:r>
              <a:rPr smtClean="0">
                <a:sym typeface="+mn-lt"/>
              </a:rPr>
              <a:t>乐</a:t>
            </a:r>
            <a:endParaRPr smtClean="0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128905" y="2621915"/>
            <a:ext cx="3285490" cy="23482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261620" y="2843530"/>
            <a:ext cx="3021330" cy="5245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三级计算流程设计：邱志斌，查琪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261620" y="3200400"/>
            <a:ext cx="3143885" cy="1113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设计课程级计算（阶段一）事务流程，专业级计算（阶段二）事务流程，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1188085" y="2254885"/>
            <a:ext cx="866140" cy="588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05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070" y="1576705"/>
            <a:ext cx="8341360" cy="40068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46750" y="986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课程级计算（阶段一）事务流程</a:t>
            </a:r>
            <a:endParaRPr lang="zh-CN" altLang="en-US" dirty="0">
              <a:solidFill>
                <a:schemeClr val="tx1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/>
      <p:bldP spid="27" grpId="0"/>
      <p:bldP spid="28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三级计算流程设计：邱志斌，查琪乐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461645" y="2621915"/>
            <a:ext cx="3285490" cy="23482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594360" y="2843530"/>
            <a:ext cx="3021330" cy="5245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三级计算流程设计：邱志斌，查琪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594360" y="3200400"/>
            <a:ext cx="3143885" cy="1113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设计课程级计算（阶段一）事务流程，专业级计算（阶段二）事务流程，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1520825" y="2254885"/>
            <a:ext cx="866140" cy="588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05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rcRect r="40872" b="-158"/>
          <a:stretch>
            <a:fillRect/>
          </a:stretch>
        </p:blipFill>
        <p:spPr>
          <a:xfrm>
            <a:off x="4758690" y="1479550"/>
            <a:ext cx="6040120" cy="4914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46750" y="986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课程级计算（阶段一）事务流程</a:t>
            </a:r>
            <a:endParaRPr lang="zh-CN" altLang="en-US" dirty="0">
              <a:solidFill>
                <a:schemeClr val="tx1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/>
      <p:bldP spid="27" grpId="0"/>
      <p:bldP spid="28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三级计算流程设计：邱志斌，查琪乐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406400" y="2621915"/>
            <a:ext cx="3285490" cy="23482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539115" y="2843530"/>
            <a:ext cx="3021330" cy="5245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三级计算流程设计：邱志斌，查琪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539115" y="3200400"/>
            <a:ext cx="3143885" cy="1113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设计课程级计算（阶段一）事务流程，专业级计算（阶段二）事务流程，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1465580" y="2254885"/>
            <a:ext cx="866140" cy="588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05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46750" y="904240"/>
            <a:ext cx="406400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dirty="0">
                <a:latin typeface="+mn-ea"/>
                <a:sym typeface="+mn-ea"/>
              </a:rPr>
              <a:t>专业级计算（阶段二）事务流程</a:t>
            </a:r>
            <a:endParaRPr lang="zh-CN" altLang="en-US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435" y="1355090"/>
            <a:ext cx="6003925" cy="517461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/>
      <p:bldP spid="27" grpId="0"/>
      <p:bldP spid="28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三级计算流程设计：邱志斌，查琪乐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10" y="2167255"/>
            <a:ext cx="10380980" cy="28244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09540" y="1483995"/>
            <a:ext cx="177228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两个阶段</a:t>
            </a:r>
            <a:r>
              <a:rPr lang="zh-CN" altLang="en-US"/>
              <a:t>对比</a:t>
            </a:r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后端开发：刘辉艺，吴思雨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406400" y="2621915"/>
            <a:ext cx="3285490" cy="23482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539115" y="2843530"/>
            <a:ext cx="3021330" cy="5245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三级计算流程设计：邱志斌，查琪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539115" y="3200400"/>
            <a:ext cx="3143885" cy="1113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设计课程级计算（阶段一）事务流程，专业级计算（阶段二）事务流程，成绩解锁（勘误工单）流程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1465580" y="2254885"/>
            <a:ext cx="866140" cy="588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05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06795" y="986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成绩解锁（勘误工单）流程</a:t>
            </a:r>
            <a:endParaRPr lang="zh-CN" altLang="en-US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47615" y="1411605"/>
            <a:ext cx="685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成绩锁定后教师无法自行修改，需通过三阶段勘误工单流程解锁：</a:t>
            </a:r>
            <a:endParaRPr lang="zh-CN" altLang="en-US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240" y="1711960"/>
            <a:ext cx="7503795" cy="493522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/>
      <p:bldP spid="27" grpId="0"/>
      <p:bldP spid="2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项目部署：邱志斌，查琪</a:t>
            </a:r>
            <a:r>
              <a:rPr smtClean="0">
                <a:sym typeface="+mn-lt"/>
              </a:rPr>
              <a:t>乐</a:t>
            </a:r>
            <a:endParaRPr smtClean="0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406400" y="2621915"/>
            <a:ext cx="3285490" cy="23482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539115" y="2843530"/>
            <a:ext cx="3021330" cy="5245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项目部署：邱志斌，查琪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539115" y="3200400"/>
            <a:ext cx="3143885" cy="1113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系统使用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docker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容器化部署在云服务器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上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1465580" y="2254885"/>
            <a:ext cx="866140" cy="588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06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9560" y="1249680"/>
            <a:ext cx="7914005" cy="20135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245985" y="8991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docker </a:t>
            </a:r>
            <a:r>
              <a:rPr lang="zh-CN" altLang="en-US"/>
              <a:t>容器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rcRect r="2318" b="15396"/>
          <a:stretch>
            <a:fillRect/>
          </a:stretch>
        </p:blipFill>
        <p:spPr>
          <a:xfrm>
            <a:off x="4099560" y="3948430"/>
            <a:ext cx="7864475" cy="2470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245985" y="3497580"/>
            <a:ext cx="1476375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部署</a:t>
            </a:r>
            <a:r>
              <a:rPr lang="zh-CN" altLang="en-US"/>
              <a:t>目录</a:t>
            </a:r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/>
      <p:bldP spid="27" grpId="0"/>
      <p:bldP spid="28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项目部署：邱志斌，查琪</a:t>
            </a:r>
            <a:r>
              <a:rPr smtClean="0">
                <a:sym typeface="+mn-lt"/>
              </a:rPr>
              <a:t>乐</a:t>
            </a:r>
            <a:endParaRPr smtClean="0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406400" y="2621915"/>
            <a:ext cx="3285490" cy="23482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539115" y="2843530"/>
            <a:ext cx="3021330" cy="5245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项目部署：邱志斌，查琪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539115" y="3200400"/>
            <a:ext cx="3143885" cy="1113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系统使用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docker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容器化部署在云服务器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上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1465580" y="2254885"/>
            <a:ext cx="866140" cy="588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06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2705" y="1318260"/>
            <a:ext cx="8249285" cy="5076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60515" y="920750"/>
            <a:ext cx="231203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docker-compose.yml</a:t>
            </a:r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/>
      <p:bldP spid="27" grpId="0"/>
      <p:bldP spid="28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项目部署：邱志斌，查琪</a:t>
            </a:r>
            <a:r>
              <a:rPr smtClean="0">
                <a:sym typeface="+mn-lt"/>
              </a:rPr>
              <a:t>乐</a:t>
            </a:r>
            <a:endParaRPr smtClean="0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406400" y="2621915"/>
            <a:ext cx="3285490" cy="23482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539115" y="2843530"/>
            <a:ext cx="3021330" cy="5245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项目部署：邱志斌，查琪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539115" y="3200400"/>
            <a:ext cx="3143885" cy="1113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系统使用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docker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容器化部署在云服务器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上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1465580" y="2254885"/>
            <a:ext cx="866140" cy="588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06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60515" y="920750"/>
            <a:ext cx="231203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docker-compose.yml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415" y="1262380"/>
            <a:ext cx="8085455" cy="39712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3070" y="5273040"/>
            <a:ext cx="6217285" cy="148653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/>
      <p:bldP spid="27" grpId="0"/>
      <p:bldP spid="2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项目部署：邱志斌，查琪</a:t>
            </a:r>
            <a:r>
              <a:rPr smtClean="0">
                <a:sym typeface="+mn-lt"/>
              </a:rPr>
              <a:t>乐</a:t>
            </a:r>
            <a:endParaRPr smtClean="0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406400" y="2621915"/>
            <a:ext cx="3285490" cy="23482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539115" y="2843530"/>
            <a:ext cx="3021330" cy="5245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项目部署：邱志斌，查琪</a:t>
            </a:r>
            <a:r>
              <a:rPr lang="zh-CN" altLang="en-US" sz="1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乐</a:t>
            </a:r>
            <a:endParaRPr lang="zh-CN" altLang="en-US" sz="1200" b="1" spc="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539115" y="3200400"/>
            <a:ext cx="3143885" cy="1113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系统使用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docker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容器化部署在云服务器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上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1465580" y="2254885"/>
            <a:ext cx="866140" cy="588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06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270" y="4767580"/>
            <a:ext cx="7633335" cy="18249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rcRect r="2318" b="15396"/>
          <a:stretch>
            <a:fillRect/>
          </a:stretch>
        </p:blipFill>
        <p:spPr>
          <a:xfrm>
            <a:off x="4051935" y="1530985"/>
            <a:ext cx="7864475" cy="2470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198360" y="1080135"/>
            <a:ext cx="1476375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部署</a:t>
            </a:r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65340" y="4313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部署</a:t>
            </a:r>
            <a:r>
              <a:rPr lang="zh-CN" altLang="en-US"/>
              <a:t>命令</a:t>
            </a:r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/>
      <p:bldP spid="27" grpId="0"/>
      <p:bldP spid="28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2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3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2516310" y="3564341"/>
            <a:ext cx="7159380" cy="664210"/>
          </a:xfrm>
        </p:spPr>
        <p:txBody>
          <a:bodyPr/>
          <a:lstStyle/>
          <a:p>
            <a:r>
              <a:rPr sz="4800" smtClean="0">
                <a:sym typeface="+mn-lt"/>
              </a:rPr>
              <a:t>系统</a:t>
            </a:r>
            <a:r>
              <a:rPr sz="4800" smtClean="0">
                <a:sym typeface="+mn-lt"/>
              </a:rPr>
              <a:t>演示</a:t>
            </a:r>
            <a:endParaRPr sz="4800" smtClean="0"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645555" y="2117179"/>
            <a:ext cx="900889" cy="830997"/>
          </a:xfrm>
        </p:spPr>
        <p:txBody>
          <a:bodyPr/>
          <a:lstStyle/>
          <a:p>
            <a:r>
              <a:rPr lang="en-US" altLang="zh-CN" dirty="0">
                <a:sym typeface="+mn-lt"/>
              </a:rPr>
              <a:t>02</a:t>
            </a:r>
            <a:endParaRPr lang="zh-CN" altLang="en-US" dirty="0"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/>
              <a:t>PART </a:t>
            </a:r>
            <a:r>
              <a:rPr lang="en-US" altLang="zh-CN" smtClean="0"/>
              <a:t>TWO</a:t>
            </a:r>
            <a:endParaRPr lang="zh-CN" altLang="en-US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7" name="组合 26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9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8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8" name="组合 17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1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系统</a:t>
            </a:r>
            <a:r>
              <a:rPr smtClean="0">
                <a:sym typeface="+mn-lt"/>
              </a:rPr>
              <a:t>演示</a:t>
            </a:r>
            <a:endParaRPr smtClean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6450"/>
            <a:ext cx="12192000" cy="605155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2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3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1678110" y="3564341"/>
            <a:ext cx="8835780" cy="830580"/>
          </a:xfrm>
        </p:spPr>
        <p:txBody>
          <a:bodyPr/>
          <a:lstStyle/>
          <a:p>
            <a:r>
              <a:rPr>
                <a:sym typeface="+mn-lt"/>
              </a:rPr>
              <a:t>系统</a:t>
            </a:r>
            <a:r>
              <a:rPr>
                <a:sym typeface="+mn-lt"/>
              </a:rPr>
              <a:t>不足</a:t>
            </a:r>
            <a:endParaRPr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645555" y="2117179"/>
            <a:ext cx="900889" cy="830997"/>
          </a:xfrm>
        </p:spPr>
        <p:txBody>
          <a:bodyPr/>
          <a:lstStyle/>
          <a:p>
            <a:r>
              <a:rPr lang="en-US" altLang="zh-CN" smtClean="0">
                <a:sym typeface="+mn-lt"/>
              </a:rPr>
              <a:t>03</a:t>
            </a:r>
            <a:endParaRPr lang="zh-CN" altLang="en-US" dirty="0"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/>
              <a:t>PART </a:t>
            </a:r>
            <a:r>
              <a:rPr lang="en-US" altLang="zh-CN" smtClean="0"/>
              <a:t>THREE</a:t>
            </a:r>
            <a:endParaRPr lang="zh-CN" altLang="en-US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7" name="组合 26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9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8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8" name="组合 17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1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系统不足</a:t>
            </a:r>
            <a:r>
              <a:rPr lang="en-US" altLang="zh-CN" smtClean="0">
                <a:sym typeface="+mn-lt"/>
              </a:rPr>
              <a:t>-</a:t>
            </a:r>
            <a:r>
              <a:rPr smtClean="0">
                <a:sym typeface="+mn-lt"/>
              </a:rPr>
              <a:t>导出</a:t>
            </a:r>
            <a:r>
              <a:rPr smtClean="0">
                <a:sym typeface="+mn-lt"/>
              </a:rPr>
              <a:t>问题</a:t>
            </a:r>
            <a:endParaRPr smtClean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2248535"/>
            <a:ext cx="9067165" cy="45008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975" y="3970655"/>
            <a:ext cx="2976245" cy="15728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95" y="867410"/>
            <a:ext cx="11153775" cy="13811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系统不足</a:t>
            </a:r>
            <a:r>
              <a:rPr lang="en-US" altLang="zh-CN" smtClean="0">
                <a:sym typeface="+mn-lt"/>
              </a:rPr>
              <a:t>-</a:t>
            </a:r>
            <a:r>
              <a:rPr smtClean="0">
                <a:sym typeface="+mn-lt"/>
              </a:rPr>
              <a:t>导出问题</a:t>
            </a:r>
            <a:endParaRPr smtClean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25" y="2350770"/>
            <a:ext cx="10624185" cy="36156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95" y="867410"/>
            <a:ext cx="11153775" cy="13811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系统不足</a:t>
            </a:r>
            <a:r>
              <a:rPr lang="en-US" altLang="zh-CN" smtClean="0">
                <a:sym typeface="+mn-lt"/>
              </a:rPr>
              <a:t>-</a:t>
            </a:r>
            <a:r>
              <a:rPr smtClean="0">
                <a:sym typeface="+mn-lt"/>
              </a:rPr>
              <a:t>导出问题</a:t>
            </a:r>
            <a:endParaRPr smtClean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45" y="2458720"/>
            <a:ext cx="10147935" cy="35496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95" y="867410"/>
            <a:ext cx="11153775" cy="13811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系统不足</a:t>
            </a:r>
            <a:r>
              <a:rPr lang="en-US" altLang="zh-CN" smtClean="0">
                <a:sym typeface="+mn-lt"/>
              </a:rPr>
              <a:t>-</a:t>
            </a:r>
            <a:r>
              <a:rPr smtClean="0">
                <a:sym typeface="+mn-lt"/>
              </a:rPr>
              <a:t>导出问题</a:t>
            </a:r>
            <a:endParaRPr smtClean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95" y="867410"/>
            <a:ext cx="11153775" cy="13811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030" y="2248535"/>
            <a:ext cx="8987790" cy="44615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系统不足</a:t>
            </a:r>
            <a:r>
              <a:rPr lang="en-US" altLang="zh-CN" smtClean="0">
                <a:sym typeface="+mn-lt"/>
              </a:rPr>
              <a:t>-</a:t>
            </a:r>
            <a:r>
              <a:rPr smtClean="0">
                <a:sym typeface="+mn-lt"/>
              </a:rPr>
              <a:t>数据</a:t>
            </a:r>
            <a:r>
              <a:rPr smtClean="0">
                <a:sym typeface="+mn-lt"/>
              </a:rPr>
              <a:t>验证</a:t>
            </a:r>
            <a:endParaRPr smtClean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73150" y="1105535"/>
            <a:ext cx="10219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对于第三级计算</a:t>
            </a:r>
            <a:r>
              <a:rPr lang="en-US" altLang="zh-CN"/>
              <a:t>——</a:t>
            </a:r>
            <a:r>
              <a:rPr lang="zh-CN" altLang="en-US"/>
              <a:t>专业级计算，存在指标点不全，课程较少的问题，虽然专业级计算经过多次验证通过，但是随着课程数增加，指标点增加，有可能出现计算结果有误差的</a:t>
            </a:r>
            <a:r>
              <a:rPr lang="zh-CN" altLang="en-US"/>
              <a:t>情况。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5" y="2037080"/>
            <a:ext cx="10935335" cy="339344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smtClean="0">
                <a:sym typeface="+mn-lt"/>
              </a:rPr>
              <a:t>系统不足</a:t>
            </a:r>
            <a:r>
              <a:rPr lang="en-US" altLang="zh-CN" smtClean="0">
                <a:sym typeface="+mn-lt"/>
              </a:rPr>
              <a:t>-</a:t>
            </a:r>
            <a:r>
              <a:rPr smtClean="0">
                <a:sym typeface="+mn-lt"/>
              </a:rPr>
              <a:t>讲师端指标点详情</a:t>
            </a:r>
            <a:r>
              <a:rPr smtClean="0">
                <a:sym typeface="+mn-lt"/>
              </a:rPr>
              <a:t>缺失</a:t>
            </a:r>
            <a:endParaRPr smtClean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60" y="1828800"/>
            <a:ext cx="9602470" cy="45059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71905" y="1028065"/>
            <a:ext cx="9023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对于讲师端的权重分配模块，指标点</a:t>
            </a:r>
            <a:r>
              <a:rPr lang="en-US" altLang="zh-CN"/>
              <a:t>3-1</a:t>
            </a:r>
            <a:r>
              <a:rPr lang="zh-CN" altLang="en-US"/>
              <a:t>，</a:t>
            </a:r>
            <a:r>
              <a:rPr lang="en-US" altLang="zh-CN"/>
              <a:t>3-3</a:t>
            </a:r>
            <a:r>
              <a:rPr lang="zh-CN" altLang="en-US"/>
              <a:t>等并没有详细的说明，应当增加入口，点击可以查看这些指标的</a:t>
            </a:r>
            <a:r>
              <a:rPr lang="zh-CN" altLang="en-US"/>
              <a:t>详情</a:t>
            </a:r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5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959417" y="8553167"/>
            <a:ext cx="6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4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075669" y="2030205"/>
            <a:ext cx="8040663" cy="18466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CN" sz="6600" b="1" spc="300" dirty="0">
                <a:solidFill>
                  <a:schemeClr val="accent2"/>
                </a:solidFill>
                <a:cs typeface="+mn-ea"/>
                <a:sym typeface="+mn-lt"/>
              </a:rPr>
              <a:t>THANKS</a:t>
            </a:r>
            <a:endParaRPr lang="en-US" altLang="zh-CN" sz="6600" b="1" spc="300" dirty="0">
              <a:solidFill>
                <a:schemeClr val="accent2"/>
              </a:solidFill>
              <a:cs typeface="+mn-ea"/>
              <a:sym typeface="+mn-lt"/>
            </a:endParaRPr>
          </a:p>
          <a:p>
            <a:pPr algn="ctr"/>
            <a:r>
              <a:rPr lang="zh-CN" altLang="en-US" sz="5400" b="1" spc="300" dirty="0">
                <a:solidFill>
                  <a:schemeClr val="accent1"/>
                </a:solidFill>
                <a:cs typeface="+mn-ea"/>
                <a:sym typeface="+mn-lt"/>
              </a:rPr>
              <a:t>谢谢观看，恳请批评指正</a:t>
            </a:r>
            <a:endParaRPr lang="zh-CN" altLang="en-US" sz="5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13" name="powerpoint template design by DAJU_PPT正版来源小红书大橘PPT微信DAJU_PPT请勿抄袭搬运！盗版必究！"/>
          <p:cNvGrpSpPr/>
          <p:nvPr/>
        </p:nvGrpSpPr>
        <p:grpSpPr>
          <a:xfrm>
            <a:off x="2656946" y="4543521"/>
            <a:ext cx="6878109" cy="160811"/>
            <a:chOff x="2656946" y="4546640"/>
            <a:chExt cx="6878109" cy="160811"/>
          </a:xfrm>
        </p:grpSpPr>
        <p:cxnSp>
          <p:nvCxnSpPr>
            <p:cNvPr id="14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27" name="powerpoint template design by DAJU_PPT正版来源小红书大橘PPT微信DAJU_PPT请勿抄袭搬运！盗版必究！-2"/>
                <p:cNvSpPr/>
                <p:nvPr>
                  <p:custDataLst>
                    <p:tags r:id="rId1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powerpoint template design by DAJU_PPT正版来源小红书大橘PPT微信DAJU_PPT请勿抄袭搬运！盗版必究！-3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powerpoint template design by DAJU_PPT正版来源小红书大橘PPT微信DAJU_PPT请勿抄袭搬运！盗版必究！-4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533337"/>
            <a:ext cx="1499612" cy="1499612"/>
          </a:xfrm>
          <a:prstGeom prst="rect">
            <a:avLst/>
          </a:prstGeom>
        </p:spPr>
      </p:pic>
      <p:sp>
        <p:nvSpPr>
          <p:cNvPr id="21" name="powerpoint template design by DAJU_PPT正版来源小红书大橘PPT微信DAJU_PPT请勿抄袭搬运！盗版必究！-1"/>
          <p:cNvSpPr txBox="1"/>
          <p:nvPr/>
        </p:nvSpPr>
        <p:spPr>
          <a:xfrm>
            <a:off x="4750289" y="4088870"/>
            <a:ext cx="2691423" cy="45465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dirty="0">
                <a:latin typeface="+mn-ea"/>
              </a:rPr>
              <a:t>汇报</a:t>
            </a:r>
            <a:r>
              <a:rPr lang="zh-CN" altLang="en-US" sz="1800" b="1">
                <a:latin typeface="+mn-ea"/>
              </a:rPr>
              <a:t>人</a:t>
            </a:r>
            <a:r>
              <a:rPr lang="zh-CN" altLang="en-US" sz="1800" b="1" smtClean="0">
                <a:latin typeface="+mn-ea"/>
              </a:rPr>
              <a:t>：邱</a:t>
            </a:r>
            <a:r>
              <a:rPr lang="zh-CN" altLang="en-US" sz="1800" b="1" smtClean="0">
                <a:latin typeface="+mn-ea"/>
              </a:rPr>
              <a:t>志斌</a:t>
            </a:r>
            <a:endParaRPr lang="zh-CN" altLang="en-US" sz="1800" b="1" smtClean="0">
              <a:latin typeface="+mn-ea"/>
            </a:endParaRPr>
          </a:p>
        </p:txBody>
      </p:sp>
    </p:spTree>
    <p:custDataLst>
      <p:tags r:id="rId8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ISLIDE.ICON" val="#36637;"/>
</p:tagLst>
</file>

<file path=ppt/tags/tag8.xml><?xml version="1.0" encoding="utf-8"?>
<p:tagLst xmlns:p="http://schemas.openxmlformats.org/presentationml/2006/main">
  <p:tag name="ISLIDE.ICON" val="#35732;"/>
</p:tagLst>
</file>

<file path=ppt/tags/tag9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0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1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2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3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4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5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6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7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8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9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0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1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2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3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4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5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6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7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8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29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0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1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2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3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4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5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6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7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8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39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0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1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2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3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4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5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6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7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8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49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0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1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2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3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4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5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6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7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8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59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0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1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2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3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4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5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6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7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8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69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0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1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2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3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4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5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6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7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8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79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0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1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2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3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4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5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6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7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8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89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90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91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92.xml><?xml version="1.0" encoding="utf-8"?>
<p:tagLst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93.xml><?xml version="1.0" encoding="utf-8"?>
<p:tagLst xmlns:p="http://schemas.openxmlformats.org/presentationml/2006/main">
  <p:tag name="PA" val="v5.2.9"/>
</p:tagLst>
</file>

<file path=ppt/tags/tag94.xml><?xml version="1.0" encoding="utf-8"?>
<p:tagLst xmlns:p="http://schemas.openxmlformats.org/presentationml/2006/main">
  <p:tag name="PA" val="v5.2.9"/>
</p:tagLst>
</file>

<file path=ppt/tags/tag95.xml><?xml version="1.0" encoding="utf-8"?>
<p:tagLst xmlns:p="http://schemas.openxmlformats.org/presentationml/2006/main">
  <p:tag name="PA" val="v5.2.9"/>
</p:tagLst>
</file>

<file path=ppt/tags/tag96.xml><?xml version="1.0" encoding="utf-8"?>
<p:tagLst xmlns:p="http://schemas.openxmlformats.org/presentationml/2006/main">
  <p:tag name="PA" val="v5.2.9"/>
</p:tagLst>
</file>

<file path=ppt/tags/tag97.xml><?xml version="1.0" encoding="utf-8"?>
<p:tagLst xmlns:p="http://schemas.openxmlformats.org/presentationml/2006/main">
  <p:tag name="PA" val="v5.2.9"/>
</p:tagLst>
</file>

<file path=ppt/tags/tag98.xml><?xml version="1.0" encoding="utf-8"?>
<p:tagLst xmlns:p="http://schemas.openxmlformats.org/presentationml/2006/main">
  <p:tag name="PA" val="v5.2.9"/>
</p:tagLst>
</file>

<file path=ppt/tags/tag99.xml><?xml version="1.0" encoding="utf-8"?>
<p:tagLst xmlns:p="http://schemas.openxmlformats.org/presentationml/2006/main">
  <p:tag name="ISLIDE.ICON" val="#36637;"/>
</p:tagLst>
</file>

<file path=ppt/tags/tag100.xml><?xml version="1.0" encoding="utf-8"?>
<p:tagLst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Theme">
  <a:themeElements>
    <a:clrScheme name="00深蓝+金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94761"/>
      </a:accent1>
      <a:accent2>
        <a:srgbClr val="D0B296"/>
      </a:accent2>
      <a:accent3>
        <a:srgbClr val="394761"/>
      </a:accent3>
      <a:accent4>
        <a:srgbClr val="D0B296"/>
      </a:accent4>
      <a:accent5>
        <a:srgbClr val="394761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4592</Words>
  <Application>WPS 演示</Application>
  <PresentationFormat>宽屏</PresentationFormat>
  <Paragraphs>376</Paragraphs>
  <Slides>36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阿里巴巴普惠体 2.0 45 Light</vt:lpstr>
      <vt:lpstr>Segoe Print</vt:lpstr>
      <vt:lpstr>Arial Unicode MS</vt:lpstr>
      <vt:lpstr>等线</vt:lpstr>
      <vt:lpstr>Office Theme</vt:lpstr>
      <vt:lpstr>PowerPoint 演示文稿</vt:lpstr>
      <vt:lpstr>PowerPoint 演示文稿</vt:lpstr>
      <vt:lpstr>系统架构设计：邱志斌、查琪乐</vt:lpstr>
      <vt:lpstr>系统架构设计：邱志斌、查琪乐</vt:lpstr>
      <vt:lpstr>数据库设计：邱嘉堃，闫皇冲</vt:lpstr>
      <vt:lpstr>数据库设计：邱嘉堃，闫皇冲</vt:lpstr>
      <vt:lpstr>数据库设计：邱嘉堃，闫皇冲</vt:lpstr>
      <vt:lpstr>前端设计与开发：李伟鹏、褚茂誉</vt:lpstr>
      <vt:lpstr>前端设计与开发：李伟鹏、褚茂誉</vt:lpstr>
      <vt:lpstr>前端设计与开发：李伟鹏、褚茂誉</vt:lpstr>
      <vt:lpstr>前端设计与开发：李伟鹏、褚茂誉</vt:lpstr>
      <vt:lpstr>后端开发：刘辉艺，吴思雨</vt:lpstr>
      <vt:lpstr>后端开发：刘辉艺，吴思雨</vt:lpstr>
      <vt:lpstr>后端开发：刘辉艺，吴思雨</vt:lpstr>
      <vt:lpstr>后端开发：刘辉艺，吴思雨</vt:lpstr>
      <vt:lpstr>后端开发：刘辉艺，吴思雨</vt:lpstr>
      <vt:lpstr>后端开发：刘辉艺，吴思雨</vt:lpstr>
      <vt:lpstr>三级计算流程设计：邱志斌，查琪乐</vt:lpstr>
      <vt:lpstr>三级计算流程设计：邱志斌，查琪乐</vt:lpstr>
      <vt:lpstr>三级计算流程设计：邱志斌，查琪乐</vt:lpstr>
      <vt:lpstr>流派-轻度维新派</vt:lpstr>
      <vt:lpstr>后端开发：刘辉艺，吴思雨</vt:lpstr>
      <vt:lpstr>项目部署：邱志斌，查琪乐</vt:lpstr>
      <vt:lpstr>项目部署：邱志斌，查琪乐</vt:lpstr>
      <vt:lpstr>项目部署：邱志斌，查琪乐</vt:lpstr>
      <vt:lpstr>项目部署：邱志斌，查琪乐</vt:lpstr>
      <vt:lpstr>PowerPoint 演示文稿</vt:lpstr>
      <vt:lpstr>系统演示</vt:lpstr>
      <vt:lpstr>PowerPoint 演示文稿</vt:lpstr>
      <vt:lpstr>系统不足-导出问题</vt:lpstr>
      <vt:lpstr>系统不足-导出问题</vt:lpstr>
      <vt:lpstr>系统不足-导出问题</vt:lpstr>
      <vt:lpstr>系统不足-导出问题</vt:lpstr>
      <vt:lpstr>系统不足-数据验证</vt:lpstr>
      <vt:lpstr>系统不足-讲师端指标点详情缺失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曾子升</dc:creator>
  <cp:lastModifiedBy>1306561049@qq.com</cp:lastModifiedBy>
  <cp:revision>962</cp:revision>
  <dcterms:created xsi:type="dcterms:W3CDTF">2019-11-26T03:41:00Z</dcterms:created>
  <dcterms:modified xsi:type="dcterms:W3CDTF">2026-05-27T03:29:32Z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F9D69DD7E767446EB6CAEF19E7BCACAB_13</vt:lpwstr>
  </property>
  <property fmtid="{D5CDD505-2E9C-101B-9397-08002B2CF9AE}" pid="3" name="KSOProductBuildVer">
    <vt:lpwstr>2052-12.1.0.23542</vt:lpwstr>
  </property>
</Properties>
</file>