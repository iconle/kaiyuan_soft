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639" r:id="rId2"/>
    <p:sldId id="702" r:id="rId3"/>
    <p:sldId id="905" r:id="rId4"/>
    <p:sldId id="866" r:id="rId5"/>
    <p:sldId id="906" r:id="rId6"/>
    <p:sldId id="908" r:id="rId7"/>
    <p:sldId id="909" r:id="rId8"/>
    <p:sldId id="910" r:id="rId9"/>
    <p:sldId id="716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85EBCEA-17E7-46C7-8BF8-09EC538FBA5A}">
          <p14:sldIdLst>
            <p14:sldId id="639"/>
            <p14:sldId id="702"/>
            <p14:sldId id="905"/>
            <p14:sldId id="866"/>
            <p14:sldId id="906"/>
            <p14:sldId id="908"/>
            <p14:sldId id="909"/>
            <p14:sldId id="910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BE3"/>
    <a:srgbClr val="66CCFF"/>
    <a:srgbClr val="FFFF66"/>
    <a:srgbClr val="FFFFFF"/>
    <a:srgbClr val="394761"/>
    <a:srgbClr val="023C99"/>
    <a:srgbClr val="D0B296"/>
    <a:srgbClr val="538B4B"/>
    <a:srgbClr val="E8FAE5"/>
    <a:srgbClr val="9D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7653" autoAdjust="0"/>
  </p:normalViewPr>
  <p:slideViewPr>
    <p:cSldViewPr snapToGrid="0" showGuides="1">
      <p:cViewPr varScale="1">
        <p:scale>
          <a:sx n="48" d="100"/>
          <a:sy n="48" d="100"/>
        </p:scale>
        <p:origin x="2030" y="58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2026/6/27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首先，我想介绍一下我在项目中的主要职责。作为组长，我的工作不仅仅是写代码，更重要的是承担起管理和协调的责任。这包括了对团队成员代码的审查与合并，从零到一的服务器部署与运维，以及日常的团队任务分配和进度协调。这些职责让我对整个项目有了全局性的把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在代码质量把控方面，Code Review制度让我受益匪浅。通过审查他人代码，我学会了识别常见的安全风险，比如SQL注入和敏感信息泄露，并推动团队采用更安全的编码方式。同时，我也意识到统一代码规范的重要性，包括命名、注释和分层结构。这让我深刻体会到，优秀的代码不仅要能实现功能，更要具备良好的可读性、可维护性和安全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464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+mn-ea"/>
              </a:rPr>
              <a:t>部署这一块在此之前我没有接触过的。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接下来是团队管理方面的收获。首先是任务分解与分配。面对一个8人团队，我学会了根据成员的技术特长来分配任务，让专业的人做专业的事。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6041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在工具层面，我主导建立了团队的Git协作规范。我们采用了经典的feature分支开发模式，所有代码变更都必须通过Pull Request进行，并且强制执行Code Review。这一制度保证了代码质量，也让知识在团队内部得到了共享。我认识到，工具和流程的规范，是保障团队协作有序进行的重要基础。</a:t>
            </a: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496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inherit"/>
              </a:rPr>
              <a:t>点击左下角状态栏的当前分支名，可快速：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inherit"/>
              </a:rPr>
              <a:t>切换分支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inherit"/>
              </a:rPr>
              <a:t>创建新分支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inherit"/>
              </a:rPr>
              <a:t>合并分支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zh-CN" altLang="en-US" b="0" i="0">
                <a:effectLst/>
                <a:latin typeface="inherit"/>
              </a:rPr>
              <a:t>拉取</a:t>
            </a:r>
            <a:r>
              <a:rPr lang="en-US" altLang="zh-CN" b="0" i="0">
                <a:effectLst/>
                <a:latin typeface="inherit"/>
              </a:rPr>
              <a:t>/</a:t>
            </a:r>
            <a:r>
              <a:rPr lang="zh-CN" altLang="en-US" b="0" i="0">
                <a:effectLst/>
                <a:latin typeface="inherit"/>
              </a:rPr>
              <a:t>推送</a:t>
            </a: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2848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1.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先点 ⬇ 抓取（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Fetch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）</a:t>
            </a: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</a:rPr>
              <a:t>   → 下载远程最新提交，本地代码不动</a:t>
            </a:r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2.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查看远程更新内容</a:t>
            </a: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</a:rPr>
              <a:t>   → 对比差异，确认没问题</a:t>
            </a:r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</a:rPr>
              <a:t>3.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再点 ⬇ 拉取（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Pull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）或手动合并</a:t>
            </a: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</a:rPr>
              <a:t>   → 将远程代码合并到本地</a:t>
            </a:r>
            <a:endParaRPr lang="en-US" altLang="zh-CN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2727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53758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2117179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60" y="3025032"/>
            <a:ext cx="1706880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7980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>
            <a:lvl1pPr>
              <a:def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单击此处标题</a:t>
            </a:r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3452-3CC8-4E8B-993B-C9E13B0C4846}" type="datetime1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png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1.png"/><Relationship Id="rId4" Type="http://schemas.openxmlformats.org/officeDocument/2006/relationships/tags" Target="../tags/tag1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7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9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4457797" y="2145249"/>
            <a:ext cx="3276600" cy="9232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spc="300">
                <a:solidFill>
                  <a:schemeClr val="accent1"/>
                </a:solidFill>
                <a:cs typeface="+mn-ea"/>
                <a:sym typeface="+mn-lt"/>
              </a:rPr>
              <a:t>开源软件通识</a:t>
            </a:r>
          </a:p>
        </p:txBody>
      </p:sp>
      <p:sp>
        <p:nvSpPr>
          <p:cNvPr id="79" name="powerpoint template design by DAJU_PPT正版来源小红书大橘PPT微信DAJU_PPT请勿抄袭搬运！盗版必究！"/>
          <p:cNvSpPr txBox="1"/>
          <p:nvPr/>
        </p:nvSpPr>
        <p:spPr>
          <a:xfrm>
            <a:off x="1242152" y="3261623"/>
            <a:ext cx="9707884" cy="569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spc="300">
                <a:cs typeface="+mn-ea"/>
                <a:sym typeface="+mn-lt"/>
              </a:rPr>
              <a:t>学习收获汇报</a:t>
            </a:r>
          </a:p>
        </p:txBody>
      </p:sp>
      <p:sp>
        <p:nvSpPr>
          <p:cNvPr id="52" name="powerpoint template design by DAJU_PPT正版来源小红书大橘PPT微信DAJU_PPT请勿抄袭搬运！盗版必究！"/>
          <p:cNvSpPr txBox="1"/>
          <p:nvPr/>
        </p:nvSpPr>
        <p:spPr>
          <a:xfrm>
            <a:off x="3797300" y="5234940"/>
            <a:ext cx="4956175" cy="129794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人：</a:t>
            </a:r>
            <a:r>
              <a:rPr lang="zh-CN" altLang="en-US" b="1">
                <a:latin typeface="+mn-ea"/>
              </a:rPr>
              <a:t>查琪乐</a:t>
            </a:r>
            <a:endParaRPr lang="en-US" altLang="zh-CN" b="1">
              <a:latin typeface="+mn-ea"/>
            </a:endParaRPr>
          </a:p>
          <a:p>
            <a:pPr algn="ctr"/>
            <a:r>
              <a:rPr lang="zh-CN" altLang="en-US" b="1">
                <a:latin typeface="+mn-ea"/>
              </a:rPr>
              <a:t>小组成员：查琪乐、邱志斌、邱嘉堃、刘辉艺、吴思雨、闫皇冲、李伟鹏、褚茂誉</a:t>
            </a:r>
          </a:p>
        </p:txBody>
      </p: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6" name="powerpoint template design by DAJU_PPT正版来源小红书大橘PPT微信DAJU_PPT请勿抄袭搬运！盗版必究！"/>
          <p:cNvGrpSpPr/>
          <p:nvPr/>
        </p:nvGrpSpPr>
        <p:grpSpPr>
          <a:xfrm>
            <a:off x="2656946" y="5016372"/>
            <a:ext cx="6878109" cy="160811"/>
            <a:chOff x="2656946" y="4546640"/>
            <a:chExt cx="6878109" cy="160811"/>
          </a:xfrm>
        </p:grpSpPr>
        <p:cxnSp>
          <p:nvCxnSpPr>
            <p:cNvPr id="12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4" name="powerpoint template design by DAJU_PPT正版来源小红书大橘PPT微信DAJU_PPT请勿抄袭搬运！盗版必究！-2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powerpoint template design by DAJU_PPT正版来源小红书大橘PPT微信DAJU_PPT请勿抄袭搬运！盗版必究！-3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powerpoint template design by DAJU_PPT正版来源小红书大橘PPT微信DAJU_PPT请勿抄袭搬运！盗版必究！-4"/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689877"/>
            <a:ext cx="1499612" cy="14996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33" name="AutoShape 4">
            <a:extLst>
              <a:ext uri="{FF2B5EF4-FFF2-40B4-BE49-F238E27FC236}">
                <a16:creationId xmlns:a16="http://schemas.microsoft.com/office/drawing/2014/main" id="{09C7AA42-C125-4EE2-BA79-18D87D5998C0}"/>
              </a:ext>
            </a:extLst>
          </p:cNvPr>
          <p:cNvSpPr/>
          <p:nvPr/>
        </p:nvSpPr>
        <p:spPr>
          <a:xfrm>
            <a:off x="762000" y="17780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CAFF0D27-2F42-4079-8A18-A1AC7086173C}"/>
              </a:ext>
            </a:extLst>
          </p:cNvPr>
          <p:cNvSpPr/>
          <p:nvPr/>
        </p:nvSpPr>
        <p:spPr>
          <a:xfrm>
            <a:off x="762000" y="1968500"/>
            <a:ext cx="50800" cy="304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4BC62B5A-971D-48F5-B876-0C95C6EA5B52}"/>
              </a:ext>
            </a:extLst>
          </p:cNvPr>
          <p:cNvSpPr/>
          <p:nvPr/>
        </p:nvSpPr>
        <p:spPr>
          <a:xfrm>
            <a:off x="952500" y="1930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代码审查</a:t>
            </a:r>
            <a:endParaRPr lang="en-US" sz="1100"/>
          </a:p>
        </p:txBody>
      </p:sp>
      <p:sp>
        <p:nvSpPr>
          <p:cNvPr id="36" name="AutoShape 7">
            <a:extLst>
              <a:ext uri="{FF2B5EF4-FFF2-40B4-BE49-F238E27FC236}">
                <a16:creationId xmlns:a16="http://schemas.microsoft.com/office/drawing/2014/main" id="{5562B5A9-4FC4-4B4B-AE5B-FE4F1B396F71}"/>
              </a:ext>
            </a:extLst>
          </p:cNvPr>
          <p:cNvSpPr/>
          <p:nvPr/>
        </p:nvSpPr>
        <p:spPr>
          <a:xfrm>
            <a:off x="952500" y="2413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建立标准化代码审查流程，逐行检查团队提交代码，重点把控逻辑漏洞、命名规范与注释完整性，从源头保障系统安全性与可维护性。</a:t>
            </a:r>
            <a:endParaRPr lang="en-US" sz="1100"/>
          </a:p>
        </p:txBody>
      </p:sp>
      <p:sp>
        <p:nvSpPr>
          <p:cNvPr id="37" name="AutoShape 8">
            <a:extLst>
              <a:ext uri="{FF2B5EF4-FFF2-40B4-BE49-F238E27FC236}">
                <a16:creationId xmlns:a16="http://schemas.microsoft.com/office/drawing/2014/main" id="{46F46AFF-0FE1-4F4D-970E-51D57C9849B0}"/>
              </a:ext>
            </a:extLst>
          </p:cNvPr>
          <p:cNvSpPr/>
          <p:nvPr/>
        </p:nvSpPr>
        <p:spPr>
          <a:xfrm>
            <a:off x="6350000" y="17780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9">
            <a:extLst>
              <a:ext uri="{FF2B5EF4-FFF2-40B4-BE49-F238E27FC236}">
                <a16:creationId xmlns:a16="http://schemas.microsoft.com/office/drawing/2014/main" id="{E1DE89BF-5C3E-49EC-B4F8-8805C9291E0C}"/>
              </a:ext>
            </a:extLst>
          </p:cNvPr>
          <p:cNvSpPr/>
          <p:nvPr/>
        </p:nvSpPr>
        <p:spPr>
          <a:xfrm>
            <a:off x="6350000" y="1968500"/>
            <a:ext cx="50800" cy="304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0">
            <a:extLst>
              <a:ext uri="{FF2B5EF4-FFF2-40B4-BE49-F238E27FC236}">
                <a16:creationId xmlns:a16="http://schemas.microsoft.com/office/drawing/2014/main" id="{B419F228-07CD-4078-AC23-098CD669926A}"/>
              </a:ext>
            </a:extLst>
          </p:cNvPr>
          <p:cNvSpPr/>
          <p:nvPr/>
        </p:nvSpPr>
        <p:spPr>
          <a:xfrm>
            <a:off x="6540500" y="1930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代码合并与分支管理</a:t>
            </a:r>
            <a:endParaRPr lang="en-US" sz="1100"/>
          </a:p>
        </p:txBody>
      </p:sp>
      <p:sp>
        <p:nvSpPr>
          <p:cNvPr id="40" name="AutoShape 11">
            <a:extLst>
              <a:ext uri="{FF2B5EF4-FFF2-40B4-BE49-F238E27FC236}">
                <a16:creationId xmlns:a16="http://schemas.microsoft.com/office/drawing/2014/main" id="{38B1B6DE-6EAB-4C29-83E9-2D516E43730A}"/>
              </a:ext>
            </a:extLst>
          </p:cNvPr>
          <p:cNvSpPr/>
          <p:nvPr/>
        </p:nvSpPr>
        <p:spPr>
          <a:xfrm>
            <a:off x="6540500" y="2413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规划Git分支策略，处理复杂代码冲突，定期执行分支合并与版本打标，维护主干代码库的稳定性，确保开发迭代有序推进。</a:t>
            </a:r>
            <a:endParaRPr lang="en-US" sz="1100"/>
          </a:p>
        </p:txBody>
      </p:sp>
      <p:sp>
        <p:nvSpPr>
          <p:cNvPr id="41" name="AutoShape 12">
            <a:extLst>
              <a:ext uri="{FF2B5EF4-FFF2-40B4-BE49-F238E27FC236}">
                <a16:creationId xmlns:a16="http://schemas.microsoft.com/office/drawing/2014/main" id="{975BBB31-C5BE-4D68-94C5-F3587122A06C}"/>
              </a:ext>
            </a:extLst>
          </p:cNvPr>
          <p:cNvSpPr/>
          <p:nvPr/>
        </p:nvSpPr>
        <p:spPr>
          <a:xfrm>
            <a:off x="762000" y="40640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13">
            <a:extLst>
              <a:ext uri="{FF2B5EF4-FFF2-40B4-BE49-F238E27FC236}">
                <a16:creationId xmlns:a16="http://schemas.microsoft.com/office/drawing/2014/main" id="{AE4DED12-F22E-4CA2-A7E7-D2CDAED112C9}"/>
              </a:ext>
            </a:extLst>
          </p:cNvPr>
          <p:cNvSpPr/>
          <p:nvPr/>
        </p:nvSpPr>
        <p:spPr>
          <a:xfrm>
            <a:off x="762000" y="4254500"/>
            <a:ext cx="50800" cy="304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14">
            <a:extLst>
              <a:ext uri="{FF2B5EF4-FFF2-40B4-BE49-F238E27FC236}">
                <a16:creationId xmlns:a16="http://schemas.microsoft.com/office/drawing/2014/main" id="{5F113844-0E35-40B5-ACF2-2545A6EEB789}"/>
              </a:ext>
            </a:extLst>
          </p:cNvPr>
          <p:cNvSpPr/>
          <p:nvPr/>
        </p:nvSpPr>
        <p:spPr>
          <a:xfrm>
            <a:off x="952500" y="421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服务器部署与运维</a:t>
            </a:r>
            <a:endParaRPr lang="en-US" sz="1100"/>
          </a:p>
        </p:txBody>
      </p:sp>
      <p:sp>
        <p:nvSpPr>
          <p:cNvPr id="44" name="AutoShape 15">
            <a:extLst>
              <a:ext uri="{FF2B5EF4-FFF2-40B4-BE49-F238E27FC236}">
                <a16:creationId xmlns:a16="http://schemas.microsoft.com/office/drawing/2014/main" id="{A41A2590-F5C5-43DF-B83F-421172DBE3EE}"/>
              </a:ext>
            </a:extLst>
          </p:cNvPr>
          <p:cNvSpPr/>
          <p:nvPr/>
        </p:nvSpPr>
        <p:spPr>
          <a:xfrm>
            <a:off x="952500" y="469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独立完成生产环境搭建，配置Nginx反向代理、数据库集群与容器化服务，制定监控告警规则，保障7x24小时服务高可用性。</a:t>
            </a:r>
            <a:endParaRPr lang="en-US" sz="1100"/>
          </a:p>
        </p:txBody>
      </p:sp>
      <p:sp>
        <p:nvSpPr>
          <p:cNvPr id="45" name="AutoShape 16">
            <a:extLst>
              <a:ext uri="{FF2B5EF4-FFF2-40B4-BE49-F238E27FC236}">
                <a16:creationId xmlns:a16="http://schemas.microsoft.com/office/drawing/2014/main" id="{6EB458F2-4063-448A-8C16-F1FB92332D9C}"/>
              </a:ext>
            </a:extLst>
          </p:cNvPr>
          <p:cNvSpPr/>
          <p:nvPr/>
        </p:nvSpPr>
        <p:spPr>
          <a:xfrm>
            <a:off x="6350000" y="40640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17">
            <a:extLst>
              <a:ext uri="{FF2B5EF4-FFF2-40B4-BE49-F238E27FC236}">
                <a16:creationId xmlns:a16="http://schemas.microsoft.com/office/drawing/2014/main" id="{B22F2690-AC97-429A-B495-F5953D2299AA}"/>
              </a:ext>
            </a:extLst>
          </p:cNvPr>
          <p:cNvSpPr/>
          <p:nvPr/>
        </p:nvSpPr>
        <p:spPr>
          <a:xfrm>
            <a:off x="6350000" y="4254500"/>
            <a:ext cx="50800" cy="304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18">
            <a:extLst>
              <a:ext uri="{FF2B5EF4-FFF2-40B4-BE49-F238E27FC236}">
                <a16:creationId xmlns:a16="http://schemas.microsoft.com/office/drawing/2014/main" id="{F4B0BDD4-4FCE-4A4A-9995-171DD79E9C85}"/>
              </a:ext>
            </a:extLst>
          </p:cNvPr>
          <p:cNvSpPr/>
          <p:nvPr/>
        </p:nvSpPr>
        <p:spPr>
          <a:xfrm>
            <a:off x="6540500" y="421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团队协同与进度管理</a:t>
            </a:r>
            <a:endParaRPr lang="en-US" sz="1100"/>
          </a:p>
        </p:txBody>
      </p:sp>
      <p:sp>
        <p:nvSpPr>
          <p:cNvPr id="48" name="AutoShape 19">
            <a:extLst>
              <a:ext uri="{FF2B5EF4-FFF2-40B4-BE49-F238E27FC236}">
                <a16:creationId xmlns:a16="http://schemas.microsoft.com/office/drawing/2014/main" id="{E732305F-B7F1-424F-870D-E4DAD6C6685B}"/>
              </a:ext>
            </a:extLst>
          </p:cNvPr>
          <p:cNvSpPr/>
          <p:nvPr/>
        </p:nvSpPr>
        <p:spPr>
          <a:xfrm>
            <a:off x="6540500" y="469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根据成员专长拆解项目任务，利用敏捷工具跟踪里程碑进度，组织每日站会同步信息，及时介入解决技术难点与沟通阻塞。</a:t>
            </a:r>
            <a:endParaRPr lang="en-US" sz="1100"/>
          </a:p>
        </p:txBody>
      </p:sp>
      <p:sp>
        <p:nvSpPr>
          <p:cNvPr id="49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7C2CA73-E7D2-4BE8-A9AB-00294168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44" y="196496"/>
            <a:ext cx="8225742" cy="460502"/>
          </a:xfrm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+mn-lt"/>
              </a:rPr>
              <a:t>主要职责</a:t>
            </a:r>
            <a:endParaRPr>
              <a:sym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zh-CN" altLang="en-US">
                <a:sym typeface="Noto Sans SC"/>
              </a:rPr>
              <a:t>代码质量把控</a:t>
            </a:r>
            <a:endParaRPr lang="zh-CN" altLang="en-US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674026E-F6F6-4C92-BD29-289533192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166" y="1437959"/>
            <a:ext cx="8383791" cy="398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889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en-US" altLang="zh-CN">
                <a:sym typeface="Noto Sans SC"/>
              </a:rPr>
              <a:t>部署与运维能力</a:t>
            </a:r>
            <a:endParaRPr lang="zh-CN" altLang="en-US"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46438921-8176-4787-B94F-BA83D99C8F14}"/>
              </a:ext>
            </a:extLst>
          </p:cNvPr>
          <p:cNvSpPr/>
          <p:nvPr/>
        </p:nvSpPr>
        <p:spPr>
          <a:xfrm>
            <a:off x="889000" y="1257572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基础环境构建</a:t>
            </a:r>
            <a:endParaRPr lang="en-US" sz="1400"/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6C731A9F-6561-4980-8727-F55F62BB3412}"/>
              </a:ext>
            </a:extLst>
          </p:cNvPr>
          <p:cNvSpPr/>
          <p:nvPr/>
        </p:nvSpPr>
        <p:spPr>
          <a:xfrm>
            <a:off x="889000" y="1891676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Nginx 核心配置：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完成反向代理与负载均衡配置，解决前后端服务的路由分发与跨域基础问题。</a:t>
            </a:r>
            <a:endParaRPr lang="en-US" sz="14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服务进程守护：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PM2 管理 Node.js 进程，实现服务异常自动重启与日志监控，保障后台常驻。</a:t>
            </a:r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CCB07F0E-51C6-4334-A280-D7716FFABD71}"/>
              </a:ext>
            </a:extLst>
          </p:cNvPr>
          <p:cNvSpPr/>
          <p:nvPr/>
        </p:nvSpPr>
        <p:spPr>
          <a:xfrm>
            <a:off x="940931" y="3828527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数据与安全策略</a:t>
            </a:r>
            <a:endParaRPr lang="en-US" sz="1400"/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D075D1C7-BCB2-47BB-9B4C-FB3B7D579ABE}"/>
              </a:ext>
            </a:extLst>
          </p:cNvPr>
          <p:cNvSpPr/>
          <p:nvPr/>
        </p:nvSpPr>
        <p:spPr>
          <a:xfrm>
            <a:off x="940931" y="4429461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数据库体系化：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完成用户权限分级、Schema 设计优化，并制定定期自动备份脚本，防范数据丢失风险。</a:t>
            </a:r>
            <a:endParaRPr lang="en-US" sz="14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静态资源管理：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调整项目构建路径，配合 Nginx 配置，彻底解决 Vue 项目打包后静态资源加载失败问题。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63DEAD-B887-43C3-ACB1-B323ADCBD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035" y="1293867"/>
            <a:ext cx="5491934" cy="5100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en-US" altLang="zh-CN">
                <a:sym typeface="Noto Sans SC"/>
              </a:rPr>
              <a:t>任务分解与分配</a:t>
            </a:r>
            <a:endParaRPr lang="zh-CN" altLang="en-US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25C16E78-0F21-402D-BE96-6FB4CA518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44" y="1269497"/>
            <a:ext cx="5862871" cy="885224"/>
          </a:xfrm>
          <a:prstGeom prst="rect">
            <a:avLst/>
          </a:prstGeom>
        </p:spPr>
      </p:pic>
      <p:pic>
        <p:nvPicPr>
          <p:cNvPr id="8" name="图片 7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A3ABF6B-3D14-4AE5-8D02-E051D1B966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987" y="991332"/>
            <a:ext cx="7502692" cy="551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024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en-US" altLang="zh-CN">
                <a:sym typeface="Noto Sans SC"/>
              </a:rPr>
              <a:t>Git协作管理</a:t>
            </a:r>
            <a:endParaRPr lang="zh-CN" altLang="en-US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416A81F8-E7FA-42EC-9FD4-1C04C10A13D9}"/>
              </a:ext>
            </a:extLst>
          </p:cNvPr>
          <p:cNvSpPr/>
          <p:nvPr/>
        </p:nvSpPr>
        <p:spPr>
          <a:xfrm>
            <a:off x="652929" y="1689847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分支策略：构建有序的开发流转</a:t>
            </a:r>
            <a:endParaRPr lang="en-US" sz="14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A899FE7-B2DF-439B-A24B-FEABA8A70F98}"/>
              </a:ext>
            </a:extLst>
          </p:cNvPr>
          <p:cNvSpPr/>
          <p:nvPr/>
        </p:nvSpPr>
        <p:spPr>
          <a:xfrm>
            <a:off x="652929" y="2261347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生产环境隔离：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 main 分支设为受保护分支，映射生产环境，严禁直接推送，从源头保障线上版本的绝对稳定。</a:t>
            </a:r>
            <a:endParaRPr lang="en-US" sz="14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功能并行开发：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feature/* 分支模式，实现多任务并行开发互不干扰，通过 PR 合并形成完整的代码变更审计链路。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E1A191DC-9EA2-453A-AE7B-C67EE1C21417}"/>
              </a:ext>
            </a:extLst>
          </p:cNvPr>
          <p:cNvSpPr/>
          <p:nvPr/>
        </p:nvSpPr>
        <p:spPr>
          <a:xfrm>
            <a:off x="652929" y="3738134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质量门禁：代码审查的制度落地</a:t>
            </a:r>
            <a:endParaRPr lang="en-US" sz="1400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62EB9AA5-D0C2-4074-8AE6-6C93E762FF47}"/>
              </a:ext>
            </a:extLst>
          </p:cNvPr>
          <p:cNvSpPr/>
          <p:nvPr/>
        </p:nvSpPr>
        <p:spPr>
          <a:xfrm>
            <a:off x="652929" y="4309634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强制双人复核：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确立“至少一人批准”原则，将代码审查作为合并的必要条件，有效拦截潜在的逻辑漏洞与风格问题。</a:t>
            </a:r>
            <a:endParaRPr lang="en-US" sz="14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冲突与闭环管理：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合并前强制解决代码冲突，审查意见需逐条反馈并落实修改，确保每一行入仓代码都经过校验。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F313972-B617-4663-BF46-DB7DEEA49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592" y="1021793"/>
            <a:ext cx="3657255" cy="562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9862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en-US" altLang="zh-CN">
                <a:sym typeface="Noto Sans SC"/>
              </a:rPr>
              <a:t>Git协作管理</a:t>
            </a:r>
            <a:endParaRPr lang="zh-CN" altLang="en-US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F7AD3A-397F-4F26-935D-7F8D17185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405" y="905540"/>
            <a:ext cx="3810706" cy="586396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5AABD3-7F60-477C-9959-DB05C0B48850}"/>
              </a:ext>
            </a:extLst>
          </p:cNvPr>
          <p:cNvSpPr txBox="1"/>
          <p:nvPr/>
        </p:nvSpPr>
        <p:spPr>
          <a:xfrm>
            <a:off x="559444" y="1627645"/>
            <a:ext cx="53372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彩色线条 </a:t>
            </a:r>
            <a:r>
              <a:rPr lang="en-US" altLang="zh-CN" sz="2000"/>
              <a:t>— </a:t>
            </a:r>
            <a:r>
              <a:rPr lang="zh-CN" altLang="en-US" sz="2000"/>
              <a:t>代表不同的分支线</a:t>
            </a:r>
          </a:p>
          <a:p>
            <a:r>
              <a:rPr lang="zh-CN" altLang="en-US" sz="2000"/>
              <a:t>圆点 </a:t>
            </a:r>
            <a:r>
              <a:rPr lang="en-US" altLang="zh-CN" sz="2000"/>
              <a:t>— </a:t>
            </a:r>
            <a:r>
              <a:rPr lang="zh-CN" altLang="en-US" sz="2000"/>
              <a:t>代表具体的提交（</a:t>
            </a:r>
            <a:r>
              <a:rPr lang="en-US" altLang="zh-CN" sz="2000"/>
              <a:t>commit</a:t>
            </a:r>
            <a:r>
              <a:rPr lang="zh-CN" altLang="en-US" sz="2000"/>
              <a:t>）</a:t>
            </a:r>
          </a:p>
          <a:p>
            <a:r>
              <a:rPr lang="zh-CN" altLang="en-US" sz="2000"/>
              <a:t>提交信息 </a:t>
            </a:r>
            <a:r>
              <a:rPr lang="en-US" altLang="zh-CN" sz="2000"/>
              <a:t>— </a:t>
            </a:r>
            <a:r>
              <a:rPr lang="zh-CN" altLang="en-US" sz="2000"/>
              <a:t>显示 </a:t>
            </a:r>
            <a:r>
              <a:rPr lang="en-US" altLang="zh-CN" sz="2000"/>
              <a:t>commit message </a:t>
            </a:r>
            <a:r>
              <a:rPr lang="zh-CN" altLang="en-US" sz="2000"/>
              <a:t>和作者</a:t>
            </a:r>
          </a:p>
          <a:p>
            <a:r>
              <a:rPr lang="zh-CN" altLang="en-US" sz="2000"/>
              <a:t>合并记录 </a:t>
            </a:r>
            <a:r>
              <a:rPr lang="en-US" altLang="zh-CN" sz="2000"/>
              <a:t>— </a:t>
            </a:r>
            <a:r>
              <a:rPr lang="zh-CN" altLang="en-US" sz="2000"/>
              <a:t>如 </a:t>
            </a:r>
            <a:r>
              <a:rPr lang="en-US" altLang="zh-CN" sz="2000"/>
              <a:t>Merge pull request #91 </a:t>
            </a:r>
            <a:r>
              <a:rPr lang="zh-CN" altLang="en-US" sz="2000"/>
              <a:t>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EAB2089-86FB-4376-B62F-39A04EB01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17" y="3199626"/>
            <a:ext cx="7756925" cy="27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445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72000" tIns="36000" rIns="72000" bIns="36000" anchor="ctr" anchorCtr="0">
            <a:noAutofit/>
          </a:bodyPr>
          <a:lstStyle/>
          <a:p>
            <a:r>
              <a:rPr lang="en-US" altLang="zh-CN">
                <a:sym typeface="Noto Sans SC"/>
              </a:rPr>
              <a:t>Git协作管理</a:t>
            </a:r>
            <a:endParaRPr lang="zh-CN" altLang="en-US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80" y="88496"/>
            <a:ext cx="4459272" cy="6765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F7AD3A-397F-4F26-935D-7F8D17185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881" y="872998"/>
            <a:ext cx="3810706" cy="5863964"/>
          </a:xfrm>
          <a:prstGeom prst="rect">
            <a:avLst/>
          </a:prstGeom>
        </p:spPr>
      </p:pic>
      <p:graphicFrame>
        <p:nvGraphicFramePr>
          <p:cNvPr id="13" name="表格 14">
            <a:extLst>
              <a:ext uri="{FF2B5EF4-FFF2-40B4-BE49-F238E27FC236}">
                <a16:creationId xmlns:a16="http://schemas.microsoft.com/office/drawing/2014/main" id="{D3C9BEB9-80B5-4DFE-A39D-5F9148DA5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708574"/>
              </p:ext>
            </p:extLst>
          </p:nvPr>
        </p:nvGraphicFramePr>
        <p:xfrm>
          <a:off x="370115" y="1341064"/>
          <a:ext cx="7500256" cy="4994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532">
                  <a:extLst>
                    <a:ext uri="{9D8B030D-6E8A-4147-A177-3AD203B41FA5}">
                      <a16:colId xmlns:a16="http://schemas.microsoft.com/office/drawing/2014/main" val="2862844100"/>
                    </a:ext>
                  </a:extLst>
                </a:gridCol>
                <a:gridCol w="2424490">
                  <a:extLst>
                    <a:ext uri="{9D8B030D-6E8A-4147-A177-3AD203B41FA5}">
                      <a16:colId xmlns:a16="http://schemas.microsoft.com/office/drawing/2014/main" val="2197709662"/>
                    </a:ext>
                  </a:extLst>
                </a:gridCol>
                <a:gridCol w="3880234">
                  <a:extLst>
                    <a:ext uri="{9D8B030D-6E8A-4147-A177-3AD203B41FA5}">
                      <a16:colId xmlns:a16="http://schemas.microsoft.com/office/drawing/2014/main" val="529830793"/>
                    </a:ext>
                  </a:extLst>
                </a:gridCol>
              </a:tblGrid>
              <a:tr h="713489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图标</a:t>
                      </a: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名称</a:t>
                      </a: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功能说明</a:t>
                      </a: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3470332098"/>
                  </a:ext>
                </a:extLst>
              </a:tr>
              <a:tr h="713489">
                <a:tc>
                  <a:txBody>
                    <a:bodyPr/>
                    <a:lstStyle/>
                    <a:p>
                      <a:pPr algn="l" fontAlgn="t"/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自动</a:t>
                      </a:r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  <a:latin typeface="inherit"/>
                        </a:rPr>
                        <a:t>自动暂存并提交所有更改</a:t>
                      </a: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3298894615"/>
                  </a:ext>
                </a:extLst>
              </a:tr>
              <a:tr h="713489">
                <a:tc>
                  <a:txBody>
                    <a:bodyPr/>
                    <a:lstStyle/>
                    <a:p>
                      <a:pPr algn="l" fontAlgn="t"/>
                      <a:endParaRPr 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提交历史 </a:t>
                      </a:r>
                      <a:r>
                        <a:rPr lang="en-US" altLang="zh-CN" b="1">
                          <a:effectLst/>
                          <a:latin typeface="inherit"/>
                        </a:rPr>
                        <a:t>/ </a:t>
                      </a:r>
                      <a:r>
                        <a:rPr lang="zh-CN" altLang="en-US" b="1">
                          <a:effectLst/>
                          <a:latin typeface="inherit"/>
                        </a:rPr>
                        <a:t>时间线</a:t>
                      </a:r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  <a:latin typeface="inherit"/>
                        </a:rPr>
                        <a:t>查看当前分支的提交历史记录</a:t>
                      </a: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4189077049"/>
                  </a:ext>
                </a:extLst>
              </a:tr>
              <a:tr h="713489">
                <a:tc>
                  <a:txBody>
                    <a:bodyPr/>
                    <a:lstStyle/>
                    <a:p>
                      <a:pPr algn="l" fontAlgn="t"/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抓取（</a:t>
                      </a:r>
                      <a:r>
                        <a:rPr lang="en-US" altLang="zh-CN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</a:t>
                      </a:r>
                      <a:r>
                        <a:rPr lang="zh-CN" alt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只下载远程更新，</a:t>
                      </a:r>
                      <a:r>
                        <a:rPr lang="zh-CN" alt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不合并</a:t>
                      </a:r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到本地</a:t>
                      </a:r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1294658617"/>
                  </a:ext>
                </a:extLst>
              </a:tr>
              <a:tr h="713489">
                <a:tc>
                  <a:txBody>
                    <a:bodyPr/>
                    <a:lstStyle/>
                    <a:p>
                      <a:pPr algn="l" fontAlgn="t"/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拉取（</a:t>
                      </a:r>
                      <a:r>
                        <a:rPr lang="en-US" b="1">
                          <a:effectLst/>
                          <a:latin typeface="inherit"/>
                        </a:rPr>
                        <a:t>Pull）</a:t>
                      </a:r>
                      <a:endParaRPr 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  <a:latin typeface="inherit"/>
                        </a:rPr>
                        <a:t>从远程仓库拉取最新代码</a:t>
                      </a: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4285017487"/>
                  </a:ext>
                </a:extLst>
              </a:tr>
              <a:tr h="713489">
                <a:tc>
                  <a:txBody>
                    <a:bodyPr/>
                    <a:lstStyle/>
                    <a:p>
                      <a:pPr algn="l" fontAlgn="t"/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推送（</a:t>
                      </a:r>
                      <a:r>
                        <a:rPr lang="en-US" b="1">
                          <a:effectLst/>
                          <a:latin typeface="inherit"/>
                        </a:rPr>
                        <a:t>Push）</a:t>
                      </a:r>
                      <a:endParaRPr 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  <a:latin typeface="inherit"/>
                        </a:rPr>
                        <a:t>将本地提交推送到远程仓库</a:t>
                      </a: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3417305871"/>
                  </a:ext>
                </a:extLst>
              </a:tr>
              <a:tr h="713489">
                <a:tc>
                  <a:txBody>
                    <a:bodyPr/>
                    <a:lstStyle/>
                    <a:p>
                      <a:pPr algn="l" fontAlgn="t"/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b="1">
                          <a:effectLst/>
                          <a:latin typeface="inherit"/>
                        </a:rPr>
                        <a:t>刷新</a:t>
                      </a:r>
                      <a:endParaRPr lang="zh-CN" altLang="en-US">
                        <a:effectLst/>
                        <a:latin typeface="inherit"/>
                      </a:endParaRPr>
                    </a:p>
                  </a:txBody>
                  <a:tcPr marL="121920" marR="12192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effectLst/>
                          <a:latin typeface="inherit"/>
                        </a:rPr>
                        <a:t>刷新 </a:t>
                      </a:r>
                      <a:r>
                        <a:rPr lang="en-US" altLang="zh-CN">
                          <a:effectLst/>
                          <a:latin typeface="inherit"/>
                        </a:rPr>
                        <a:t>Git </a:t>
                      </a:r>
                      <a:r>
                        <a:rPr lang="zh-CN" altLang="en-US">
                          <a:effectLst/>
                          <a:latin typeface="inherit"/>
                        </a:rPr>
                        <a:t>状态，更新图表和文件列表</a:t>
                      </a:r>
                    </a:p>
                  </a:txBody>
                  <a:tcPr marL="121920" marR="121920" marT="76200" marB="76200"/>
                </a:tc>
                <a:extLst>
                  <a:ext uri="{0D108BD9-81ED-4DB2-BD59-A6C34878D82A}">
                    <a16:rowId xmlns:a16="http://schemas.microsoft.com/office/drawing/2014/main" val="402597377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94126D4F-5352-4868-B96F-2A1F98BA8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68" y="2096625"/>
            <a:ext cx="950374" cy="52636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92F77B9-278D-4131-BFE2-DC3C6BEDC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62" y="2780691"/>
            <a:ext cx="588562" cy="55758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EACE44A-47AA-449F-B314-E9D2BF8454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39" y="3539044"/>
            <a:ext cx="594279" cy="52636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DDC5212-966F-4A3B-A99D-3BEE99CD6E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396" y="4256609"/>
            <a:ext cx="498300" cy="55366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CEEA88D-537D-4CC7-880C-1DE0AB9D1D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060" y="4976334"/>
            <a:ext cx="446282" cy="52996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FDDB5C6-03FD-4CE6-83A4-4AA99E9C05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575" y="5683849"/>
            <a:ext cx="476767" cy="55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812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0" y="5283200"/>
            <a:ext cx="12192188" cy="1574800"/>
            <a:chOff x="1" y="5283225"/>
            <a:chExt cx="12191999" cy="1574776"/>
          </a:xfrm>
        </p:grpSpPr>
        <p:sp>
          <p:nvSpPr>
            <p:cNvPr id="4" name="powerpoint template design by DAJU_PPT正版来源小红书大橘PPT微信DAJU_PPT请勿抄袭搬运！盗版必究！-1"/>
            <p:cNvSpPr/>
            <p:nvPr/>
          </p:nvSpPr>
          <p:spPr>
            <a:xfrm>
              <a:off x="1" y="5283225"/>
              <a:ext cx="12191999" cy="1574776"/>
            </a:xfrm>
            <a:custGeom>
              <a:avLst/>
              <a:gdLst>
                <a:gd name="connsiteX0" fmla="*/ 0 w 12191999"/>
                <a:gd name="connsiteY0" fmla="*/ 0 h 1574776"/>
                <a:gd name="connsiteX1" fmla="*/ 121527 w 12191999"/>
                <a:gd name="connsiteY1" fmla="*/ 105084 h 1574776"/>
                <a:gd name="connsiteX2" fmla="*/ 6096001 w 12191999"/>
                <a:gd name="connsiteY2" fmla="*/ 1545053 h 1574776"/>
                <a:gd name="connsiteX3" fmla="*/ 12070473 w 12191999"/>
                <a:gd name="connsiteY3" fmla="*/ 105085 h 1574776"/>
                <a:gd name="connsiteX4" fmla="*/ 12191999 w 12191999"/>
                <a:gd name="connsiteY4" fmla="*/ 1 h 1574776"/>
                <a:gd name="connsiteX5" fmla="*/ 12191999 w 12191999"/>
                <a:gd name="connsiteY5" fmla="*/ 1574776 h 1574776"/>
                <a:gd name="connsiteX6" fmla="*/ 0 w 12191999"/>
                <a:gd name="connsiteY6" fmla="*/ 1574776 h 157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574776">
                  <a:moveTo>
                    <a:pt x="0" y="0"/>
                  </a:moveTo>
                  <a:lnTo>
                    <a:pt x="121527" y="105084"/>
                  </a:lnTo>
                  <a:cubicBezTo>
                    <a:pt x="1232752" y="959961"/>
                    <a:pt x="3490973" y="1545053"/>
                    <a:pt x="6096001" y="1545053"/>
                  </a:cubicBezTo>
                  <a:cubicBezTo>
                    <a:pt x="8701028" y="1545053"/>
                    <a:pt x="10959248" y="959962"/>
                    <a:pt x="12070473" y="105085"/>
                  </a:cubicBezTo>
                  <a:lnTo>
                    <a:pt x="12191999" y="1"/>
                  </a:lnTo>
                  <a:lnTo>
                    <a:pt x="12191999" y="1574776"/>
                  </a:lnTo>
                  <a:lnTo>
                    <a:pt x="0" y="1574776"/>
                  </a:ln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5" name="powerpoint template design by DAJU_PPT正版来源小红书大橘PPT微信DAJU_PPT请勿抄袭搬运！盗版必究！-2" hidden="1"/>
            <p:cNvSpPr/>
            <p:nvPr userDrawn="1"/>
          </p:nvSpPr>
          <p:spPr>
            <a:xfrm>
              <a:off x="1" y="5804166"/>
              <a:ext cx="12191999" cy="1053835"/>
            </a:xfrm>
            <a:custGeom>
              <a:avLst/>
              <a:gdLst>
                <a:gd name="connsiteX0" fmla="*/ 0 w 12191999"/>
                <a:gd name="connsiteY0" fmla="*/ 0 h 1053835"/>
                <a:gd name="connsiteX1" fmla="*/ 84912 w 12191999"/>
                <a:gd name="connsiteY1" fmla="*/ 44439 h 1053835"/>
                <a:gd name="connsiteX2" fmla="*/ 6096001 w 12191999"/>
                <a:gd name="connsiteY2" fmla="*/ 918960 h 1053835"/>
                <a:gd name="connsiteX3" fmla="*/ 12107089 w 12191999"/>
                <a:gd name="connsiteY3" fmla="*/ 44439 h 1053835"/>
                <a:gd name="connsiteX4" fmla="*/ 12191999 w 12191999"/>
                <a:gd name="connsiteY4" fmla="*/ 1 h 1053835"/>
                <a:gd name="connsiteX5" fmla="*/ 12191999 w 12191999"/>
                <a:gd name="connsiteY5" fmla="*/ 1053835 h 1053835"/>
                <a:gd name="connsiteX6" fmla="*/ 0 w 12191999"/>
                <a:gd name="connsiteY6" fmla="*/ 1053835 h 105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53835">
                  <a:moveTo>
                    <a:pt x="0" y="0"/>
                  </a:moveTo>
                  <a:lnTo>
                    <a:pt x="84912" y="44439"/>
                  </a:lnTo>
                  <a:cubicBezTo>
                    <a:pt x="1182612" y="562756"/>
                    <a:pt x="3462028" y="918960"/>
                    <a:pt x="6096001" y="918960"/>
                  </a:cubicBezTo>
                  <a:cubicBezTo>
                    <a:pt x="8729972" y="918960"/>
                    <a:pt x="11009388" y="562756"/>
                    <a:pt x="12107089" y="44439"/>
                  </a:cubicBezTo>
                  <a:lnTo>
                    <a:pt x="12191999" y="1"/>
                  </a:lnTo>
                  <a:lnTo>
                    <a:pt x="12191999" y="1053835"/>
                  </a:lnTo>
                  <a:lnTo>
                    <a:pt x="0" y="1053835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  <p:sp>
          <p:nvSpPr>
            <p:cNvPr id="8" name="powerpoint template design by DAJU_PPT正版来源小红书大橘PPT微信DAJU_PPT请勿抄袭搬运！盗版必究！-3"/>
            <p:cNvSpPr/>
            <p:nvPr userDrawn="1"/>
          </p:nvSpPr>
          <p:spPr>
            <a:xfrm>
              <a:off x="1" y="5826095"/>
              <a:ext cx="12191999" cy="1031906"/>
            </a:xfrm>
            <a:custGeom>
              <a:avLst/>
              <a:gdLst>
                <a:gd name="connsiteX0" fmla="*/ 0 w 12191999"/>
                <a:gd name="connsiteY0" fmla="*/ 0 h 1031906"/>
                <a:gd name="connsiteX1" fmla="*/ 97612 w 12191999"/>
                <a:gd name="connsiteY1" fmla="*/ 51085 h 1031906"/>
                <a:gd name="connsiteX2" fmla="*/ 6108700 w 12191999"/>
                <a:gd name="connsiteY2" fmla="*/ 925606 h 1031906"/>
                <a:gd name="connsiteX3" fmla="*/ 12119789 w 12191999"/>
                <a:gd name="connsiteY3" fmla="*/ 51085 h 1031906"/>
                <a:gd name="connsiteX4" fmla="*/ 12191999 w 12191999"/>
                <a:gd name="connsiteY4" fmla="*/ 13293 h 1031906"/>
                <a:gd name="connsiteX5" fmla="*/ 12191999 w 12191999"/>
                <a:gd name="connsiteY5" fmla="*/ 1031906 h 1031906"/>
                <a:gd name="connsiteX6" fmla="*/ 0 w 12191999"/>
                <a:gd name="connsiteY6" fmla="*/ 1031906 h 103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1031906">
                  <a:moveTo>
                    <a:pt x="0" y="0"/>
                  </a:moveTo>
                  <a:lnTo>
                    <a:pt x="97612" y="51085"/>
                  </a:lnTo>
                  <a:cubicBezTo>
                    <a:pt x="1195312" y="569402"/>
                    <a:pt x="3474728" y="925606"/>
                    <a:pt x="6108700" y="925606"/>
                  </a:cubicBezTo>
                  <a:cubicBezTo>
                    <a:pt x="8742672" y="925606"/>
                    <a:pt x="11022088" y="569402"/>
                    <a:pt x="12119789" y="51085"/>
                  </a:cubicBezTo>
                  <a:lnTo>
                    <a:pt x="12191999" y="13293"/>
                  </a:lnTo>
                  <a:lnTo>
                    <a:pt x="12191999" y="1031906"/>
                  </a:lnTo>
                  <a:lnTo>
                    <a:pt x="0" y="1031906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2.0 45 Light"/>
                <a:ea typeface="阿里巴巴普惠体 2.0 45 Light"/>
                <a:cs typeface="+mn-cs"/>
              </a:endParaRPr>
            </a:p>
          </p:txBody>
        </p:sp>
      </p:grpSp>
      <p:sp>
        <p:nvSpPr>
          <p:cNvPr id="87" name="powerpoint template design by DAJU_PPT正版来源小红书大橘PPT微信DAJU_PPT请勿抄袭搬运！盗版必究！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>
                <a:solidFill>
                  <a:schemeClr val="bg1"/>
                </a:solidFill>
              </a:rPr>
              <a:t>9</a:t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959417" y="8553167"/>
            <a:ext cx="6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4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075669" y="2030205"/>
            <a:ext cx="8040663" cy="18466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CN" sz="6600" b="1" spc="300" dirty="0">
                <a:solidFill>
                  <a:schemeClr val="accent2"/>
                </a:solidFill>
                <a:cs typeface="+mn-ea"/>
                <a:sym typeface="+mn-lt"/>
              </a:rPr>
              <a:t>THANKS</a:t>
            </a:r>
          </a:p>
          <a:p>
            <a:pPr algn="ctr"/>
            <a:r>
              <a:rPr lang="zh-CN" altLang="en-US" sz="5400" b="1" spc="300" dirty="0">
                <a:solidFill>
                  <a:schemeClr val="accent1"/>
                </a:solidFill>
                <a:cs typeface="+mn-ea"/>
                <a:sym typeface="+mn-lt"/>
              </a:rPr>
              <a:t>谢谢观看，恳请批评指正</a:t>
            </a:r>
          </a:p>
        </p:txBody>
      </p:sp>
      <p:grpSp>
        <p:nvGrpSpPr>
          <p:cNvPr id="13" name="powerpoint template design by DAJU_PPT正版来源小红书大橘PPT微信DAJU_PPT请勿抄袭搬运！盗版必究！"/>
          <p:cNvGrpSpPr/>
          <p:nvPr/>
        </p:nvGrpSpPr>
        <p:grpSpPr>
          <a:xfrm>
            <a:off x="2656946" y="4543521"/>
            <a:ext cx="6878109" cy="160811"/>
            <a:chOff x="2656946" y="4546640"/>
            <a:chExt cx="6878109" cy="160811"/>
          </a:xfrm>
        </p:grpSpPr>
        <p:cxnSp>
          <p:nvCxnSpPr>
            <p:cNvPr id="14" name="powerpoint template design by DAJU_PPT正版来源小红书大橘PPT微信DAJU_PPT请勿抄袭搬运！盗版必究！-1"/>
            <p:cNvCxnSpPr/>
            <p:nvPr/>
          </p:nvCxnSpPr>
          <p:spPr>
            <a:xfrm>
              <a:off x="2978668" y="4627045"/>
              <a:ext cx="6234664" cy="0"/>
            </a:xfrm>
            <a:prstGeom prst="line">
              <a:avLst/>
            </a:prstGeom>
            <a:solidFill>
              <a:schemeClr val="accent2"/>
            </a:solidFill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656946" y="4546640"/>
              <a:ext cx="6878109" cy="160811"/>
              <a:chOff x="3756540" y="4546640"/>
              <a:chExt cx="6878109" cy="16081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375329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27" name="powerpoint template design by DAJU_PPT正版来源小红书大橘PPT微信DAJU_PPT请勿抄袭搬运！盗版必究！-2"/>
                <p:cNvSpPr/>
                <p:nvPr>
                  <p:custDataLst>
                    <p:tags r:id="rId5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powerpoint template design by DAJU_PPT正版来源小红书大橘PPT微信DAJU_PPT请勿抄袭搬运！盗版必究！-3"/>
                <p:cNvSpPr/>
                <p:nvPr>
                  <p:custDataLst>
                    <p:tags r:id="rId6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powerpoint template design by DAJU_PPT正版来源小红书大橘PPT微信DAJU_PPT请勿抄袭搬运！盗版必究！-4"/>
                <p:cNvSpPr/>
                <p:nvPr>
                  <p:custDataLst>
                    <p:tags r:id="rId7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flipH="1">
                <a:off x="3756540" y="4546640"/>
                <a:ext cx="259320" cy="160811"/>
                <a:chOff x="1624393" y="5255315"/>
                <a:chExt cx="1415847" cy="878001"/>
              </a:xfrm>
              <a:solidFill>
                <a:schemeClr val="accent2"/>
              </a:solidFill>
            </p:grpSpPr>
            <p:sp>
              <p:nvSpPr>
                <p:cNvPr id="19" name="powerpoint template design by DAJU_PPT正版来源小红书大橘PPT微信DAJU_PPT请勿抄袭搬运！盗版必究！-5"/>
                <p:cNvSpPr/>
                <p:nvPr>
                  <p:custDataLst>
                    <p:tags r:id="rId2"/>
                  </p:custDataLst>
                </p:nvPr>
              </p:nvSpPr>
              <p:spPr>
                <a:xfrm rot="16200000">
                  <a:off x="1390067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powerpoint template design by DAJU_PPT正版来源小红书大橘PPT微信DAJU_PPT请勿抄袭搬运！盗版必究！-6"/>
                <p:cNvSpPr/>
                <p:nvPr>
                  <p:custDataLst>
                    <p:tags r:id="rId3"/>
                  </p:custDataLst>
                </p:nvPr>
              </p:nvSpPr>
              <p:spPr>
                <a:xfrm rot="16200000">
                  <a:off x="1893316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powerpoint template design by DAJU_PPT正版来源小红书大橘PPT微信DAJU_PPT请勿抄袭搬运！盗版必究！-7"/>
                <p:cNvSpPr/>
                <p:nvPr>
                  <p:custDataLst>
                    <p:tags r:id="rId4"/>
                  </p:custDataLst>
                </p:nvPr>
              </p:nvSpPr>
              <p:spPr>
                <a:xfrm rot="16200000">
                  <a:off x="2396565" y="5489641"/>
                  <a:ext cx="878001" cy="409349"/>
                </a:xfrm>
                <a:custGeom>
                  <a:avLst/>
                  <a:gdLst>
                    <a:gd name="connsiteX0" fmla="*/ 0 w 342900"/>
                    <a:gd name="connsiteY0" fmla="*/ 0 h 171450"/>
                    <a:gd name="connsiteX1" fmla="*/ 342900 w 342900"/>
                    <a:gd name="connsiteY1" fmla="*/ 0 h 171450"/>
                    <a:gd name="connsiteX2" fmla="*/ 171450 w 342900"/>
                    <a:gd name="connsiteY2" fmla="*/ 171450 h 171450"/>
                    <a:gd name="connsiteX3" fmla="*/ 0 w 342900"/>
                    <a:gd name="connsiteY3" fmla="*/ 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900" h="171450">
                      <a:moveTo>
                        <a:pt x="0" y="0"/>
                      </a:moveTo>
                      <a:lnTo>
                        <a:pt x="342900" y="0"/>
                      </a:lnTo>
                      <a:cubicBezTo>
                        <a:pt x="248211" y="0"/>
                        <a:pt x="171450" y="76761"/>
                        <a:pt x="171450" y="171450"/>
                      </a:cubicBezTo>
                      <a:cubicBezTo>
                        <a:pt x="171450" y="76761"/>
                        <a:pt x="94689" y="0"/>
                        <a:pt x="0" y="0"/>
                      </a:cubicBezTo>
                      <a:close/>
                    </a:path>
                  </a:pathLst>
                </a:custGeom>
                <a:grpFill/>
                <a:ln w="25400" cap="rnd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027" y="533337"/>
            <a:ext cx="1499612" cy="1499612"/>
          </a:xfrm>
          <a:prstGeom prst="rect">
            <a:avLst/>
          </a:prstGeom>
        </p:spPr>
      </p:pic>
      <p:sp>
        <p:nvSpPr>
          <p:cNvPr id="21" name="powerpoint template design by DAJU_PPT正版来源小红书大橘PPT微信DAJU_PPT请勿抄袭搬运！盗版必究！-1"/>
          <p:cNvSpPr txBox="1"/>
          <p:nvPr/>
        </p:nvSpPr>
        <p:spPr>
          <a:xfrm>
            <a:off x="4242045" y="4107167"/>
            <a:ext cx="3707911" cy="4546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人：</a:t>
            </a:r>
            <a:r>
              <a:rPr lang="zh-CN" altLang="en-US" b="1">
                <a:latin typeface="+mn-ea"/>
              </a:rPr>
              <a:t>查琪乐</a:t>
            </a:r>
            <a:endParaRPr lang="en-US" altLang="zh-CN" sz="1800" b="1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Theme">
  <a:themeElements>
    <a:clrScheme name="00深蓝+金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94761"/>
      </a:accent1>
      <a:accent2>
        <a:srgbClr val="D0B296"/>
      </a:accent2>
      <a:accent3>
        <a:srgbClr val="394761"/>
      </a:accent3>
      <a:accent4>
        <a:srgbClr val="D0B296"/>
      </a:accent4>
      <a:accent5>
        <a:srgbClr val="394761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508</Words>
  <Application>Microsoft Office PowerPoint</Application>
  <PresentationFormat>宽屏</PresentationFormat>
  <Paragraphs>84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inherit</vt:lpstr>
      <vt:lpstr>Noto Sans SC</vt:lpstr>
      <vt:lpstr>阿里巴巴普惠体 2.0 45 Light</vt:lpstr>
      <vt:lpstr>等线</vt:lpstr>
      <vt:lpstr>微软雅黑</vt:lpstr>
      <vt:lpstr>Arial</vt:lpstr>
      <vt:lpstr>Office Theme</vt:lpstr>
      <vt:lpstr>PowerPoint 演示文稿</vt:lpstr>
      <vt:lpstr>主要职责</vt:lpstr>
      <vt:lpstr>代码质量把控</vt:lpstr>
      <vt:lpstr>部署与运维能力</vt:lpstr>
      <vt:lpstr>任务分解与分配</vt:lpstr>
      <vt:lpstr>Git协作管理</vt:lpstr>
      <vt:lpstr>Git协作管理</vt:lpstr>
      <vt:lpstr>Git协作管理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曾子升</dc:creator>
  <cp:lastModifiedBy>light star</cp:lastModifiedBy>
  <cp:revision>982</cp:revision>
  <dcterms:created xsi:type="dcterms:W3CDTF">2019-11-26T03:41:00Z</dcterms:created>
  <dcterms:modified xsi:type="dcterms:W3CDTF">2026-06-27T09:08:14Z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F9D69DD7E767446EB6CAEF19E7BCACAB_13</vt:lpwstr>
  </property>
  <property fmtid="{D5CDD505-2E9C-101B-9397-08002B2CF9AE}" pid="3" name="KSOProductBuildVer">
    <vt:lpwstr>2052-12.1.0.23542</vt:lpwstr>
  </property>
</Properties>
</file>