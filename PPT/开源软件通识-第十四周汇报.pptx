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639" r:id="rId2"/>
    <p:sldId id="643" r:id="rId3"/>
    <p:sldId id="905" r:id="rId4"/>
    <p:sldId id="907" r:id="rId5"/>
    <p:sldId id="908" r:id="rId6"/>
    <p:sldId id="906" r:id="rId7"/>
    <p:sldId id="909" r:id="rId8"/>
    <p:sldId id="910" r:id="rId9"/>
    <p:sldId id="911" r:id="rId10"/>
    <p:sldId id="912" r:id="rId11"/>
    <p:sldId id="913" r:id="rId12"/>
    <p:sldId id="914" r:id="rId13"/>
    <p:sldId id="915" r:id="rId14"/>
    <p:sldId id="917" r:id="rId15"/>
    <p:sldId id="916" r:id="rId16"/>
    <p:sldId id="918" r:id="rId17"/>
    <p:sldId id="886" r:id="rId18"/>
    <p:sldId id="665" r:id="rId19"/>
    <p:sldId id="896" r:id="rId20"/>
    <p:sldId id="811" r:id="rId21"/>
    <p:sldId id="923" r:id="rId22"/>
    <p:sldId id="920" r:id="rId23"/>
    <p:sldId id="904" r:id="rId24"/>
    <p:sldId id="921" r:id="rId25"/>
    <p:sldId id="922" r:id="rId26"/>
    <p:sldId id="897" r:id="rId27"/>
    <p:sldId id="898" r:id="rId28"/>
    <p:sldId id="899" r:id="rId29"/>
    <p:sldId id="919" r:id="rId30"/>
    <p:sldId id="716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643"/>
            <p14:sldId id="905"/>
            <p14:sldId id="907"/>
            <p14:sldId id="908"/>
            <p14:sldId id="906"/>
            <p14:sldId id="909"/>
            <p14:sldId id="910"/>
            <p14:sldId id="911"/>
            <p14:sldId id="912"/>
            <p14:sldId id="913"/>
            <p14:sldId id="914"/>
            <p14:sldId id="915"/>
            <p14:sldId id="917"/>
            <p14:sldId id="916"/>
            <p14:sldId id="918"/>
            <p14:sldId id="886"/>
            <p14:sldId id="665"/>
            <p14:sldId id="896"/>
            <p14:sldId id="811"/>
            <p14:sldId id="923"/>
            <p14:sldId id="920"/>
            <p14:sldId id="904"/>
            <p14:sldId id="921"/>
            <p14:sldId id="922"/>
            <p14:sldId id="897"/>
            <p14:sldId id="898"/>
            <p14:sldId id="899"/>
            <p14:sldId id="919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700" autoAdjust="0"/>
  </p:normalViewPr>
  <p:slideViewPr>
    <p:cSldViewPr snapToGrid="0" showGuides="1">
      <p:cViewPr varScale="1">
        <p:scale>
          <a:sx n="73" d="100"/>
          <a:sy n="73" d="100"/>
        </p:scale>
        <p:origin x="1070" y="67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2026/6/2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050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3674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92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167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9014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7785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0297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5581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1704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579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0334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707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871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4348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4683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3646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0843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440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28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00130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30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2.xml"/><Relationship Id="rId7" Type="http://schemas.openxmlformats.org/officeDocument/2006/relationships/image" Target="../media/image1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10.65.199.3:5173/login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image" Target="../media/image1.png"/><Relationship Id="rId4" Type="http://schemas.openxmlformats.org/officeDocument/2006/relationships/tags" Target="../tags/tag16.xml"/><Relationship Id="rId9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4457797" y="2145249"/>
            <a:ext cx="3276600" cy="923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spc="300">
                <a:solidFill>
                  <a:schemeClr val="accent1"/>
                </a:solidFill>
                <a:cs typeface="+mn-ea"/>
                <a:sym typeface="+mn-lt"/>
              </a:rPr>
              <a:t>开源软件通识</a:t>
            </a:r>
          </a:p>
        </p:txBody>
      </p:sp>
      <p:sp>
        <p:nvSpPr>
          <p:cNvPr id="79" name="powerpoint template design by DAJU_PPT正版来源小红书大橘PPT微信DAJU_PPT请勿抄袭搬运！盗版必究！"/>
          <p:cNvSpPr txBox="1"/>
          <p:nvPr/>
        </p:nvSpPr>
        <p:spPr>
          <a:xfrm>
            <a:off x="1242152" y="3261623"/>
            <a:ext cx="9707884" cy="56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spc="300">
                <a:cs typeface="+mn-ea"/>
                <a:sym typeface="+mn-lt"/>
              </a:rPr>
              <a:t>第十四周汇报</a:t>
            </a: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人：</a:t>
            </a:r>
            <a:r>
              <a:rPr lang="zh-CN" altLang="en-US" b="1">
                <a:latin typeface="+mn-ea"/>
              </a:rPr>
              <a:t>查琪乐</a:t>
            </a:r>
            <a:endParaRPr lang="en-US" altLang="zh-CN" sz="1800" b="1">
              <a:latin typeface="+mn-ea"/>
            </a:endParaRPr>
          </a:p>
          <a:p>
            <a:pPr algn="ctr"/>
            <a:r>
              <a:rPr lang="zh-CN" altLang="en-US" b="1">
                <a:latin typeface="+mn-ea"/>
              </a:rPr>
              <a:t>小组成员：查琪乐、邱志斌、邱嘉堃、刘辉艺、吴思雨、闫皇冲、李伟鹏、褚茂誉</a:t>
            </a: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上周小组工作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2</a:t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管理员侧边栏功能调整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李伟鹏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1026" name="图片 1">
            <a:extLst>
              <a:ext uri="{FF2B5EF4-FFF2-40B4-BE49-F238E27FC236}">
                <a16:creationId xmlns:a16="http://schemas.microsoft.com/office/drawing/2014/main" id="{C0AFC19A-0409-41A5-8E1E-86E2EA9B0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13" y="2125417"/>
            <a:ext cx="8968307" cy="3926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8A9E996-5D7F-441F-BDE3-B337E77C879F}"/>
              </a:ext>
            </a:extLst>
          </p:cNvPr>
          <p:cNvSpPr txBox="1"/>
          <p:nvPr/>
        </p:nvSpPr>
        <p:spPr>
          <a:xfrm>
            <a:off x="711843" y="1320760"/>
            <a:ext cx="1132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Issue: </a:t>
            </a:r>
            <a:r>
              <a:rPr lang="zh-CN" altLang="zh-CN" sz="24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系统权限拆分：管理界面仅保留用户与字典管理，其余功能移交教务管理</a:t>
            </a:r>
            <a:endParaRPr lang="zh-CN" altLang="en-US" sz="24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E590FC-2F9A-4B93-AE57-89333EB2E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42" y="2795247"/>
            <a:ext cx="6685463" cy="368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68819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EA405580-FFE4-404B-AC64-4EE74B65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claude-opus-4-7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49DD6-EB0A-4B4A-854B-28EFE1BDB460}"/>
              </a:ext>
            </a:extLst>
          </p:cNvPr>
          <p:cNvSpPr txBox="1"/>
          <p:nvPr/>
        </p:nvSpPr>
        <p:spPr>
          <a:xfrm>
            <a:off x="1671146" y="1900746"/>
            <a:ext cx="636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学生管理的增删改操作从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ADMIN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移交给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ACADEMIC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ED408D-91EB-4C2B-9C9B-42D2CFA298A7}"/>
              </a:ext>
            </a:extLst>
          </p:cNvPr>
          <p:cNvSpPr txBox="1"/>
          <p:nvPr/>
        </p:nvSpPr>
        <p:spPr>
          <a:xfrm>
            <a:off x="777766" y="1187669"/>
            <a:ext cx="23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操作权限的修改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C1E0E-2E7E-4AF3-B326-F06D73028CB8}"/>
              </a:ext>
            </a:extLst>
          </p:cNvPr>
          <p:cNvSpPr txBox="1"/>
          <p:nvPr/>
        </p:nvSpPr>
        <p:spPr>
          <a:xfrm>
            <a:off x="1671145" y="2844655"/>
            <a:ext cx="9637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成绩解锁管理的全部操作移交给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ACADEMIC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，包括紧急直接解锁、成绩单列表、勘误申请审批、最终解锁、拒绝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3AB925-9B02-4E2E-8C39-AED81B7926D6}"/>
              </a:ext>
            </a:extLst>
          </p:cNvPr>
          <p:cNvSpPr txBox="1"/>
          <p:nvPr/>
        </p:nvSpPr>
        <p:spPr>
          <a:xfrm>
            <a:off x="1671145" y="3883929"/>
            <a:ext cx="9637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移除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ADMIN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角色分支逻辑，将勘误工单的两级审批（教务审核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管理员解锁）简化为教务管理员单角色全流程处理（教务审核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教务解锁）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C43140-200E-4B03-BA7F-8E0E4F15535D}"/>
              </a:ext>
            </a:extLst>
          </p:cNvPr>
          <p:cNvSpPr txBox="1"/>
          <p:nvPr/>
        </p:nvSpPr>
        <p:spPr>
          <a:xfrm>
            <a:off x="1717821" y="5032313"/>
            <a:ext cx="9637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行政班级的增删改及学生分配操作开放给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ACADEMIC</a:t>
            </a:r>
            <a:r>
              <a:rPr lang="zh-CN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。学院、专业、学期的写操作保持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ADMIN-only </a:t>
            </a:r>
            <a:r>
              <a:rPr lang="zh-CN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不变（属于字典管理核心职责）</a:t>
            </a:r>
            <a:endParaRPr lang="zh-CN" altLang="en-US" kern="10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902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EA405580-FFE4-404B-AC64-4EE74B65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claude-opus-4-7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49DD6-EB0A-4B4A-854B-28EFE1BDB460}"/>
              </a:ext>
            </a:extLst>
          </p:cNvPr>
          <p:cNvSpPr txBox="1"/>
          <p:nvPr/>
        </p:nvSpPr>
        <p:spPr>
          <a:xfrm>
            <a:off x="1671145" y="1900746"/>
            <a:ext cx="9480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删除旧的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`/admin/students`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`/admin/classes`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`/admin/score-unlock`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路由，新增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3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`/academic/*`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路由。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ED408D-91EB-4C2B-9C9B-42D2CFA298A7}"/>
              </a:ext>
            </a:extLst>
          </p:cNvPr>
          <p:cNvSpPr txBox="1"/>
          <p:nvPr/>
        </p:nvSpPr>
        <p:spPr>
          <a:xfrm>
            <a:off x="777766" y="1187669"/>
            <a:ext cx="23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前端页面调整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C1E0E-2E7E-4AF3-B326-F06D73028CB8}"/>
              </a:ext>
            </a:extLst>
          </p:cNvPr>
          <p:cNvSpPr txBox="1"/>
          <p:nvPr/>
        </p:nvSpPr>
        <p:spPr>
          <a:xfrm>
            <a:off x="1671145" y="3059668"/>
            <a:ext cx="9637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移除所有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ADMIN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角色条件分支，简化为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ACADEMIC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单一角色操作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3AB925-9B02-4E2E-8C39-AED81B7926D6}"/>
              </a:ext>
            </a:extLst>
          </p:cNvPr>
          <p:cNvSpPr txBox="1"/>
          <p:nvPr/>
        </p:nvSpPr>
        <p:spPr>
          <a:xfrm>
            <a:off x="1671145" y="3883929"/>
            <a:ext cx="96379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提示文案更新</a:t>
            </a:r>
          </a:p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`handleApprove`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确认框：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同意后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将转交管理员最终审批解锁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同意后可进行解锁操作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 |</a:t>
            </a:r>
            <a:endParaRPr lang="zh-CN" altLang="zh-CN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`handleApprove`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成功提示：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已同意，已转交管理员审批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已同意，可进行解锁操作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 </a:t>
            </a:r>
            <a:endParaRPr lang="zh-CN" altLang="zh-CN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`handleApprove`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标题 ：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教务审核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审核确认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`handleUnlock`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标题 ：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管理员解锁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"` 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`"</a:t>
            </a:r>
            <a:r>
              <a:rPr lang="zh-CN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解锁确认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71083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专业达成度增加图表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褚茂誉</a:t>
            </a: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4A07E96-3443-4C75-9813-D22A8DAB887D}"/>
              </a:ext>
            </a:extLst>
          </p:cNvPr>
          <p:cNvSpPr txBox="1"/>
          <p:nvPr/>
        </p:nvSpPr>
        <p:spPr>
          <a:xfrm>
            <a:off x="1059180" y="1356222"/>
            <a:ext cx="10073640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issue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对前端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views/director/GlobalCompute.vue 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的专业级达成度结果（第三级）部分进行优化，增加更直观的图表展示。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4FB170-F79D-466C-9D6F-0044F69A823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29778" y="2705090"/>
            <a:ext cx="4752975" cy="3014980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827F51C0-2B20-4C0B-9023-F72CF99A4DB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65381" y="2705090"/>
            <a:ext cx="4867439" cy="301498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15DEBC-C778-48BF-A6AE-89FBE1A7390A}"/>
              </a:ext>
            </a:extLst>
          </p:cNvPr>
          <p:cNvSpPr txBox="1"/>
          <p:nvPr/>
        </p:nvSpPr>
        <p:spPr>
          <a:xfrm>
            <a:off x="2798119" y="5859151"/>
            <a:ext cx="986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柱状图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0E384A-CA35-401D-8910-98A8FEABB25F}"/>
              </a:ext>
            </a:extLst>
          </p:cNvPr>
          <p:cNvSpPr txBox="1"/>
          <p:nvPr/>
        </p:nvSpPr>
        <p:spPr>
          <a:xfrm>
            <a:off x="8146734" y="5859151"/>
            <a:ext cx="986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趋势图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EBA651-B770-4270-93FC-A6A2D6234EC1}"/>
              </a:ext>
            </a:extLst>
          </p:cNvPr>
          <p:cNvSpPr txBox="1"/>
          <p:nvPr/>
        </p:nvSpPr>
        <p:spPr>
          <a:xfrm>
            <a:off x="4183117" y="2196677"/>
            <a:ext cx="3153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Element Plus </a:t>
            </a:r>
            <a:r>
              <a:rPr lang="zh-CN" altLang="zh-CN" sz="180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风格颜色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2358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669803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claude-opus-4-7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EB41C3-378B-4B5C-AFE7-BD5D9ABC7499}"/>
              </a:ext>
            </a:extLst>
          </p:cNvPr>
          <p:cNvSpPr txBox="1"/>
          <p:nvPr/>
        </p:nvSpPr>
        <p:spPr>
          <a:xfrm>
            <a:off x="1355834" y="1774621"/>
            <a:ext cx="9480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对前端 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views/globalcompute.vue 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的专业级达成度结果（第三级）部分进行优化，增加一个柱状图和趋势图。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6B49E5-AB86-46E7-9299-3E2E1A541F89}"/>
              </a:ext>
            </a:extLst>
          </p:cNvPr>
          <p:cNvSpPr txBox="1"/>
          <p:nvPr/>
        </p:nvSpPr>
        <p:spPr>
          <a:xfrm>
            <a:off x="1355833" y="2658978"/>
            <a:ext cx="9480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按达成度排序显示（支持升序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降序切换）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96E872-3117-4528-8946-16F651278A2F}"/>
              </a:ext>
            </a:extLst>
          </p:cNvPr>
          <p:cNvSpPr txBox="1"/>
          <p:nvPr/>
        </p:nvSpPr>
        <p:spPr>
          <a:xfrm>
            <a:off x="1355833" y="3635668"/>
            <a:ext cx="94803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	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根据达成度值动态着色：</a:t>
            </a:r>
          </a:p>
          <a:p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绿色（≥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0.7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）：达标</a:t>
            </a:r>
          </a:p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橙色（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0.65-0.7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）：预警</a:t>
            </a:r>
          </a:p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红色（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&lt;0.65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）：不达标</a:t>
            </a:r>
          </a:p>
          <a:p>
            <a:endParaRPr lang="zh-CN" altLang="en-US" sz="1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7338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669803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claude-opus-4-7</a:t>
            </a:r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488BDE-60B5-45B7-B4F0-793EB6535DBF}"/>
              </a:ext>
            </a:extLst>
          </p:cNvPr>
          <p:cNvSpPr txBox="1"/>
          <p:nvPr/>
        </p:nvSpPr>
        <p:spPr>
          <a:xfrm>
            <a:off x="1261242" y="2180005"/>
            <a:ext cx="8439806" cy="31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u"/>
              <a:tabLst>
                <a:tab pos="457200" algn="l"/>
              </a:tabLst>
            </a:pPr>
            <a:r>
              <a:rPr lang="zh-CN" altLang="zh-CN" sz="1800" b="1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图表类型切换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：支持雷达图、柱状图、趋势图三种展示方式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u"/>
              <a:tabLst>
                <a:tab pos="457200" algn="l"/>
              </a:tabLst>
            </a:pPr>
            <a:r>
              <a:rPr lang="zh-CN" altLang="zh-CN" sz="1800" b="1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排序功能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：柱状图和趋势图支持升序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降序排列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u"/>
              <a:tabLst>
                <a:tab pos="457200" algn="l"/>
              </a:tabLst>
            </a:pPr>
            <a:r>
              <a:rPr lang="zh-CN" altLang="zh-CN" sz="1800" b="1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状态标识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：表格和图表根据达成度值显示不同颜色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u"/>
              <a:tabLst>
                <a:tab pos="457200" algn="l"/>
              </a:tabLst>
            </a:pPr>
            <a:r>
              <a:rPr lang="zh-CN" altLang="zh-CN" sz="1800" b="1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统计汇总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：显示平均、最高、最低达成度及不达标指标数量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u"/>
              <a:tabLst>
                <a:tab pos="457200" algn="l"/>
              </a:tabLst>
            </a:pPr>
            <a:r>
              <a:rPr lang="zh-CN" altLang="zh-CN" sz="1800" b="1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参考线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：趋势图中添加达标线和预警线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D2986D-F321-4A09-9965-7CD290B1C3FD}"/>
              </a:ext>
            </a:extLst>
          </p:cNvPr>
          <p:cNvSpPr txBox="1"/>
          <p:nvPr/>
        </p:nvSpPr>
        <p:spPr>
          <a:xfrm>
            <a:off x="777766" y="1187669"/>
            <a:ext cx="23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新增功能</a:t>
            </a:r>
          </a:p>
        </p:txBody>
      </p:sp>
    </p:spTree>
    <p:extLst>
      <p:ext uri="{BB962C8B-B14F-4D97-AF65-F5344CB8AC3E}">
        <p14:creationId xmlns:p14="http://schemas.microsoft.com/office/powerpoint/2010/main" val="42638611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25518" y="196496"/>
            <a:ext cx="9186041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/>
              <a:t>宏观看板图表展示</a:t>
            </a:r>
            <a:r>
              <a:rPr lang="en-US" altLang="zh-CN"/>
              <a:t>-</a:t>
            </a:r>
            <a:r>
              <a:rPr lang="zh-CN" altLang="en-US"/>
              <a:t>邱嘉堃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43DF5-E9AC-4B8B-A3DE-3F7DED928CF9}"/>
              </a:ext>
            </a:extLst>
          </p:cNvPr>
          <p:cNvSpPr txBox="1"/>
          <p:nvPr/>
        </p:nvSpPr>
        <p:spPr>
          <a:xfrm>
            <a:off x="685798" y="1296953"/>
            <a:ext cx="11253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Issue:“</a:t>
            </a:r>
            <a:r>
              <a:rPr lang="zh-CN" altLang="zh-CN" sz="180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宏观报表增加图表展示</a:t>
            </a:r>
            <a:r>
              <a:rPr lang="en-US" altLang="zh-CN" sz="180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80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，重点优化专业负责人</a:t>
            </a:r>
            <a:r>
              <a:rPr lang="en-US" altLang="zh-CN" sz="180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80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教学管理角色可查看的宏观看板页面。目标是在不改变现有三级达成度计算逻辑的前提下，把原本偏表格和数字的页面，升级为更直观的课程状态可视化页面</a:t>
            </a:r>
            <a:endParaRPr lang="zh-CN" altLang="en-US"/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B2DBE15C-A35B-41A4-8B2C-5480E9BBB69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106525" y="2007178"/>
            <a:ext cx="7163599" cy="438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2718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6838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OpenAI Codex</a:t>
            </a:r>
            <a:r>
              <a:rPr lang="zh-CN" altLang="en-US"/>
              <a:t>（</a:t>
            </a:r>
            <a:r>
              <a:rPr lang="en-US" altLang="zh-CN"/>
              <a:t>Codex </a:t>
            </a:r>
            <a:r>
              <a:rPr lang="zh-CN" altLang="en-US"/>
              <a:t>桌面端）</a:t>
            </a:r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068479-9E5D-4EEA-8F51-84B7796AE6A9}"/>
              </a:ext>
            </a:extLst>
          </p:cNvPr>
          <p:cNvSpPr txBox="1"/>
          <p:nvPr/>
        </p:nvSpPr>
        <p:spPr>
          <a:xfrm>
            <a:off x="1355834" y="1174978"/>
            <a:ext cx="9480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根据你对项目业务逻辑的了解，当前图表需求和同学做的是不是同一份工作？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807AD4-1D76-409D-A01D-5AAB72CBD490}"/>
              </a:ext>
            </a:extLst>
          </p:cNvPr>
          <p:cNvSpPr txBox="1"/>
          <p:nvPr/>
        </p:nvSpPr>
        <p:spPr>
          <a:xfrm>
            <a:off x="1355834" y="1877624"/>
            <a:ext cx="9480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你现在是一名世界一流的 </a:t>
            </a:r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UI 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设计师和前端设计师，我们要优化这版，你觉得如何做？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EAE38A-C8AD-41FF-BFBE-DFA587A1BB1E}"/>
              </a:ext>
            </a:extLst>
          </p:cNvPr>
          <p:cNvSpPr txBox="1"/>
          <p:nvPr/>
        </p:nvSpPr>
        <p:spPr>
          <a:xfrm>
            <a:off x="1355833" y="2496421"/>
            <a:ext cx="9480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现在我要完成宏观报表增加图表展示：折线图、柱状图、饼图，并且图表数据和表格一致。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5039CA-E14F-4E85-9758-2DA95038C57A}"/>
              </a:ext>
            </a:extLst>
          </p:cNvPr>
          <p:cNvSpPr txBox="1"/>
          <p:nvPr/>
        </p:nvSpPr>
        <p:spPr>
          <a:xfrm>
            <a:off x="1355833" y="3207551"/>
            <a:ext cx="9480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显示有问题，宏观看板只要统计本专业课程总数，不需要分时间。</a:t>
            </a:r>
            <a:endParaRPr lang="zh-CN" altLang="en-US"/>
          </a:p>
        </p:txBody>
      </p:sp>
      <p:pic>
        <p:nvPicPr>
          <p:cNvPr id="18" name="图片 17" descr="51e3d9b4-d5ff-4cf4-a443-ab461ecc4197">
            <a:extLst>
              <a:ext uri="{FF2B5EF4-FFF2-40B4-BE49-F238E27FC236}">
                <a16:creationId xmlns:a16="http://schemas.microsoft.com/office/drawing/2014/main" id="{0233FD2F-4193-4CFF-8338-8A38217138F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779537" y="3641682"/>
            <a:ext cx="6317615" cy="30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936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669803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claude-opus-4-7</a:t>
            </a:r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D2986D-F321-4A09-9965-7CD290B1C3FD}"/>
              </a:ext>
            </a:extLst>
          </p:cNvPr>
          <p:cNvSpPr txBox="1"/>
          <p:nvPr/>
        </p:nvSpPr>
        <p:spPr>
          <a:xfrm>
            <a:off x="777766" y="1187669"/>
            <a:ext cx="23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新增功能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F5D440-5F8A-4315-A429-1CD18E6B498D}"/>
              </a:ext>
            </a:extLst>
          </p:cNvPr>
          <p:cNvSpPr txBox="1"/>
          <p:nvPr/>
        </p:nvSpPr>
        <p:spPr>
          <a:xfrm>
            <a:off x="1090216" y="2180005"/>
            <a:ext cx="11259438" cy="290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前端页面优化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将原本偏统计数字的宏观看板改为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指标卡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图表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明细表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的结构。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课程总数、已完成、未完成、完成率等指标统一来自 dashboard.courseStatuses。</a:t>
            </a:r>
            <a:endParaRPr lang="zh-CN" altLang="zh-CN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趋势图展示课程锁定累计进度；环形图展示完成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未完成占比；柱状图展示各课程当前状态。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保留明细表，便于和图表数据互相核对。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2. 业务口径修正</a:t>
            </a:r>
            <a:endParaRPr lang="zh-CN" altLang="zh-CN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宏观看板只统计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当前专业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的课程总数和课程状态，不按时间范围过滤。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页面中的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当前范围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”“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本周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本月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本学期</a:t>
            </a:r>
            <a:r>
              <a:rPr lang="en-US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>
                <a:ea typeface="微软雅黑" panose="020B0503020204020204" pitchFamily="34" charset="-122"/>
                <a:cs typeface="Times New Roman" panose="02020603050405020304" pitchFamily="18" charset="0"/>
              </a:rPr>
              <a:t>等控件和文案已移除，避免误导用户认为课程总数会随时间变化。</a:t>
            </a:r>
          </a:p>
        </p:txBody>
      </p:sp>
    </p:spTree>
    <p:extLst>
      <p:ext uri="{BB962C8B-B14F-4D97-AF65-F5344CB8AC3E}">
        <p14:creationId xmlns:p14="http://schemas.microsoft.com/office/powerpoint/2010/main" val="89225434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25518" y="196496"/>
            <a:ext cx="9186041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/>
              <a:t>界面美化</a:t>
            </a:r>
            <a:r>
              <a:rPr lang="en-US" altLang="zh-CN"/>
              <a:t>-</a:t>
            </a:r>
            <a:r>
              <a:rPr lang="zh-CN" altLang="en-US"/>
              <a:t>闫皇冲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43DF5-E9AC-4B8B-A3DE-3F7DED928CF9}"/>
              </a:ext>
            </a:extLst>
          </p:cNvPr>
          <p:cNvSpPr txBox="1"/>
          <p:nvPr/>
        </p:nvSpPr>
        <p:spPr>
          <a:xfrm>
            <a:off x="685798" y="1296953"/>
            <a:ext cx="11253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Issue #47 </a:t>
            </a:r>
            <a:r>
              <a:rPr lang="zh-CN" altLang="en-US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对系统前端界面进行美化和表格布局优化</a:t>
            </a:r>
            <a:endParaRPr lang="zh-CN" altLang="en-US"/>
          </a:p>
        </p:txBody>
      </p:sp>
      <p:pic>
        <p:nvPicPr>
          <p:cNvPr id="11" name="图片 10" descr="cfd7d7ca-3776-429c-98b6-d06c78b7c378">
            <a:extLst>
              <a:ext uri="{FF2B5EF4-FFF2-40B4-BE49-F238E27FC236}">
                <a16:creationId xmlns:a16="http://schemas.microsoft.com/office/drawing/2014/main" id="{8A7F5A6F-CB6B-47B3-B55C-ABB13EA5E1F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3863" y="1957070"/>
            <a:ext cx="5264150" cy="2943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F47E628-4355-4E6B-A938-707FCD8EEA6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939180" y="3633454"/>
            <a:ext cx="6073725" cy="2943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89087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25518" y="196496"/>
            <a:ext cx="9186041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/>
              <a:t>界面美化</a:t>
            </a:r>
            <a:r>
              <a:rPr lang="en-US" altLang="zh-CN"/>
              <a:t>-</a:t>
            </a:r>
            <a:r>
              <a:rPr lang="zh-CN" altLang="en-US"/>
              <a:t>闫皇冲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43DF5-E9AC-4B8B-A3DE-3F7DED928CF9}"/>
              </a:ext>
            </a:extLst>
          </p:cNvPr>
          <p:cNvSpPr txBox="1"/>
          <p:nvPr/>
        </p:nvSpPr>
        <p:spPr>
          <a:xfrm>
            <a:off x="685798" y="1296953"/>
            <a:ext cx="11253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Issue #47 </a:t>
            </a:r>
            <a:r>
              <a:rPr lang="zh-CN" altLang="en-US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对系统前端界面进行美化和表格布局优化</a:t>
            </a:r>
            <a:endParaRPr lang="zh-CN" altLang="en-US"/>
          </a:p>
        </p:txBody>
      </p:sp>
      <p:pic>
        <p:nvPicPr>
          <p:cNvPr id="6" name="图片 5" descr="3d9bcd19-d1fa-4033-a7d7-062499731fad">
            <a:extLst>
              <a:ext uri="{FF2B5EF4-FFF2-40B4-BE49-F238E27FC236}">
                <a16:creationId xmlns:a16="http://schemas.microsoft.com/office/drawing/2014/main" id="{0C9B7732-EB1A-4648-9065-A85CDD89B1D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85797" y="2067451"/>
            <a:ext cx="7708645" cy="180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5AA494-EAFA-48F6-9CF3-71F9BA6E168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73324" y="3504597"/>
            <a:ext cx="6339581" cy="3072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40625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25518" y="196496"/>
            <a:ext cx="9186041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/>
              <a:t>管理员禁止禁用自己</a:t>
            </a:r>
            <a:r>
              <a:rPr lang="en-US" altLang="zh-CN"/>
              <a:t>-</a:t>
            </a:r>
            <a:r>
              <a:rPr lang="zh-CN" altLang="en-US"/>
              <a:t>闫皇冲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43DF5-E9AC-4B8B-A3DE-3F7DED928CF9}"/>
              </a:ext>
            </a:extLst>
          </p:cNvPr>
          <p:cNvSpPr txBox="1"/>
          <p:nvPr/>
        </p:nvSpPr>
        <p:spPr>
          <a:xfrm>
            <a:off x="685798" y="1296953"/>
            <a:ext cx="11253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Issue #62</a:t>
            </a:r>
            <a:r>
              <a:rPr lang="zh-CN" altLang="en-US" sz="180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禁止管理员禁用自己</a:t>
            </a: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8FDDBA-1336-4AF1-8702-2EBA5748C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913" y="2014691"/>
            <a:ext cx="8944303" cy="438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7640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2" name="标题 5">
            <a:extLst>
              <a:ext uri="{FF2B5EF4-FFF2-40B4-BE49-F238E27FC236}">
                <a16:creationId xmlns:a16="http://schemas.microsoft.com/office/drawing/2014/main" id="{C9AEB05B-7C01-44FE-A090-FA893DCC2609}"/>
              </a:ext>
            </a:extLst>
          </p:cNvPr>
          <p:cNvSpPr txBox="1">
            <a:spLocks/>
          </p:cNvSpPr>
          <p:nvPr/>
        </p:nvSpPr>
        <p:spPr>
          <a:xfrm>
            <a:off x="56838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r>
              <a:rPr lang="en-US" altLang="zh-CN"/>
              <a:t>AI</a:t>
            </a:r>
            <a:r>
              <a:rPr lang="zh-CN" altLang="en-US"/>
              <a:t>辅助开发</a:t>
            </a:r>
            <a:r>
              <a:rPr lang="en-US" altLang="zh-CN"/>
              <a:t>OpenAI Codex</a:t>
            </a:r>
            <a:r>
              <a:rPr lang="zh-CN" altLang="en-US"/>
              <a:t>（</a:t>
            </a:r>
            <a:r>
              <a:rPr lang="en-US" altLang="zh-CN"/>
              <a:t>Codex </a:t>
            </a:r>
            <a:r>
              <a:rPr lang="zh-CN" altLang="en-US"/>
              <a:t>桌面端）</a:t>
            </a:r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287658-80C4-44C1-92F1-D18739707F5E}"/>
              </a:ext>
            </a:extLst>
          </p:cNvPr>
          <p:cNvSpPr txBox="1"/>
          <p:nvPr/>
        </p:nvSpPr>
        <p:spPr>
          <a:xfrm>
            <a:off x="704192" y="2833451"/>
            <a:ext cx="107836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请你作为全栈开发工程师，帮我修改管理员用户管理功能。需求是：管理员不能禁用自己的账号。</a:t>
            </a:r>
          </a:p>
          <a:p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请先分析前端用户管理页面中“禁用”按钮的逻辑。如果当前表格行是当前登录的管理员本人，则禁用按钮不可点击，并提示“不能禁用当前登录用户”。同时在前端禁用方法中增加兜底判断。</a:t>
            </a:r>
          </a:p>
          <a:p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然后继续分析后端禁用用户接口，在后端获取当前登录用户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，并在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Service 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层增加校验：如果被禁用用户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等于当前登录用户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，则拒绝操作。这样即使绕过前端直接调用接口，也不能禁用自己的账号。修改完成后，请检查前端是否能够正常构建。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BC8DB9-242F-43D7-B789-C8E9884BEA0C}"/>
              </a:ext>
            </a:extLst>
          </p:cNvPr>
          <p:cNvSpPr txBox="1"/>
          <p:nvPr/>
        </p:nvSpPr>
        <p:spPr>
          <a:xfrm>
            <a:off x="704192" y="1103664"/>
            <a:ext cx="109202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请你作为前端开发工程师，帮我优化当前项目的后台管理界面。重点检查用户管理、学生管理、教学班管理、权重分配和矩阵配置等页面。</a:t>
            </a:r>
          </a:p>
          <a:p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请主要优化表格布局、列宽、文字换行、操作按钮位置和汇总数据显示效果，让页面更加清晰、美观、易读。要求保持原有业务逻辑不变，不引入新的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UI 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框架，尽量按照项目现有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Vue 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Element Plus 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的写法进行修改。修改完成后，请检查前端项目是否能够正常构建。</a:t>
            </a:r>
          </a:p>
          <a:p>
            <a:endParaRPr lang="zh-CN" altLang="en-US" kern="10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8DACA4-6828-45FF-9C02-127923D704B9}"/>
              </a:ext>
            </a:extLst>
          </p:cNvPr>
          <p:cNvSpPr txBox="1"/>
          <p:nvPr/>
        </p:nvSpPr>
        <p:spPr>
          <a:xfrm>
            <a:off x="704192" y="5041869"/>
            <a:ext cx="10783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Prompt:</a:t>
            </a:r>
            <a:r>
              <a:rPr lang="zh-CN" altLang="en-US" kern="10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帮我检查刚才的代码修改是否合理。重点确认：界面美化是否没有影响原有业务功能；管理员不能禁用自己的逻辑是否同时在前端和后端实现；管理员禁用其他用户的功能是否仍然正常；前端项目是否可以正常构建。</a:t>
            </a:r>
          </a:p>
        </p:txBody>
      </p:sp>
    </p:spTree>
    <p:extLst>
      <p:ext uri="{BB962C8B-B14F-4D97-AF65-F5344CB8AC3E}">
        <p14:creationId xmlns:p14="http://schemas.microsoft.com/office/powerpoint/2010/main" val="115262754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项目部署：邱志斌，查琪乐</a:t>
            </a: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6A02ED1-05B9-4F3A-997B-31E1E98C02D4}"/>
              </a:ext>
            </a:extLst>
          </p:cNvPr>
          <p:cNvSpPr txBox="1"/>
          <p:nvPr/>
        </p:nvSpPr>
        <p:spPr>
          <a:xfrm>
            <a:off x="777766" y="1319837"/>
            <a:ext cx="10741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最初计划将项目迁移至云服务器并搭建</a:t>
            </a:r>
            <a:r>
              <a:rPr lang="en-US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CICD </a:t>
            </a:r>
            <a:r>
              <a:rPr lang="zh-CN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流程，但该免费云服务器仅配备</a:t>
            </a:r>
            <a:r>
              <a:rPr lang="en-US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2G </a:t>
            </a:r>
            <a:r>
              <a:rPr lang="zh-CN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内存，部署完成后内存占用便达到</a:t>
            </a:r>
            <a:r>
              <a:rPr lang="en-US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1.7G</a:t>
            </a:r>
            <a:r>
              <a:rPr lang="zh-CN" altLang="zh-CN" sz="180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，不仅程序响应迟缓，运行状态也极不稳定。</a:t>
            </a:r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B459081-B8DF-4A4B-9DAB-F3FB088BA2D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172" y="2208191"/>
            <a:ext cx="7951400" cy="39824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856702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项目部署：邱志斌，查琪乐</a:t>
            </a: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406400" y="2621915"/>
            <a:ext cx="3285490" cy="23482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548005" y="2997835"/>
            <a:ext cx="3143885" cy="176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zh-CN">
                <a:ea typeface="等线" panose="02010600030101010101" pitchFamily="2" charset="-122"/>
                <a:cs typeface="Times New Roman" panose="02020603050405020304" pitchFamily="18" charset="0"/>
              </a:rPr>
              <a:t>因此最终改用实验室内网服务器。内网环境无法直接访问</a:t>
            </a:r>
            <a:r>
              <a:rPr lang="en-US" altLang="zh-CN">
                <a:ea typeface="等线" panose="02010600030101010101" pitchFamily="2" charset="-122"/>
                <a:cs typeface="Times New Roman" panose="02020603050405020304" pitchFamily="18" charset="0"/>
              </a:rPr>
              <a:t> GitHub</a:t>
            </a:r>
            <a:r>
              <a:rPr lang="zh-CN" altLang="zh-CN">
                <a:ea typeface="等线" panose="02010600030101010101" pitchFamily="2" charset="-122"/>
                <a:cs typeface="Times New Roman" panose="02020603050405020304" pitchFamily="18" charset="0"/>
              </a:rPr>
              <a:t>，如果要连接，要在服务器上装 </a:t>
            </a:r>
            <a:r>
              <a:rPr lang="en-US" altLang="zh-CN">
                <a:ea typeface="等线" panose="02010600030101010101" pitchFamily="2" charset="-122"/>
                <a:cs typeface="Times New Roman" panose="02020603050405020304" pitchFamily="18" charset="0"/>
              </a:rPr>
              <a:t>Gitea</a:t>
            </a:r>
            <a:r>
              <a:rPr lang="zh-CN" altLang="zh-CN"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>
                <a:ea typeface="等线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zh-CN" altLang="zh-CN">
                <a:ea typeface="等线" panose="02010600030101010101" pitchFamily="2" charset="-122"/>
                <a:cs typeface="Times New Roman" panose="02020603050405020304" pitchFamily="18" charset="0"/>
              </a:rPr>
              <a:t>目前项目</a:t>
            </a:r>
            <a:r>
              <a:rPr lang="zh-CN" altLang="en-US">
                <a:ea typeface="等线" panose="02010600030101010101" pitchFamily="2" charset="-122"/>
                <a:cs typeface="Times New Roman" panose="02020603050405020304" pitchFamily="18" charset="0"/>
              </a:rPr>
              <a:t>还是</a:t>
            </a:r>
            <a:r>
              <a:rPr lang="zh-CN" altLang="zh-CN">
                <a:ea typeface="等线" panose="02010600030101010101" pitchFamily="2" charset="-122"/>
                <a:cs typeface="Times New Roman" panose="02020603050405020304" pitchFamily="18" charset="0"/>
              </a:rPr>
              <a:t>采用手动部署</a:t>
            </a: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1465580" y="2254885"/>
            <a:ext cx="866140" cy="588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06</a:t>
            </a:r>
            <a:endParaRPr lang="zh-CN" altLang="en-US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5270" y="4767580"/>
            <a:ext cx="7633335" cy="18249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rcRect r="2318" b="15396"/>
          <a:stretch>
            <a:fillRect/>
          </a:stretch>
        </p:blipFill>
        <p:spPr>
          <a:xfrm>
            <a:off x="4051935" y="1530985"/>
            <a:ext cx="7864475" cy="2470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98360" y="1080135"/>
            <a:ext cx="147637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部署目录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65340" y="4313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部署命令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7" grpId="0"/>
      <p:bldP spid="2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2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3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2516310" y="3564341"/>
            <a:ext cx="7159380" cy="664210"/>
          </a:xfrm>
        </p:spPr>
        <p:txBody>
          <a:bodyPr/>
          <a:lstStyle/>
          <a:p>
            <a:r>
              <a:rPr sz="4800">
                <a:sym typeface="+mn-lt"/>
              </a:rPr>
              <a:t>系统演示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45555" y="2117179"/>
            <a:ext cx="900889" cy="830997"/>
          </a:xfrm>
        </p:spPr>
        <p:txBody>
          <a:bodyPr/>
          <a:lstStyle/>
          <a:p>
            <a:r>
              <a:rPr lang="en-US" altLang="zh-CN" dirty="0">
                <a:sym typeface="+mn-lt"/>
              </a:rPr>
              <a:t>02</a:t>
            </a:r>
            <a:endParaRPr lang="zh-CN" altLang="en-US" dirty="0"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PART TWO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1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7" name="组合 26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9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8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8" name="组合 17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1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系统演示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6450"/>
            <a:ext cx="12192000" cy="6051550"/>
          </a:xfrm>
          <a:prstGeom prst="rect">
            <a:avLst/>
          </a:prstGeom>
        </p:spPr>
      </p:pic>
      <p:sp>
        <p:nvSpPr>
          <p:cNvPr id="6" name="文本框 5">
            <a:hlinkClick r:id="rId5"/>
            <a:extLst>
              <a:ext uri="{FF2B5EF4-FFF2-40B4-BE49-F238E27FC236}">
                <a16:creationId xmlns:a16="http://schemas.microsoft.com/office/drawing/2014/main" id="{F85B0AA6-8989-4B34-9AAD-1226BE16E302}"/>
              </a:ext>
            </a:extLst>
          </p:cNvPr>
          <p:cNvSpPr txBox="1"/>
          <p:nvPr/>
        </p:nvSpPr>
        <p:spPr>
          <a:xfrm>
            <a:off x="4593020" y="5490921"/>
            <a:ext cx="641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http://10.65.199.3:5173/login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2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3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1678110" y="3564341"/>
            <a:ext cx="8835780" cy="830580"/>
          </a:xfrm>
        </p:spPr>
        <p:txBody>
          <a:bodyPr/>
          <a:lstStyle/>
          <a:p>
            <a:r>
              <a:rPr>
                <a:sym typeface="+mn-lt"/>
              </a:rPr>
              <a:t>系统不足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45555" y="2117179"/>
            <a:ext cx="900889" cy="830997"/>
          </a:xfrm>
        </p:spPr>
        <p:txBody>
          <a:bodyPr/>
          <a:lstStyle/>
          <a:p>
            <a:r>
              <a:rPr lang="en-US" altLang="zh-CN">
                <a:sym typeface="+mn-lt"/>
              </a:rPr>
              <a:t>03</a:t>
            </a:r>
            <a:endParaRPr lang="zh-CN" altLang="en-US" dirty="0"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PART THREE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20</a:t>
            </a:fld>
            <a:endParaRPr lang="zh-CN" altLang="en-US"/>
          </a:p>
        </p:txBody>
      </p:sp>
      <p:grpSp>
        <p:nvGrpSpPr>
          <p:cNvPr id="1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7" name="组合 26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9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8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8" name="组合 17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1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吴思雨、刘辉艺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57DC1A-EFB0-47EB-B1CB-C81B8DDFC662}"/>
              </a:ext>
            </a:extLst>
          </p:cNvPr>
          <p:cNvSpPr txBox="1"/>
          <p:nvPr/>
        </p:nvSpPr>
        <p:spPr>
          <a:xfrm>
            <a:off x="735876" y="1128574"/>
            <a:ext cx="10068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前端界面还有很多是需要美化的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2D4C00-64EF-4D16-90BC-BA2726D3E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97" y="1861482"/>
            <a:ext cx="9585434" cy="437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7947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吴思雨、刘辉艺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5877" y="1128574"/>
            <a:ext cx="90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提示词还没有修改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1F7E1F-79B3-436A-810A-E7A7CB7A0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27" y="1720019"/>
            <a:ext cx="7771407" cy="34179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C2BABE3-500F-4B7A-8998-CC33DE865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242" y="2881764"/>
            <a:ext cx="7346731" cy="33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844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吴思雨、刘辉艺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5877" y="1128574"/>
            <a:ext cx="90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教务管理员打开专业级计算模块会弹出无权限访问，但其实是有权限。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4D34B6-FEFF-4BDF-9341-25051E4A6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91" y="1768027"/>
            <a:ext cx="10323208" cy="46432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查琪乐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5877" y="1128574"/>
            <a:ext cx="90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系统权限更换之后，解锁操作有问题。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5E271D-D3E4-4958-AC34-DBEE9BDF6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68" y="1685702"/>
            <a:ext cx="10014893" cy="452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9213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查琪乐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43B7FD-8E88-4F3A-8D6B-E219B8AEEDC4}"/>
              </a:ext>
            </a:extLst>
          </p:cNvPr>
          <p:cNvSpPr txBox="1"/>
          <p:nvPr/>
        </p:nvSpPr>
        <p:spPr>
          <a:xfrm>
            <a:off x="735877" y="1128574"/>
            <a:ext cx="90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无法导出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C884EC-314B-4D8D-ADF2-31AC75166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77" y="1861482"/>
            <a:ext cx="10878207" cy="332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2159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邱志斌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17" y="1861482"/>
            <a:ext cx="9067165" cy="45008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975" y="3970655"/>
            <a:ext cx="2976245" cy="15728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43B7FD-8E88-4F3A-8D6B-E219B8AEEDC4}"/>
              </a:ext>
            </a:extLst>
          </p:cNvPr>
          <p:cNvSpPr txBox="1"/>
          <p:nvPr/>
        </p:nvSpPr>
        <p:spPr>
          <a:xfrm>
            <a:off x="735877" y="1128574"/>
            <a:ext cx="90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导出的时候文件损坏。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邱志斌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24" y="1861482"/>
            <a:ext cx="10624185" cy="36156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57DC1A-EFB0-47EB-B1CB-C81B8DDFC662}"/>
              </a:ext>
            </a:extLst>
          </p:cNvPr>
          <p:cNvSpPr txBox="1"/>
          <p:nvPr/>
        </p:nvSpPr>
        <p:spPr>
          <a:xfrm>
            <a:off x="735876" y="1128574"/>
            <a:ext cx="10068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我们的指标点是分成了好多的小目标的，但是这里导出来的只有指标点，没有目标点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邱志斌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32" y="1969482"/>
            <a:ext cx="10147935" cy="35496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C47FC9-1D41-41B3-8FC7-8700967A9AAF}"/>
              </a:ext>
            </a:extLst>
          </p:cNvPr>
          <p:cNvSpPr txBox="1"/>
          <p:nvPr/>
        </p:nvSpPr>
        <p:spPr>
          <a:xfrm>
            <a:off x="735876" y="1128574"/>
            <a:ext cx="10068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导出来的数据不对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测试</a:t>
            </a:r>
            <a:r>
              <a:rPr lang="en-US" altLang="zh-CN">
                <a:sym typeface="+mn-lt"/>
              </a:rPr>
              <a:t>-</a:t>
            </a:r>
            <a:r>
              <a:rPr lang="zh-CN" altLang="en-US">
                <a:sym typeface="+mn-lt"/>
              </a:rPr>
              <a:t>邱志斌</a:t>
            </a:r>
            <a:endParaRPr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3150" y="1105535"/>
            <a:ext cx="1021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/>
              <a:t>对于第三级计算</a:t>
            </a:r>
            <a:r>
              <a:rPr lang="en-US" altLang="zh-CN"/>
              <a:t>——</a:t>
            </a:r>
            <a:r>
              <a:rPr lang="zh-CN" altLang="en-US"/>
              <a:t>专业级计算，存在指标点不全，课程较少的问题，虽然专业级计算经过多次验证通过，但是随着课程数增加，指标点增加，有可能出现计算结果有误差的情况。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5" y="2037080"/>
            <a:ext cx="10935335" cy="33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7672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  <a:t>30</a:t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075669" y="2030205"/>
            <a:ext cx="8040663" cy="18466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600" b="1" spc="300" dirty="0">
                <a:solidFill>
                  <a:schemeClr val="accent2"/>
                </a:solidFill>
                <a:cs typeface="+mn-ea"/>
                <a:sym typeface="+mn-lt"/>
              </a:rPr>
              <a:t>THANKS</a:t>
            </a:r>
          </a:p>
          <a:p>
            <a:pPr algn="ctr"/>
            <a:r>
              <a:rPr lang="zh-CN" altLang="en-US" sz="5400" b="1" spc="300" dirty="0">
                <a:solidFill>
                  <a:schemeClr val="accent1"/>
                </a:solidFill>
                <a:cs typeface="+mn-ea"/>
                <a:sym typeface="+mn-lt"/>
              </a:rPr>
              <a:t>谢谢观看，恳请批评指正</a:t>
            </a: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  <p:sp>
        <p:nvSpPr>
          <p:cNvPr id="21" name="powerpoint template design by DAJU_PPT正版来源小红书大橘PPT微信DAJU_PPT请勿抄袭搬运！盗版必究！-1"/>
          <p:cNvSpPr txBox="1"/>
          <p:nvPr/>
        </p:nvSpPr>
        <p:spPr>
          <a:xfrm>
            <a:off x="4750289" y="4088870"/>
            <a:ext cx="2691423" cy="4546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人：查琪乐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5732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4029921259842,&quot;left&quot;:93.13763779527561,&quot;top&quot;:96.13251968503937,&quot;width&quot;:891.172677165354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1574</Words>
  <Application>Microsoft Office PowerPoint</Application>
  <PresentationFormat>宽屏</PresentationFormat>
  <Paragraphs>158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阿里巴巴普惠体 2.0 45 Light</vt:lpstr>
      <vt:lpstr>等线</vt:lpstr>
      <vt:lpstr>宋体</vt:lpstr>
      <vt:lpstr>微软雅黑</vt:lpstr>
      <vt:lpstr>Arial</vt:lpstr>
      <vt:lpstr>Calibri</vt:lpstr>
      <vt:lpstr>Symbol</vt:lpstr>
      <vt:lpstr>Wingdings</vt:lpstr>
      <vt:lpstr>Office Theme</vt:lpstr>
      <vt:lpstr>PowerPoint 演示文稿</vt:lpstr>
      <vt:lpstr>PowerPoint 演示文稿</vt:lpstr>
      <vt:lpstr>管理员侧边栏功能调整-李伟鹏</vt:lpstr>
      <vt:lpstr>AI辅助开发claude-opus-4-7</vt:lpstr>
      <vt:lpstr>AI辅助开发claude-opus-4-7</vt:lpstr>
      <vt:lpstr>专业达成度增加图表-褚茂誉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项目部署：邱志斌，查琪乐</vt:lpstr>
      <vt:lpstr>项目部署：邱志斌，查琪乐</vt:lpstr>
      <vt:lpstr>PowerPoint 演示文稿</vt:lpstr>
      <vt:lpstr>系统演示</vt:lpstr>
      <vt:lpstr>PowerPoint 演示文稿</vt:lpstr>
      <vt:lpstr>测试-吴思雨、刘辉艺</vt:lpstr>
      <vt:lpstr>测试-吴思雨、刘辉艺</vt:lpstr>
      <vt:lpstr>测试-吴思雨、刘辉艺</vt:lpstr>
      <vt:lpstr>测试-查琪乐</vt:lpstr>
      <vt:lpstr>测试-查琪乐</vt:lpstr>
      <vt:lpstr>测试-邱志斌</vt:lpstr>
      <vt:lpstr>测试-邱志斌</vt:lpstr>
      <vt:lpstr>测试-邱志斌</vt:lpstr>
      <vt:lpstr>测试-邱志斌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light star</cp:lastModifiedBy>
  <cp:revision>1004</cp:revision>
  <dcterms:created xsi:type="dcterms:W3CDTF">2019-11-26T03:41:00Z</dcterms:created>
  <dcterms:modified xsi:type="dcterms:W3CDTF">2026-06-02T14:25:01Z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F9D69DD7E767446EB6CAEF19E7BCACAB_13</vt:lpwstr>
  </property>
  <property fmtid="{D5CDD505-2E9C-101B-9397-08002B2CF9AE}" pid="3" name="KSOProductBuildVer">
    <vt:lpwstr>2052-12.1.0.23542</vt:lpwstr>
  </property>
</Properties>
</file>