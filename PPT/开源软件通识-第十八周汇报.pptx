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639" r:id="rId2"/>
    <p:sldId id="702" r:id="rId3"/>
    <p:sldId id="866" r:id="rId4"/>
    <p:sldId id="905" r:id="rId5"/>
    <p:sldId id="906" r:id="rId6"/>
    <p:sldId id="908" r:id="rId7"/>
    <p:sldId id="716" r:id="rId8"/>
  </p:sldIdLst>
  <p:sldSz cx="12192000" cy="6858000"/>
  <p:notesSz cx="6858000" cy="9144000"/>
  <p:custDataLst>
    <p:tags r:id="rId1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885EBCEA-17E7-46C7-8BF8-09EC538FBA5A}">
          <p14:sldIdLst>
            <p14:sldId id="639"/>
            <p14:sldId id="702"/>
            <p14:sldId id="866"/>
            <p14:sldId id="905"/>
            <p14:sldId id="906"/>
            <p14:sldId id="908"/>
            <p14:sldId id="71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EBE3"/>
    <a:srgbClr val="66CCFF"/>
    <a:srgbClr val="FFFF66"/>
    <a:srgbClr val="FFFFFF"/>
    <a:srgbClr val="394761"/>
    <a:srgbClr val="023C99"/>
    <a:srgbClr val="D0B296"/>
    <a:srgbClr val="538B4B"/>
    <a:srgbClr val="E8FAE5"/>
    <a:srgbClr val="9DA9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3929" autoAdjust="0"/>
  </p:normalViewPr>
  <p:slideViewPr>
    <p:cSldViewPr snapToGrid="0" showGuides="1">
      <p:cViewPr varScale="1">
        <p:scale>
          <a:sx n="71" d="100"/>
          <a:sy n="71" d="100"/>
        </p:scale>
        <p:origin x="1138" y="48"/>
      </p:cViewPr>
      <p:guideLst>
        <p:guide orient="horz" pos="2159"/>
        <p:guide pos="38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B469C68-B96B-4B00-A936-4ED691395EEA}" type="datetimeFigureOut">
              <a:rPr lang="zh-CN" altLang="en-US" smtClean="0"/>
              <a:t>2026/6/23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8957953-4CC8-4E4A-AD2D-7A5A0B36E81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1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首先，我想介绍一下我在项目中的主要职责。作为组长，我的工作不仅仅是写代码，更重要的是承担起管理和协调的责任。这包括了对团队成员代码的审查与合并，从零到一的服务器部署与运维，以及日常的团队任务分配和进度协调。这些职责让我对整个项目有了全局性的把控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2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在技术能力方面，最大的收获是建立了全栈视角。通过审查前后端代码，我不再局限于自己负责的模块，而是能够理解整个系统的交互流程。比如对于项目核心的三级计算引擎和权重归一化等复杂业务，我也通过代码审查，理清了其内在逻辑。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3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在代码质量把控方面，Code Review制度让我受益匪浅。通过审查他人代码，我学会了识别常见的安全风险，比如SQL注入和敏感信息泄露，并推动团队采用更安全的编码方式。同时，我也意识到统一代码规范的重要性，包括命名、注释和分层结构。这让我深刻体会到，优秀的代码不仅要能实现功能，更要具备良好的可读性、可维护性和安全性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4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63464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接下来是团队管理方面的收获。首先是任务分解与分配。面对一个8人团队，我学会了根据成员的技术特长来分配任务，让专业的人做专业的事。同时，我规划了前后端并行开发的流程，先定义接口，再分头工作，大大提高了开发效率。这个过程让我明白，一个优秀的组长，首先要懂得如何合理地拆分和分配任务，才能激发团队的最大潜能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5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660414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在工具层面，我主导建立了团队的Git协作规范。我们采用了经典的feature分支开发模式，所有代码变更都必须通过Pull Request进行，并且强制执行Code Review。这一制度保证了代码质量，也让知识在团队内部得到了共享。我认识到，工具和流程的规范，是保障团队协作有序进行的重要基础。</a:t>
            </a:r>
          </a:p>
          <a:p>
            <a:pPr marL="0" indent="0" algn="l">
              <a:lnSpc>
                <a:spcPct val="100000"/>
              </a:lnSpc>
            </a:pPr>
            <a:endParaRPr lang="en-US" altLang="zh-CN" sz="1200" b="0" i="0" u="none" strike="noStrike">
              <a:solidFill>
                <a:srgbClr val="000000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6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2496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7</a:t>
            </a:fld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占位符 1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522388" y="3553758"/>
            <a:ext cx="5147224" cy="8309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lang="zh-CN" altLang="en-US" sz="6000" b="1" spc="600" dirty="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marL="0" lvl="0" algn="dist" fontAlgn="base"/>
            <a:r>
              <a:rPr lang="zh-CN" altLang="en-US" dirty="0"/>
              <a:t>输入标题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0" hasCustomPrompt="1"/>
          </p:nvPr>
        </p:nvSpPr>
        <p:spPr>
          <a:xfrm>
            <a:off x="5645556" y="2117179"/>
            <a:ext cx="900888" cy="830997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 wrap="none" lIns="0" tIns="0" rIns="0" bIns="0">
            <a:spAutoFit/>
          </a:bodyPr>
          <a:lstStyle>
            <a:lvl1pPr marL="0" indent="0" algn="ctr">
              <a:buNone/>
              <a:defRPr lang="zh-CN" altLang="en-US" sz="6000" spc="0" dirty="0">
                <a:solidFill>
                  <a:schemeClr val="accent2"/>
                </a:solidFill>
                <a:latin typeface="+mn-ea"/>
                <a:ea typeface="+mn-ea"/>
              </a:defRPr>
            </a:lvl1pPr>
          </a:lstStyle>
          <a:p>
            <a:pPr marL="0" lvl="0" algn="dist" fontAlgn="base"/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26" name="文本占位符 3"/>
          <p:cNvSpPr>
            <a:spLocks noGrp="1"/>
          </p:cNvSpPr>
          <p:nvPr>
            <p:ph type="body" sz="quarter" idx="15" hasCustomPrompt="1"/>
          </p:nvPr>
        </p:nvSpPr>
        <p:spPr>
          <a:xfrm>
            <a:off x="5242560" y="3025032"/>
            <a:ext cx="1706880" cy="259267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1200" spc="3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altLang="zh-CN" dirty="0"/>
              <a:t>PART ONE</a:t>
            </a:r>
            <a:endParaRPr lang="zh-CN" altLang="en-US" dirty="0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798094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标题 1"/>
          <p:cNvSpPr>
            <a:spLocks noGrp="1"/>
          </p:cNvSpPr>
          <p:nvPr>
            <p:ph type="title" hasCustomPrompt="1"/>
          </p:nvPr>
        </p:nvSpPr>
        <p:spPr>
          <a:xfrm>
            <a:off x="559444" y="196496"/>
            <a:ext cx="8225742" cy="460502"/>
          </a:xfrm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>
            <a:lvl1pPr>
              <a:defRPr lang="zh-CN" altLang="en-US" sz="28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</a:defRPr>
            </a:lvl1pPr>
          </a:lstStyle>
          <a:p>
            <a:pPr lvl="0"/>
            <a:r>
              <a:rPr lang="zh-CN" altLang="en-US" dirty="0"/>
              <a:t>单击此处标题</a:t>
            </a:r>
          </a:p>
        </p:txBody>
      </p:sp>
      <p:sp>
        <p:nvSpPr>
          <p:cNvPr id="123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BA3452-3CC8-4E8B-993B-C9E13B0C4846}" type="datetime1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10" Type="http://schemas.openxmlformats.org/officeDocument/2006/relationships/image" Target="../media/image1.png"/><Relationship Id="rId4" Type="http://schemas.openxmlformats.org/officeDocument/2006/relationships/tags" Target="../tags/tag5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10" Type="http://schemas.openxmlformats.org/officeDocument/2006/relationships/image" Target="../media/image1.png"/><Relationship Id="rId4" Type="http://schemas.openxmlformats.org/officeDocument/2006/relationships/tags" Target="../tags/tag12.xml"/><Relationship Id="rId9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powerpoint template design by DAJU_PPT正版来源小红书大橘PPT微信DAJU_PPT请勿抄袭搬运！盗版必究！"/>
          <p:cNvGrpSpPr/>
          <p:nvPr/>
        </p:nvGrpSpPr>
        <p:grpSpPr>
          <a:xfrm>
            <a:off x="0" y="5283200"/>
            <a:ext cx="12192188" cy="1574800"/>
            <a:chOff x="1" y="5283225"/>
            <a:chExt cx="12191999" cy="1574776"/>
          </a:xfrm>
        </p:grpSpPr>
        <p:sp>
          <p:nvSpPr>
            <p:cNvPr id="7" name="powerpoint template design by DAJU_PPT正版来源小红书大橘PPT微信DAJU_PPT请勿抄袭搬运！盗版必究！-1"/>
            <p:cNvSpPr/>
            <p:nvPr/>
          </p:nvSpPr>
          <p:spPr>
            <a:xfrm>
              <a:off x="1" y="5283225"/>
              <a:ext cx="12191999" cy="1574776"/>
            </a:xfrm>
            <a:custGeom>
              <a:avLst/>
              <a:gdLst>
                <a:gd name="connsiteX0" fmla="*/ 0 w 12191999"/>
                <a:gd name="connsiteY0" fmla="*/ 0 h 1574776"/>
                <a:gd name="connsiteX1" fmla="*/ 121527 w 12191999"/>
                <a:gd name="connsiteY1" fmla="*/ 105084 h 1574776"/>
                <a:gd name="connsiteX2" fmla="*/ 6096001 w 12191999"/>
                <a:gd name="connsiteY2" fmla="*/ 1545053 h 1574776"/>
                <a:gd name="connsiteX3" fmla="*/ 12070473 w 12191999"/>
                <a:gd name="connsiteY3" fmla="*/ 105085 h 1574776"/>
                <a:gd name="connsiteX4" fmla="*/ 12191999 w 12191999"/>
                <a:gd name="connsiteY4" fmla="*/ 1 h 1574776"/>
                <a:gd name="connsiteX5" fmla="*/ 12191999 w 12191999"/>
                <a:gd name="connsiteY5" fmla="*/ 1574776 h 1574776"/>
                <a:gd name="connsiteX6" fmla="*/ 0 w 12191999"/>
                <a:gd name="connsiteY6" fmla="*/ 1574776 h 157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574776">
                  <a:moveTo>
                    <a:pt x="0" y="0"/>
                  </a:moveTo>
                  <a:lnTo>
                    <a:pt x="121527" y="105084"/>
                  </a:lnTo>
                  <a:cubicBezTo>
                    <a:pt x="1232752" y="959961"/>
                    <a:pt x="3490973" y="1545053"/>
                    <a:pt x="6096001" y="1545053"/>
                  </a:cubicBezTo>
                  <a:cubicBezTo>
                    <a:pt x="8701028" y="1545053"/>
                    <a:pt x="10959248" y="959962"/>
                    <a:pt x="12070473" y="105085"/>
                  </a:cubicBezTo>
                  <a:lnTo>
                    <a:pt x="12191999" y="1"/>
                  </a:lnTo>
                  <a:lnTo>
                    <a:pt x="12191999" y="1574776"/>
                  </a:lnTo>
                  <a:lnTo>
                    <a:pt x="0" y="1574776"/>
                  </a:lnTo>
                  <a:close/>
                </a:path>
              </a:pathLst>
            </a:cu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8" name="powerpoint template design by DAJU_PPT正版来源小红书大橘PPT微信DAJU_PPT请勿抄袭搬运！盗版必究！-2" hidden="1"/>
            <p:cNvSpPr/>
            <p:nvPr userDrawn="1"/>
          </p:nvSpPr>
          <p:spPr>
            <a:xfrm>
              <a:off x="1" y="5804166"/>
              <a:ext cx="12191999" cy="1053835"/>
            </a:xfrm>
            <a:custGeom>
              <a:avLst/>
              <a:gdLst>
                <a:gd name="connsiteX0" fmla="*/ 0 w 12191999"/>
                <a:gd name="connsiteY0" fmla="*/ 0 h 1053835"/>
                <a:gd name="connsiteX1" fmla="*/ 84912 w 12191999"/>
                <a:gd name="connsiteY1" fmla="*/ 44439 h 1053835"/>
                <a:gd name="connsiteX2" fmla="*/ 6096001 w 12191999"/>
                <a:gd name="connsiteY2" fmla="*/ 918960 h 1053835"/>
                <a:gd name="connsiteX3" fmla="*/ 12107089 w 12191999"/>
                <a:gd name="connsiteY3" fmla="*/ 44439 h 1053835"/>
                <a:gd name="connsiteX4" fmla="*/ 12191999 w 12191999"/>
                <a:gd name="connsiteY4" fmla="*/ 1 h 1053835"/>
                <a:gd name="connsiteX5" fmla="*/ 12191999 w 12191999"/>
                <a:gd name="connsiteY5" fmla="*/ 1053835 h 1053835"/>
                <a:gd name="connsiteX6" fmla="*/ 0 w 12191999"/>
                <a:gd name="connsiteY6" fmla="*/ 1053835 h 105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53835">
                  <a:moveTo>
                    <a:pt x="0" y="0"/>
                  </a:moveTo>
                  <a:lnTo>
                    <a:pt x="84912" y="44439"/>
                  </a:lnTo>
                  <a:cubicBezTo>
                    <a:pt x="1182612" y="562756"/>
                    <a:pt x="3462028" y="918960"/>
                    <a:pt x="6096001" y="918960"/>
                  </a:cubicBezTo>
                  <a:cubicBezTo>
                    <a:pt x="8729972" y="918960"/>
                    <a:pt x="11009388" y="562756"/>
                    <a:pt x="12107089" y="44439"/>
                  </a:cubicBezTo>
                  <a:lnTo>
                    <a:pt x="12191999" y="1"/>
                  </a:lnTo>
                  <a:lnTo>
                    <a:pt x="12191999" y="1053835"/>
                  </a:lnTo>
                  <a:lnTo>
                    <a:pt x="0" y="1053835"/>
                  </a:ln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9" name="powerpoint template design by DAJU_PPT正版来源小红书大橘PPT微信DAJU_PPT请勿抄袭搬运！盗版必究！-3"/>
            <p:cNvSpPr/>
            <p:nvPr userDrawn="1"/>
          </p:nvSpPr>
          <p:spPr>
            <a:xfrm>
              <a:off x="1" y="5826095"/>
              <a:ext cx="12191999" cy="1031906"/>
            </a:xfrm>
            <a:custGeom>
              <a:avLst/>
              <a:gdLst>
                <a:gd name="connsiteX0" fmla="*/ 0 w 12191999"/>
                <a:gd name="connsiteY0" fmla="*/ 0 h 1031906"/>
                <a:gd name="connsiteX1" fmla="*/ 97612 w 12191999"/>
                <a:gd name="connsiteY1" fmla="*/ 51085 h 1031906"/>
                <a:gd name="connsiteX2" fmla="*/ 6108700 w 12191999"/>
                <a:gd name="connsiteY2" fmla="*/ 925606 h 1031906"/>
                <a:gd name="connsiteX3" fmla="*/ 12119789 w 12191999"/>
                <a:gd name="connsiteY3" fmla="*/ 51085 h 1031906"/>
                <a:gd name="connsiteX4" fmla="*/ 12191999 w 12191999"/>
                <a:gd name="connsiteY4" fmla="*/ 13293 h 1031906"/>
                <a:gd name="connsiteX5" fmla="*/ 12191999 w 12191999"/>
                <a:gd name="connsiteY5" fmla="*/ 1031906 h 1031906"/>
                <a:gd name="connsiteX6" fmla="*/ 0 w 12191999"/>
                <a:gd name="connsiteY6" fmla="*/ 1031906 h 103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31906">
                  <a:moveTo>
                    <a:pt x="0" y="0"/>
                  </a:moveTo>
                  <a:lnTo>
                    <a:pt x="97612" y="51085"/>
                  </a:lnTo>
                  <a:cubicBezTo>
                    <a:pt x="1195312" y="569402"/>
                    <a:pt x="3474728" y="925606"/>
                    <a:pt x="6108700" y="925606"/>
                  </a:cubicBezTo>
                  <a:cubicBezTo>
                    <a:pt x="8742672" y="925606"/>
                    <a:pt x="11022088" y="569402"/>
                    <a:pt x="12119789" y="51085"/>
                  </a:cubicBezTo>
                  <a:lnTo>
                    <a:pt x="12191999" y="13293"/>
                  </a:lnTo>
                  <a:lnTo>
                    <a:pt x="12191999" y="1031906"/>
                  </a:lnTo>
                  <a:lnTo>
                    <a:pt x="0" y="1031906"/>
                  </a:lnTo>
                  <a:close/>
                </a:path>
              </a:pathLst>
            </a:custGeom>
            <a:solidFill>
              <a:schemeClr val="accent1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</p:grpSp>
      <p:sp>
        <p:nvSpPr>
          <p:cNvPr id="4" name="powerpoint template design by DAJU_PPT正版来源小红书大橘PPT微信DAJU_PPT请勿抄袭搬运！盗版必究！"/>
          <p:cNvSpPr txBox="1"/>
          <p:nvPr/>
        </p:nvSpPr>
        <p:spPr>
          <a:xfrm>
            <a:off x="4457797" y="2145249"/>
            <a:ext cx="3276600" cy="92329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4000" b="1" spc="300">
                <a:solidFill>
                  <a:schemeClr val="accent1"/>
                </a:solidFill>
                <a:cs typeface="+mn-ea"/>
                <a:sym typeface="+mn-lt"/>
              </a:rPr>
              <a:t>开源软件通识</a:t>
            </a:r>
          </a:p>
        </p:txBody>
      </p:sp>
      <p:sp>
        <p:nvSpPr>
          <p:cNvPr id="79" name="powerpoint template design by DAJU_PPT正版来源小红书大橘PPT微信DAJU_PPT请勿抄袭搬运！盗版必究！"/>
          <p:cNvSpPr txBox="1"/>
          <p:nvPr/>
        </p:nvSpPr>
        <p:spPr>
          <a:xfrm>
            <a:off x="1242152" y="3261623"/>
            <a:ext cx="9707884" cy="5695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800" spc="300">
                <a:cs typeface="+mn-ea"/>
                <a:sym typeface="+mn-lt"/>
              </a:rPr>
              <a:t>学习收获汇报</a:t>
            </a:r>
          </a:p>
        </p:txBody>
      </p:sp>
      <p:sp>
        <p:nvSpPr>
          <p:cNvPr id="52" name="powerpoint template design by DAJU_PPT正版来源小红书大橘PPT微信DAJU_PPT请勿抄袭搬运！盗版必究！"/>
          <p:cNvSpPr txBox="1"/>
          <p:nvPr/>
        </p:nvSpPr>
        <p:spPr>
          <a:xfrm>
            <a:off x="3797300" y="5234940"/>
            <a:ext cx="4956175" cy="129794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800" b="1" dirty="0">
                <a:latin typeface="+mn-ea"/>
              </a:rPr>
              <a:t>汇报</a:t>
            </a:r>
            <a:r>
              <a:rPr lang="zh-CN" altLang="en-US" sz="1800" b="1">
                <a:latin typeface="+mn-ea"/>
              </a:rPr>
              <a:t>人：</a:t>
            </a:r>
            <a:r>
              <a:rPr lang="zh-CN" altLang="en-US" b="1">
                <a:latin typeface="+mn-ea"/>
              </a:rPr>
              <a:t>查琪乐、褚茂誉、邱嘉堃</a:t>
            </a:r>
            <a:endParaRPr lang="en-US" altLang="zh-CN" sz="1800" b="1">
              <a:latin typeface="+mn-ea"/>
            </a:endParaRPr>
          </a:p>
          <a:p>
            <a:pPr algn="ctr"/>
            <a:r>
              <a:rPr lang="zh-CN" altLang="en-US" b="1">
                <a:latin typeface="+mn-ea"/>
              </a:rPr>
              <a:t>小组成员：查琪乐、邱志斌、邱嘉堃、刘辉艺、吴思雨、闫皇冲、李伟鹏、褚茂誉</a:t>
            </a:r>
          </a:p>
        </p:txBody>
      </p:sp>
      <p:sp>
        <p:nvSpPr>
          <p:cNvPr id="87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>
                <a:solidFill>
                  <a:schemeClr val="bg1"/>
                </a:solidFill>
              </a:rPr>
              <a:t>1</a:t>
            </a:fld>
            <a:endParaRPr lang="zh-CN" altLang="en-US" dirty="0">
              <a:solidFill>
                <a:schemeClr val="bg1"/>
              </a:solidFill>
            </a:endParaRPr>
          </a:p>
        </p:txBody>
      </p:sp>
      <p:grpSp>
        <p:nvGrpSpPr>
          <p:cNvPr id="36" name="powerpoint template design by DAJU_PPT正版来源小红书大橘PPT微信DAJU_PPT请勿抄袭搬运！盗版必究！"/>
          <p:cNvGrpSpPr/>
          <p:nvPr/>
        </p:nvGrpSpPr>
        <p:grpSpPr>
          <a:xfrm>
            <a:off x="2656946" y="5016372"/>
            <a:ext cx="6878109" cy="160811"/>
            <a:chOff x="2656946" y="4546640"/>
            <a:chExt cx="6878109" cy="160811"/>
          </a:xfrm>
        </p:grpSpPr>
        <p:cxnSp>
          <p:nvCxnSpPr>
            <p:cNvPr id="12" name="powerpoint template design by DAJU_PPT正版来源小红书大橘PPT微信DAJU_PPT请勿抄袭搬运！盗版必究！-1"/>
            <p:cNvCxnSpPr/>
            <p:nvPr/>
          </p:nvCxnSpPr>
          <p:spPr>
            <a:xfrm>
              <a:off x="2978668" y="4627045"/>
              <a:ext cx="6234664" cy="0"/>
            </a:xfrm>
            <a:prstGeom prst="line">
              <a:avLst/>
            </a:prstGeom>
            <a:solidFill>
              <a:schemeClr val="accent2"/>
            </a:solidFill>
            <a:ln w="12700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组合 28"/>
            <p:cNvGrpSpPr/>
            <p:nvPr/>
          </p:nvGrpSpPr>
          <p:grpSpPr>
            <a:xfrm>
              <a:off x="2656946" y="4546640"/>
              <a:ext cx="6878109" cy="160811"/>
              <a:chOff x="3756540" y="4546640"/>
              <a:chExt cx="6878109" cy="160811"/>
            </a:xfrm>
          </p:grpSpPr>
          <p:grpSp>
            <p:nvGrpSpPr>
              <p:cNvPr id="13" name="组合 12"/>
              <p:cNvGrpSpPr/>
              <p:nvPr/>
            </p:nvGrpSpPr>
            <p:grpSpPr>
              <a:xfrm>
                <a:off x="10375329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14" name="powerpoint template design by DAJU_PPT正版来源小红书大橘PPT微信DAJU_PPT请勿抄袭搬运！盗版必究！-2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powerpoint template design by DAJU_PPT正版来源小红书大橘PPT微信DAJU_PPT请勿抄袭搬运！盗版必究！-3"/>
                <p:cNvSpPr/>
                <p:nvPr>
                  <p:custDataLst>
                    <p:tags r:id="rId6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6" name="powerpoint template design by DAJU_PPT正版来源小红书大橘PPT微信DAJU_PPT请勿抄袭搬运！盗版必究！-4"/>
                <p:cNvSpPr/>
                <p:nvPr>
                  <p:custDataLst>
                    <p:tags r:id="rId7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 flipH="1">
                <a:off x="3756540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19" name="powerpoint template design by DAJU_PPT正版来源小红书大橘PPT微信DAJU_PPT请勿抄袭搬运！盗版必究！-5"/>
                <p:cNvSpPr/>
                <p:nvPr>
                  <p:custDataLst>
                    <p:tags r:id="rId2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powerpoint template design by DAJU_PPT正版来源小红书大橘PPT微信DAJU_PPT请勿抄袭搬运！盗版必究！-6"/>
                <p:cNvSpPr/>
                <p:nvPr>
                  <p:custDataLst>
                    <p:tags r:id="rId3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powerpoint template design by DAJU_PPT正版来源小红书大橘PPT微信DAJU_PPT请勿抄袭搬运！盗版必究！-7"/>
                <p:cNvSpPr/>
                <p:nvPr>
                  <p:custDataLst>
                    <p:tags r:id="rId4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pic>
        <p:nvPicPr>
          <p:cNvPr id="20" name="图片 1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027" y="689877"/>
            <a:ext cx="1499612" cy="1499612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2</a:t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33" name="AutoShape 4">
            <a:extLst>
              <a:ext uri="{FF2B5EF4-FFF2-40B4-BE49-F238E27FC236}">
                <a16:creationId xmlns:a16="http://schemas.microsoft.com/office/drawing/2014/main" id="{09C7AA42-C125-4EE2-BA79-18D87D5998C0}"/>
              </a:ext>
            </a:extLst>
          </p:cNvPr>
          <p:cNvSpPr/>
          <p:nvPr/>
        </p:nvSpPr>
        <p:spPr>
          <a:xfrm>
            <a:off x="762000" y="17780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4ADE8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5">
            <a:extLst>
              <a:ext uri="{FF2B5EF4-FFF2-40B4-BE49-F238E27FC236}">
                <a16:creationId xmlns:a16="http://schemas.microsoft.com/office/drawing/2014/main" id="{CAFF0D27-2F42-4079-8A18-A1AC7086173C}"/>
              </a:ext>
            </a:extLst>
          </p:cNvPr>
          <p:cNvSpPr/>
          <p:nvPr/>
        </p:nvSpPr>
        <p:spPr>
          <a:xfrm>
            <a:off x="762000" y="1968500"/>
            <a:ext cx="50800" cy="304800"/>
          </a:xfrm>
          <a:prstGeom prst="roundRect">
            <a:avLst>
              <a:gd name="adj" fmla="val 0"/>
            </a:avLst>
          </a:prstGeom>
          <a:solidFill>
            <a:srgbClr val="4ADE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6">
            <a:extLst>
              <a:ext uri="{FF2B5EF4-FFF2-40B4-BE49-F238E27FC236}">
                <a16:creationId xmlns:a16="http://schemas.microsoft.com/office/drawing/2014/main" id="{4BC62B5A-971D-48F5-B876-0C95C6EA5B52}"/>
              </a:ext>
            </a:extLst>
          </p:cNvPr>
          <p:cNvSpPr/>
          <p:nvPr/>
        </p:nvSpPr>
        <p:spPr>
          <a:xfrm>
            <a:off x="952500" y="19304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代码审查</a:t>
            </a:r>
            <a:endParaRPr lang="en-US" sz="1100"/>
          </a:p>
        </p:txBody>
      </p:sp>
      <p:sp>
        <p:nvSpPr>
          <p:cNvPr id="36" name="AutoShape 7">
            <a:extLst>
              <a:ext uri="{FF2B5EF4-FFF2-40B4-BE49-F238E27FC236}">
                <a16:creationId xmlns:a16="http://schemas.microsoft.com/office/drawing/2014/main" id="{5562B5A9-4FC4-4B4B-AE5B-FE4F1B396F71}"/>
              </a:ext>
            </a:extLst>
          </p:cNvPr>
          <p:cNvSpPr/>
          <p:nvPr/>
        </p:nvSpPr>
        <p:spPr>
          <a:xfrm>
            <a:off x="952500" y="2413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建立标准化代码审查流程，逐行检查团队提交代码，重点把控逻辑漏洞、命名规范与注释完整性，从源头保障系统安全性与可维护性。</a:t>
            </a:r>
            <a:endParaRPr lang="en-US" sz="1100"/>
          </a:p>
        </p:txBody>
      </p:sp>
      <p:sp>
        <p:nvSpPr>
          <p:cNvPr id="37" name="AutoShape 8">
            <a:extLst>
              <a:ext uri="{FF2B5EF4-FFF2-40B4-BE49-F238E27FC236}">
                <a16:creationId xmlns:a16="http://schemas.microsoft.com/office/drawing/2014/main" id="{46F46AFF-0FE1-4F4D-970E-51D57C9849B0}"/>
              </a:ext>
            </a:extLst>
          </p:cNvPr>
          <p:cNvSpPr/>
          <p:nvPr/>
        </p:nvSpPr>
        <p:spPr>
          <a:xfrm>
            <a:off x="6350000" y="17780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4ADE8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" name="AutoShape 9">
            <a:extLst>
              <a:ext uri="{FF2B5EF4-FFF2-40B4-BE49-F238E27FC236}">
                <a16:creationId xmlns:a16="http://schemas.microsoft.com/office/drawing/2014/main" id="{E1DE89BF-5C3E-49EC-B4F8-8805C9291E0C}"/>
              </a:ext>
            </a:extLst>
          </p:cNvPr>
          <p:cNvSpPr/>
          <p:nvPr/>
        </p:nvSpPr>
        <p:spPr>
          <a:xfrm>
            <a:off x="6350000" y="1968500"/>
            <a:ext cx="50800" cy="304800"/>
          </a:xfrm>
          <a:prstGeom prst="roundRect">
            <a:avLst>
              <a:gd name="adj" fmla="val 0"/>
            </a:avLst>
          </a:prstGeom>
          <a:solidFill>
            <a:srgbClr val="4ADE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10">
            <a:extLst>
              <a:ext uri="{FF2B5EF4-FFF2-40B4-BE49-F238E27FC236}">
                <a16:creationId xmlns:a16="http://schemas.microsoft.com/office/drawing/2014/main" id="{B419F228-07CD-4078-AC23-098CD669926A}"/>
              </a:ext>
            </a:extLst>
          </p:cNvPr>
          <p:cNvSpPr/>
          <p:nvPr/>
        </p:nvSpPr>
        <p:spPr>
          <a:xfrm>
            <a:off x="6540500" y="19304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代码合并与分支管理</a:t>
            </a:r>
            <a:endParaRPr lang="en-US" sz="1100"/>
          </a:p>
        </p:txBody>
      </p:sp>
      <p:sp>
        <p:nvSpPr>
          <p:cNvPr id="40" name="AutoShape 11">
            <a:extLst>
              <a:ext uri="{FF2B5EF4-FFF2-40B4-BE49-F238E27FC236}">
                <a16:creationId xmlns:a16="http://schemas.microsoft.com/office/drawing/2014/main" id="{38B1B6DE-6EAB-4C29-83E9-2D516E43730A}"/>
              </a:ext>
            </a:extLst>
          </p:cNvPr>
          <p:cNvSpPr/>
          <p:nvPr/>
        </p:nvSpPr>
        <p:spPr>
          <a:xfrm>
            <a:off x="6540500" y="2413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规划Git分支策略，处理复杂代码冲突，定期执行分支合并与版本打标，维护主干代码库的稳定性，确保开发迭代有序推进。</a:t>
            </a:r>
            <a:endParaRPr lang="en-US" sz="1100"/>
          </a:p>
        </p:txBody>
      </p:sp>
      <p:sp>
        <p:nvSpPr>
          <p:cNvPr id="41" name="AutoShape 12">
            <a:extLst>
              <a:ext uri="{FF2B5EF4-FFF2-40B4-BE49-F238E27FC236}">
                <a16:creationId xmlns:a16="http://schemas.microsoft.com/office/drawing/2014/main" id="{975BBB31-C5BE-4D68-94C5-F3587122A06C}"/>
              </a:ext>
            </a:extLst>
          </p:cNvPr>
          <p:cNvSpPr/>
          <p:nvPr/>
        </p:nvSpPr>
        <p:spPr>
          <a:xfrm>
            <a:off x="762000" y="40640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4ADE8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" name="AutoShape 13">
            <a:extLst>
              <a:ext uri="{FF2B5EF4-FFF2-40B4-BE49-F238E27FC236}">
                <a16:creationId xmlns:a16="http://schemas.microsoft.com/office/drawing/2014/main" id="{AE4DED12-F22E-4CA2-A7E7-D2CDAED112C9}"/>
              </a:ext>
            </a:extLst>
          </p:cNvPr>
          <p:cNvSpPr/>
          <p:nvPr/>
        </p:nvSpPr>
        <p:spPr>
          <a:xfrm>
            <a:off x="762000" y="4254500"/>
            <a:ext cx="50800" cy="304800"/>
          </a:xfrm>
          <a:prstGeom prst="roundRect">
            <a:avLst>
              <a:gd name="adj" fmla="val 0"/>
            </a:avLst>
          </a:prstGeom>
          <a:solidFill>
            <a:srgbClr val="4ADE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3" name="AutoShape 14">
            <a:extLst>
              <a:ext uri="{FF2B5EF4-FFF2-40B4-BE49-F238E27FC236}">
                <a16:creationId xmlns:a16="http://schemas.microsoft.com/office/drawing/2014/main" id="{5F113844-0E35-40B5-ACF2-2545A6EEB789}"/>
              </a:ext>
            </a:extLst>
          </p:cNvPr>
          <p:cNvSpPr/>
          <p:nvPr/>
        </p:nvSpPr>
        <p:spPr>
          <a:xfrm>
            <a:off x="952500" y="42164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服务器部署与运维</a:t>
            </a:r>
            <a:endParaRPr lang="en-US" sz="1100"/>
          </a:p>
        </p:txBody>
      </p:sp>
      <p:sp>
        <p:nvSpPr>
          <p:cNvPr id="44" name="AutoShape 15">
            <a:extLst>
              <a:ext uri="{FF2B5EF4-FFF2-40B4-BE49-F238E27FC236}">
                <a16:creationId xmlns:a16="http://schemas.microsoft.com/office/drawing/2014/main" id="{A41A2590-F5C5-43DF-B83F-421172DBE3EE}"/>
              </a:ext>
            </a:extLst>
          </p:cNvPr>
          <p:cNvSpPr/>
          <p:nvPr/>
        </p:nvSpPr>
        <p:spPr>
          <a:xfrm>
            <a:off x="952500" y="4699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独立完成生产环境搭建，配置Nginx反向代理、数据库集群与容器化服务，制定监控告警规则，保障7x24小时服务高可用性。</a:t>
            </a:r>
            <a:endParaRPr lang="en-US" sz="1100"/>
          </a:p>
        </p:txBody>
      </p:sp>
      <p:sp>
        <p:nvSpPr>
          <p:cNvPr id="45" name="AutoShape 16">
            <a:extLst>
              <a:ext uri="{FF2B5EF4-FFF2-40B4-BE49-F238E27FC236}">
                <a16:creationId xmlns:a16="http://schemas.microsoft.com/office/drawing/2014/main" id="{6EB458F2-4063-448A-8C16-F1FB92332D9C}"/>
              </a:ext>
            </a:extLst>
          </p:cNvPr>
          <p:cNvSpPr/>
          <p:nvPr/>
        </p:nvSpPr>
        <p:spPr>
          <a:xfrm>
            <a:off x="6350000" y="40640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4ADE8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" name="AutoShape 17">
            <a:extLst>
              <a:ext uri="{FF2B5EF4-FFF2-40B4-BE49-F238E27FC236}">
                <a16:creationId xmlns:a16="http://schemas.microsoft.com/office/drawing/2014/main" id="{B22F2690-AC97-429A-B495-F5953D2299AA}"/>
              </a:ext>
            </a:extLst>
          </p:cNvPr>
          <p:cNvSpPr/>
          <p:nvPr/>
        </p:nvSpPr>
        <p:spPr>
          <a:xfrm>
            <a:off x="6350000" y="4254500"/>
            <a:ext cx="50800" cy="304800"/>
          </a:xfrm>
          <a:prstGeom prst="roundRect">
            <a:avLst>
              <a:gd name="adj" fmla="val 0"/>
            </a:avLst>
          </a:prstGeom>
          <a:solidFill>
            <a:srgbClr val="4ADE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" name="AutoShape 18">
            <a:extLst>
              <a:ext uri="{FF2B5EF4-FFF2-40B4-BE49-F238E27FC236}">
                <a16:creationId xmlns:a16="http://schemas.microsoft.com/office/drawing/2014/main" id="{F4B0BDD4-4FCE-4A4A-9995-171DD79E9C85}"/>
              </a:ext>
            </a:extLst>
          </p:cNvPr>
          <p:cNvSpPr/>
          <p:nvPr/>
        </p:nvSpPr>
        <p:spPr>
          <a:xfrm>
            <a:off x="6540500" y="42164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团队协同与进度管理</a:t>
            </a:r>
            <a:endParaRPr lang="en-US" sz="1100"/>
          </a:p>
        </p:txBody>
      </p:sp>
      <p:sp>
        <p:nvSpPr>
          <p:cNvPr id="48" name="AutoShape 19">
            <a:extLst>
              <a:ext uri="{FF2B5EF4-FFF2-40B4-BE49-F238E27FC236}">
                <a16:creationId xmlns:a16="http://schemas.microsoft.com/office/drawing/2014/main" id="{E732305F-B7F1-424F-870D-E4DAD6C6685B}"/>
              </a:ext>
            </a:extLst>
          </p:cNvPr>
          <p:cNvSpPr/>
          <p:nvPr/>
        </p:nvSpPr>
        <p:spPr>
          <a:xfrm>
            <a:off x="6540500" y="4699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根据成员专长拆解项目任务，利用敏捷工具跟踪里程碑进度，组织每日站会同步信息，及时介入解决技术难点与沟通阻塞。</a:t>
            </a:r>
            <a:endParaRPr lang="en-US" sz="1100"/>
          </a:p>
        </p:txBody>
      </p:sp>
      <p:sp>
        <p:nvSpPr>
          <p:cNvPr id="4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7C2CA73-E7D2-4BE8-A9AB-00294168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444" y="196496"/>
            <a:ext cx="8225742" cy="460502"/>
          </a:xfrm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>
                <a:sym typeface="+mn-lt"/>
              </a:rPr>
              <a:t>查琪乐</a:t>
            </a:r>
            <a:r>
              <a:rPr lang="en-US">
                <a:sym typeface="+mn-lt"/>
              </a:rPr>
              <a:t>-</a:t>
            </a:r>
            <a:r>
              <a:rPr lang="zh-CN" altLang="en-US">
                <a:sym typeface="+mn-lt"/>
              </a:rPr>
              <a:t>主要职责</a:t>
            </a:r>
            <a:endParaRPr>
              <a:sym typeface="+mn-lt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  <a:sym typeface="+mn-lt"/>
              </a:rPr>
              <a:t>查琪乐</a:t>
            </a:r>
            <a:r>
              <a:rPr lang="en-US" altLang="zh-CN"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  <a:sym typeface="+mn-lt"/>
              </a:rPr>
              <a:t>-</a:t>
            </a:r>
            <a:r>
              <a:rPr lang="en-US" altLang="zh-CN" sz="28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altLang="zh-CN">
                <a:sym typeface="Noto Sans SC"/>
              </a:rPr>
              <a:t>部署与运维能力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3</a:t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13" name="AutoShape 7">
            <a:extLst>
              <a:ext uri="{FF2B5EF4-FFF2-40B4-BE49-F238E27FC236}">
                <a16:creationId xmlns:a16="http://schemas.microsoft.com/office/drawing/2014/main" id="{46438921-8176-4787-B94F-BA83D99C8F14}"/>
              </a:ext>
            </a:extLst>
          </p:cNvPr>
          <p:cNvSpPr/>
          <p:nvPr/>
        </p:nvSpPr>
        <p:spPr>
          <a:xfrm>
            <a:off x="889000" y="2184400"/>
            <a:ext cx="330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基础环境构建</a:t>
            </a:r>
            <a:endParaRPr lang="en-US" sz="1100"/>
          </a:p>
        </p:txBody>
      </p:sp>
      <p:sp>
        <p:nvSpPr>
          <p:cNvPr id="14" name="AutoShape 8">
            <a:extLst>
              <a:ext uri="{FF2B5EF4-FFF2-40B4-BE49-F238E27FC236}">
                <a16:creationId xmlns:a16="http://schemas.microsoft.com/office/drawing/2014/main" id="{6C731A9F-6561-4980-8727-F55F62BB3412}"/>
              </a:ext>
            </a:extLst>
          </p:cNvPr>
          <p:cNvSpPr/>
          <p:nvPr/>
        </p:nvSpPr>
        <p:spPr>
          <a:xfrm>
            <a:off x="889000" y="2667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Nginx 核心配置：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完成反向代理与负载均衡配置，解决前后端服务的路由分发与跨域基础问题。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3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服务进程守护：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引入 PM2 管理 Node.js 进程，实现服务异常自动重启与日志监控，保障后台常驻。</a:t>
            </a:r>
          </a:p>
        </p:txBody>
      </p:sp>
      <p:sp>
        <p:nvSpPr>
          <p:cNvPr id="15" name="AutoShape 11">
            <a:extLst>
              <a:ext uri="{FF2B5EF4-FFF2-40B4-BE49-F238E27FC236}">
                <a16:creationId xmlns:a16="http://schemas.microsoft.com/office/drawing/2014/main" id="{CCB07F0E-51C6-4334-A280-D7716FFABD71}"/>
              </a:ext>
            </a:extLst>
          </p:cNvPr>
          <p:cNvSpPr/>
          <p:nvPr/>
        </p:nvSpPr>
        <p:spPr>
          <a:xfrm>
            <a:off x="4699000" y="2184400"/>
            <a:ext cx="330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数据与安全策略</a:t>
            </a:r>
            <a:endParaRPr lang="en-US" sz="1100"/>
          </a:p>
        </p:txBody>
      </p:sp>
      <p:sp>
        <p:nvSpPr>
          <p:cNvPr id="16" name="AutoShape 12">
            <a:extLst>
              <a:ext uri="{FF2B5EF4-FFF2-40B4-BE49-F238E27FC236}">
                <a16:creationId xmlns:a16="http://schemas.microsoft.com/office/drawing/2014/main" id="{D075D1C7-BCB2-47BB-9B4C-FB3B7D579ABE}"/>
              </a:ext>
            </a:extLst>
          </p:cNvPr>
          <p:cNvSpPr/>
          <p:nvPr/>
        </p:nvSpPr>
        <p:spPr>
          <a:xfrm>
            <a:off x="4699000" y="2667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数据库体系化：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完成用户权限分级、Schema 设计优化，并制定定期自动备份脚本，防范数据丢失风险。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3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静态资源管理：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调整项目构建路径，配合 Nginx 配置，彻底解决 Vue 项目打包后静态资源加载失败问题。</a:t>
            </a:r>
          </a:p>
        </p:txBody>
      </p:sp>
      <p:sp>
        <p:nvSpPr>
          <p:cNvPr id="17" name="AutoShape 15">
            <a:extLst>
              <a:ext uri="{FF2B5EF4-FFF2-40B4-BE49-F238E27FC236}">
                <a16:creationId xmlns:a16="http://schemas.microsoft.com/office/drawing/2014/main" id="{878FA23F-98B4-4684-9070-0B05D4B90A15}"/>
              </a:ext>
            </a:extLst>
          </p:cNvPr>
          <p:cNvSpPr/>
          <p:nvPr/>
        </p:nvSpPr>
        <p:spPr>
          <a:xfrm>
            <a:off x="8509000" y="2184400"/>
            <a:ext cx="330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疑难杂症攻克</a:t>
            </a:r>
            <a:endParaRPr lang="en-US" sz="1100"/>
          </a:p>
        </p:txBody>
      </p:sp>
      <p:sp>
        <p:nvSpPr>
          <p:cNvPr id="18" name="AutoShape 16">
            <a:extLst>
              <a:ext uri="{FF2B5EF4-FFF2-40B4-BE49-F238E27FC236}">
                <a16:creationId xmlns:a16="http://schemas.microsoft.com/office/drawing/2014/main" id="{2563B0DC-2EDC-4DDD-804C-61F41C4BC209}"/>
              </a:ext>
            </a:extLst>
          </p:cNvPr>
          <p:cNvSpPr/>
          <p:nvPr/>
        </p:nvSpPr>
        <p:spPr>
          <a:xfrm>
            <a:off x="8509000" y="2667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路由刷新 404：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利用 try_files 指令将非真实文件请求重定向至 index.html，完美适配前端 History 模式。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3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跨域请求拦截：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配置 Access-Control 响应头，建立安全的 CORS 白名单，实现前后端域名的合法互通。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  <a:sym typeface="+mn-lt"/>
              </a:rPr>
              <a:t>查琪乐</a:t>
            </a:r>
            <a:r>
              <a:rPr lang="en-US" altLang="zh-CN">
                <a:sym typeface="+mn-lt"/>
              </a:rPr>
              <a:t>-</a:t>
            </a:r>
            <a:r>
              <a:rPr lang="zh-CN" altLang="en-US">
                <a:sym typeface="Noto Sans SC"/>
              </a:rPr>
              <a:t>代码质量把控</a:t>
            </a:r>
            <a:endParaRPr lang="zh-CN" altLang="en-US" dirty="0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4</a:t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11" name="AutoShape 5">
            <a:extLst>
              <a:ext uri="{FF2B5EF4-FFF2-40B4-BE49-F238E27FC236}">
                <a16:creationId xmlns:a16="http://schemas.microsoft.com/office/drawing/2014/main" id="{BDA81917-EA7D-49C3-9967-A23AB079DCD8}"/>
              </a:ext>
            </a:extLst>
          </p:cNvPr>
          <p:cNvSpPr/>
          <p:nvPr/>
        </p:nvSpPr>
        <p:spPr>
          <a:xfrm>
            <a:off x="762000" y="2159000"/>
            <a:ext cx="533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风险防御：构建代码安全底座</a:t>
            </a:r>
            <a:endParaRPr lang="en-US" sz="1100"/>
          </a:p>
        </p:txBody>
      </p:sp>
      <p:sp>
        <p:nvSpPr>
          <p:cNvPr id="12" name="AutoShape 7">
            <a:extLst>
              <a:ext uri="{FF2B5EF4-FFF2-40B4-BE49-F238E27FC236}">
                <a16:creationId xmlns:a16="http://schemas.microsoft.com/office/drawing/2014/main" id="{3D50131C-78A6-4F9A-8BBE-FD7170974F6F}"/>
              </a:ext>
            </a:extLst>
          </p:cNvPr>
          <p:cNvSpPr/>
          <p:nvPr/>
        </p:nvSpPr>
        <p:spPr>
          <a:xfrm>
            <a:off x="762000" y="2921000"/>
            <a:ext cx="5207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4ADE80"/>
                </a:solidFill>
                <a:latin typeface="Noto Sans SC"/>
                <a:ea typeface="Noto Sans SC"/>
                <a:cs typeface="Noto Sans SC"/>
                <a:sym typeface="Noto Sans SC"/>
              </a:rPr>
              <a:t>SQL注入防线</a:t>
            </a:r>
            <a:endParaRPr lang="en-US" sz="1100"/>
          </a:p>
        </p:txBody>
      </p:sp>
      <p:sp>
        <p:nvSpPr>
          <p:cNvPr id="19" name="AutoShape 8">
            <a:extLst>
              <a:ext uri="{FF2B5EF4-FFF2-40B4-BE49-F238E27FC236}">
                <a16:creationId xmlns:a16="http://schemas.microsoft.com/office/drawing/2014/main" id="{27CD0A55-F112-4167-BB26-31E42481985C}"/>
              </a:ext>
            </a:extLst>
          </p:cNvPr>
          <p:cNvSpPr/>
          <p:nvPr/>
        </p:nvSpPr>
        <p:spPr>
          <a:xfrm>
            <a:off x="762000" y="3302000"/>
            <a:ext cx="5207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全面禁用字符串拼接SQL，强制推行MyBatis参数化查询。通过预编译机制隔离用户输入与执行逻辑，从根源消除注入漏洞。</a:t>
            </a:r>
            <a:endParaRPr lang="en-US" sz="1100"/>
          </a:p>
        </p:txBody>
      </p:sp>
      <p:sp>
        <p:nvSpPr>
          <p:cNvPr id="20" name="AutoShape 9">
            <a:extLst>
              <a:ext uri="{FF2B5EF4-FFF2-40B4-BE49-F238E27FC236}">
                <a16:creationId xmlns:a16="http://schemas.microsoft.com/office/drawing/2014/main" id="{536A35BC-9BAF-4ADF-9521-74B668367525}"/>
              </a:ext>
            </a:extLst>
          </p:cNvPr>
          <p:cNvSpPr/>
          <p:nvPr/>
        </p:nvSpPr>
        <p:spPr>
          <a:xfrm>
            <a:off x="762000" y="4318000"/>
            <a:ext cx="5207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4ADE80"/>
                </a:solidFill>
                <a:latin typeface="Noto Sans SC"/>
                <a:ea typeface="Noto Sans SC"/>
                <a:cs typeface="Noto Sans SC"/>
                <a:sym typeface="Noto Sans SC"/>
              </a:rPr>
              <a:t>敏感数据加密</a:t>
            </a:r>
            <a:endParaRPr lang="en-US" sz="1100"/>
          </a:p>
        </p:txBody>
      </p:sp>
      <p:sp>
        <p:nvSpPr>
          <p:cNvPr id="21" name="AutoShape 10">
            <a:extLst>
              <a:ext uri="{FF2B5EF4-FFF2-40B4-BE49-F238E27FC236}">
                <a16:creationId xmlns:a16="http://schemas.microsoft.com/office/drawing/2014/main" id="{EF69CCE0-AFF1-4465-BDCB-C3AF54791110}"/>
              </a:ext>
            </a:extLst>
          </p:cNvPr>
          <p:cNvSpPr/>
          <p:nvPr/>
        </p:nvSpPr>
        <p:spPr>
          <a:xfrm>
            <a:off x="762000" y="4699000"/>
            <a:ext cx="5207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建立数据安全规范，对密码、密钥等敏感信息强制使用BCrypt等哈希算法进行单向加密存储，杜绝明文数据泄露隐患。</a:t>
            </a:r>
            <a:endParaRPr lang="en-US" sz="1100"/>
          </a:p>
        </p:txBody>
      </p:sp>
      <p:sp>
        <p:nvSpPr>
          <p:cNvPr id="22" name="AutoShape 11">
            <a:extLst>
              <a:ext uri="{FF2B5EF4-FFF2-40B4-BE49-F238E27FC236}">
                <a16:creationId xmlns:a16="http://schemas.microsoft.com/office/drawing/2014/main" id="{C7A8E3EF-E2B3-411E-ADD7-2EB5396C3688}"/>
              </a:ext>
            </a:extLst>
          </p:cNvPr>
          <p:cNvSpPr/>
          <p:nvPr/>
        </p:nvSpPr>
        <p:spPr>
          <a:xfrm>
            <a:off x="762000" y="5588000"/>
            <a:ext cx="5207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4ADE80"/>
                </a:solidFill>
                <a:latin typeface="Noto Sans SC"/>
                <a:ea typeface="Noto Sans SC"/>
                <a:cs typeface="Noto Sans SC"/>
                <a:sym typeface="Noto Sans SC"/>
              </a:rPr>
              <a:t>全局异常治理</a:t>
            </a:r>
            <a:endParaRPr lang="en-US" sz="1100"/>
          </a:p>
        </p:txBody>
      </p:sp>
      <p:sp>
        <p:nvSpPr>
          <p:cNvPr id="23" name="AutoShape 12">
            <a:extLst>
              <a:ext uri="{FF2B5EF4-FFF2-40B4-BE49-F238E27FC236}">
                <a16:creationId xmlns:a16="http://schemas.microsoft.com/office/drawing/2014/main" id="{7A1DDD0C-CD10-4AE6-B3B8-B2AE958FB01C}"/>
              </a:ext>
            </a:extLst>
          </p:cNvPr>
          <p:cNvSpPr/>
          <p:nvPr/>
        </p:nvSpPr>
        <p:spPr>
          <a:xfrm>
            <a:off x="762000" y="5969000"/>
            <a:ext cx="5207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设计统一的异常拦截与处理体系，封装业务异常码，避免直接暴露系统堆栈，提升用户体验与系统健壮性。</a:t>
            </a:r>
            <a:endParaRPr lang="en-US" sz="1100"/>
          </a:p>
        </p:txBody>
      </p:sp>
      <p:sp>
        <p:nvSpPr>
          <p:cNvPr id="24" name="AutoShape 13">
            <a:extLst>
              <a:ext uri="{FF2B5EF4-FFF2-40B4-BE49-F238E27FC236}">
                <a16:creationId xmlns:a16="http://schemas.microsoft.com/office/drawing/2014/main" id="{CD66C550-64E3-43EE-84FB-66995B6A606C}"/>
              </a:ext>
            </a:extLst>
          </p:cNvPr>
          <p:cNvSpPr/>
          <p:nvPr/>
        </p:nvSpPr>
        <p:spPr>
          <a:xfrm>
            <a:off x="6350000" y="2159000"/>
            <a:ext cx="533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规范治理：提升代码可维护性</a:t>
            </a:r>
            <a:endParaRPr lang="en-US" sz="1100"/>
          </a:p>
        </p:txBody>
      </p:sp>
      <p:sp>
        <p:nvSpPr>
          <p:cNvPr id="25" name="AutoShape 15">
            <a:extLst>
              <a:ext uri="{FF2B5EF4-FFF2-40B4-BE49-F238E27FC236}">
                <a16:creationId xmlns:a16="http://schemas.microsoft.com/office/drawing/2014/main" id="{261EFDD2-59B2-4495-BBF6-E9C23DE9D559}"/>
              </a:ext>
            </a:extLst>
          </p:cNvPr>
          <p:cNvSpPr/>
          <p:nvPr/>
        </p:nvSpPr>
        <p:spPr>
          <a:xfrm>
            <a:off x="6350000" y="2921000"/>
            <a:ext cx="5207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4ADE80"/>
                </a:solidFill>
                <a:latin typeface="Noto Sans SC"/>
                <a:ea typeface="Noto Sans SC"/>
                <a:cs typeface="Noto Sans SC"/>
                <a:sym typeface="Noto Sans SC"/>
              </a:rPr>
              <a:t>语义化命名约定</a:t>
            </a:r>
            <a:endParaRPr lang="en-US" sz="1100"/>
          </a:p>
        </p:txBody>
      </p:sp>
      <p:sp>
        <p:nvSpPr>
          <p:cNvPr id="26" name="AutoShape 16">
            <a:extLst>
              <a:ext uri="{FF2B5EF4-FFF2-40B4-BE49-F238E27FC236}">
                <a16:creationId xmlns:a16="http://schemas.microsoft.com/office/drawing/2014/main" id="{E23985C0-BEA5-4435-870F-6C5D1C1A9217}"/>
              </a:ext>
            </a:extLst>
          </p:cNvPr>
          <p:cNvSpPr/>
          <p:nvPr/>
        </p:nvSpPr>
        <p:spPr>
          <a:xfrm>
            <a:off x="6350000" y="3302000"/>
            <a:ext cx="5207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统一变量、函数与类的命名标准，坚持“见名知意”原则。采用驼峰命名法与英文语义化表达，降低代码阅读成本。</a:t>
            </a:r>
            <a:endParaRPr lang="en-US" sz="1100"/>
          </a:p>
        </p:txBody>
      </p:sp>
      <p:sp>
        <p:nvSpPr>
          <p:cNvPr id="27" name="AutoShape 17">
            <a:extLst>
              <a:ext uri="{FF2B5EF4-FFF2-40B4-BE49-F238E27FC236}">
                <a16:creationId xmlns:a16="http://schemas.microsoft.com/office/drawing/2014/main" id="{99F36AF0-5D0D-4A6C-8B94-41040D72F333}"/>
              </a:ext>
            </a:extLst>
          </p:cNvPr>
          <p:cNvSpPr/>
          <p:nvPr/>
        </p:nvSpPr>
        <p:spPr>
          <a:xfrm>
            <a:off x="6350000" y="4318000"/>
            <a:ext cx="5207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4ADE80"/>
                </a:solidFill>
                <a:latin typeface="Noto Sans SC"/>
                <a:ea typeface="Noto Sans SC"/>
                <a:cs typeface="Noto Sans SC"/>
                <a:sym typeface="Noto Sans SC"/>
              </a:rPr>
              <a:t>逻辑沉淀注释</a:t>
            </a:r>
            <a:endParaRPr lang="en-US" sz="1100"/>
          </a:p>
        </p:txBody>
      </p:sp>
      <p:sp>
        <p:nvSpPr>
          <p:cNvPr id="28" name="AutoShape 18">
            <a:extLst>
              <a:ext uri="{FF2B5EF4-FFF2-40B4-BE49-F238E27FC236}">
                <a16:creationId xmlns:a16="http://schemas.microsoft.com/office/drawing/2014/main" id="{61BA2FC3-0703-4001-AD48-261FFE20CF38}"/>
              </a:ext>
            </a:extLst>
          </p:cNvPr>
          <p:cNvSpPr/>
          <p:nvPr/>
        </p:nvSpPr>
        <p:spPr>
          <a:xfrm>
            <a:off x="6350000" y="4699000"/>
            <a:ext cx="5207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对核心业务规则、复杂算法及边界条件添加结构化注释。让注释成为设计思路的载体，助力团队快速理解与维护。</a:t>
            </a:r>
            <a:endParaRPr lang="en-US" sz="1100"/>
          </a:p>
        </p:txBody>
      </p:sp>
      <p:sp>
        <p:nvSpPr>
          <p:cNvPr id="29" name="AutoShape 19">
            <a:extLst>
              <a:ext uri="{FF2B5EF4-FFF2-40B4-BE49-F238E27FC236}">
                <a16:creationId xmlns:a16="http://schemas.microsoft.com/office/drawing/2014/main" id="{D5D6303F-38CD-4154-B8FB-6A8D61BE0A5B}"/>
              </a:ext>
            </a:extLst>
          </p:cNvPr>
          <p:cNvSpPr/>
          <p:nvPr/>
        </p:nvSpPr>
        <p:spPr>
          <a:xfrm>
            <a:off x="6350000" y="5588000"/>
            <a:ext cx="5207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4ADE80"/>
                </a:solidFill>
                <a:latin typeface="Noto Sans SC"/>
                <a:ea typeface="Noto Sans SC"/>
                <a:cs typeface="Noto Sans SC"/>
                <a:sym typeface="Noto Sans SC"/>
              </a:rPr>
              <a:t>分层职责边界</a:t>
            </a:r>
            <a:endParaRPr lang="en-US" sz="1100"/>
          </a:p>
        </p:txBody>
      </p:sp>
      <p:sp>
        <p:nvSpPr>
          <p:cNvPr id="30" name="AutoShape 20">
            <a:extLst>
              <a:ext uri="{FF2B5EF4-FFF2-40B4-BE49-F238E27FC236}">
                <a16:creationId xmlns:a16="http://schemas.microsoft.com/office/drawing/2014/main" id="{077262B8-3956-41B7-B014-B3C70C655E89}"/>
              </a:ext>
            </a:extLst>
          </p:cNvPr>
          <p:cNvSpPr/>
          <p:nvPr/>
        </p:nvSpPr>
        <p:spPr>
          <a:xfrm>
            <a:off x="6350000" y="5969000"/>
            <a:ext cx="5207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严格执行 Controller 接入、Service 业务、Mapper 持久化的分层架构。明确各层职责，实现业务逻辑的高内聚低耦合。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151998896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  <a:sym typeface="+mn-lt"/>
              </a:rPr>
              <a:t>查琪乐</a:t>
            </a:r>
            <a:r>
              <a:rPr lang="en-US" altLang="zh-CN">
                <a:sym typeface="+mn-lt"/>
              </a:rPr>
              <a:t>-</a:t>
            </a:r>
            <a:r>
              <a:rPr lang="en-US" altLang="zh-CN" sz="28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altLang="zh-CN">
                <a:sym typeface="Noto Sans SC"/>
              </a:rPr>
              <a:t>任务分解与分配</a:t>
            </a:r>
            <a:endParaRPr lang="zh-CN" altLang="en-US" dirty="0">
              <a:sym typeface="+mn-lt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31" name="AutoShape 5">
            <a:extLst>
              <a:ext uri="{FF2B5EF4-FFF2-40B4-BE49-F238E27FC236}">
                <a16:creationId xmlns:a16="http://schemas.microsoft.com/office/drawing/2014/main" id="{F07A41CD-50D6-46AD-BC5F-F772FCA4EB96}"/>
              </a:ext>
            </a:extLst>
          </p:cNvPr>
          <p:cNvSpPr/>
          <p:nvPr/>
        </p:nvSpPr>
        <p:spPr>
          <a:xfrm>
            <a:off x="889000" y="17780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4ADE80"/>
                </a:solidFill>
                <a:latin typeface="Noto Sans SC"/>
                <a:ea typeface="Noto Sans SC"/>
                <a:cs typeface="Noto Sans SC"/>
                <a:sym typeface="Noto Sans SC"/>
              </a:rPr>
              <a:t>专业分工：让技术优势最大化</a:t>
            </a:r>
            <a:endParaRPr lang="en-US" sz="1100"/>
          </a:p>
        </p:txBody>
      </p:sp>
      <p:sp>
        <p:nvSpPr>
          <p:cNvPr id="32" name="AutoShape 7">
            <a:extLst>
              <a:ext uri="{FF2B5EF4-FFF2-40B4-BE49-F238E27FC236}">
                <a16:creationId xmlns:a16="http://schemas.microsoft.com/office/drawing/2014/main" id="{A85C06B9-C155-4E0E-AF75-C6F0DE718AF8}"/>
              </a:ext>
            </a:extLst>
          </p:cNvPr>
          <p:cNvSpPr/>
          <p:nvPr/>
        </p:nvSpPr>
        <p:spPr>
          <a:xfrm>
            <a:off x="889000" y="23495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前端交互：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选派经验丰富成员主导Vue组件开发，把控页面交互细节与用户体验流畅度。</a:t>
            </a:r>
            <a:endParaRPr lang="en-US" sz="1100"/>
          </a:p>
        </p:txBody>
      </p:sp>
      <p:sp>
        <p:nvSpPr>
          <p:cNvPr id="33" name="AutoShape 8">
            <a:extLst>
              <a:ext uri="{FF2B5EF4-FFF2-40B4-BE49-F238E27FC236}">
                <a16:creationId xmlns:a16="http://schemas.microsoft.com/office/drawing/2014/main" id="{977DA81B-99F9-49DB-9C02-DD97FAD02AAB}"/>
              </a:ext>
            </a:extLst>
          </p:cNvPr>
          <p:cNvSpPr/>
          <p:nvPr/>
        </p:nvSpPr>
        <p:spPr>
          <a:xfrm>
            <a:off x="889000" y="29845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核心逻辑：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由基础扎实的骨干负责后端接口与业务逻辑，确保数据流转的稳定性与安全性。</a:t>
            </a:r>
            <a:endParaRPr lang="en-US" sz="1100"/>
          </a:p>
        </p:txBody>
      </p:sp>
      <p:sp>
        <p:nvSpPr>
          <p:cNvPr id="34" name="AutoShape 9">
            <a:extLst>
              <a:ext uri="{FF2B5EF4-FFF2-40B4-BE49-F238E27FC236}">
                <a16:creationId xmlns:a16="http://schemas.microsoft.com/office/drawing/2014/main" id="{BC6BD3D0-3E3D-46FD-8B9F-486514F9AA81}"/>
              </a:ext>
            </a:extLst>
          </p:cNvPr>
          <p:cNvSpPr/>
          <p:nvPr/>
        </p:nvSpPr>
        <p:spPr>
          <a:xfrm>
            <a:off x="889000" y="36195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质量保障：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安排严谨细致的成员执行功能测试与接口文档编写，筑牢交付质量的最后一道防线。</a:t>
            </a:r>
            <a:endParaRPr lang="en-US" sz="1100"/>
          </a:p>
        </p:txBody>
      </p:sp>
      <p:sp>
        <p:nvSpPr>
          <p:cNvPr id="35" name="AutoShape 11">
            <a:extLst>
              <a:ext uri="{FF2B5EF4-FFF2-40B4-BE49-F238E27FC236}">
                <a16:creationId xmlns:a16="http://schemas.microsoft.com/office/drawing/2014/main" id="{FA5600EB-ACC9-4734-8DCE-80FC127A55F6}"/>
              </a:ext>
            </a:extLst>
          </p:cNvPr>
          <p:cNvSpPr/>
          <p:nvPr/>
        </p:nvSpPr>
        <p:spPr>
          <a:xfrm>
            <a:off x="6477000" y="17780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4ADE80"/>
                </a:solidFill>
                <a:latin typeface="Noto Sans SC"/>
                <a:ea typeface="Noto Sans SC"/>
                <a:cs typeface="Noto Sans SC"/>
                <a:sym typeface="Noto Sans SC"/>
              </a:rPr>
              <a:t>并行开发：打破串行的效率瓶颈</a:t>
            </a:r>
            <a:endParaRPr lang="en-US" sz="1100"/>
          </a:p>
        </p:txBody>
      </p:sp>
      <p:sp>
        <p:nvSpPr>
          <p:cNvPr id="36" name="AutoShape 13">
            <a:extLst>
              <a:ext uri="{FF2B5EF4-FFF2-40B4-BE49-F238E27FC236}">
                <a16:creationId xmlns:a16="http://schemas.microsoft.com/office/drawing/2014/main" id="{BC6EAE49-7DA8-4DDA-89BB-1625FA64AE4F}"/>
              </a:ext>
            </a:extLst>
          </p:cNvPr>
          <p:cNvSpPr/>
          <p:nvPr/>
        </p:nvSpPr>
        <p:spPr>
          <a:xfrm>
            <a:off x="6477000" y="23495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标准先行：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先定接口文档，后分头开发，通过统一规范实现前后端解耦，最后高效联调。</a:t>
            </a:r>
            <a:endParaRPr lang="en-US" sz="1100"/>
          </a:p>
        </p:txBody>
      </p:sp>
      <p:sp>
        <p:nvSpPr>
          <p:cNvPr id="37" name="AutoShape 14">
            <a:extLst>
              <a:ext uri="{FF2B5EF4-FFF2-40B4-BE49-F238E27FC236}">
                <a16:creationId xmlns:a16="http://schemas.microsoft.com/office/drawing/2014/main" id="{9BA04F73-4319-4162-914E-58A6519FAF38}"/>
              </a:ext>
            </a:extLst>
          </p:cNvPr>
          <p:cNvSpPr/>
          <p:nvPr/>
        </p:nvSpPr>
        <p:spPr>
          <a:xfrm>
            <a:off x="6477000" y="29845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重心聚焦：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优先攻克计算引擎等核心功能，确保业务基石稳固，非核心功能迭代后置。</a:t>
            </a:r>
            <a:endParaRPr lang="en-US" sz="1100"/>
          </a:p>
        </p:txBody>
      </p:sp>
      <p:sp>
        <p:nvSpPr>
          <p:cNvPr id="38" name="AutoShape 15">
            <a:extLst>
              <a:ext uri="{FF2B5EF4-FFF2-40B4-BE49-F238E27FC236}">
                <a16:creationId xmlns:a16="http://schemas.microsoft.com/office/drawing/2014/main" id="{5ACA5B75-6182-4D36-857A-ACBC5529D103}"/>
              </a:ext>
            </a:extLst>
          </p:cNvPr>
          <p:cNvSpPr/>
          <p:nvPr/>
        </p:nvSpPr>
        <p:spPr>
          <a:xfrm>
            <a:off x="6477000" y="36195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进度同步：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每日站会对齐进度，及时消除阻塞点，保持开发节奏一致，避免“一人拖全队”。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1449902450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  <a:sym typeface="+mn-lt"/>
              </a:rPr>
              <a:t>查琪乐</a:t>
            </a:r>
            <a:r>
              <a:rPr lang="en-US" altLang="zh-CN">
                <a:sym typeface="+mn-lt"/>
              </a:rPr>
              <a:t>-</a:t>
            </a:r>
            <a:r>
              <a:rPr lang="en-US" altLang="zh-CN" sz="28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altLang="zh-CN">
                <a:sym typeface="Noto Sans SC"/>
              </a:rPr>
              <a:t>Git协作管理</a:t>
            </a:r>
            <a:endParaRPr lang="zh-CN" altLang="en-US" dirty="0">
              <a:sym typeface="+mn-lt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6" name="AutoShape 6">
            <a:extLst>
              <a:ext uri="{FF2B5EF4-FFF2-40B4-BE49-F238E27FC236}">
                <a16:creationId xmlns:a16="http://schemas.microsoft.com/office/drawing/2014/main" id="{416A81F8-E7FA-42EC-9FD4-1C04C10A13D9}"/>
              </a:ext>
            </a:extLst>
          </p:cNvPr>
          <p:cNvSpPr/>
          <p:nvPr/>
        </p:nvSpPr>
        <p:spPr>
          <a:xfrm>
            <a:off x="652929" y="1689847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分支策略：构建有序的开发流转</a:t>
            </a:r>
            <a:endParaRPr lang="en-US" sz="1400"/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1A899FE7-B2DF-439B-A24B-FEABA8A70F98}"/>
              </a:ext>
            </a:extLst>
          </p:cNvPr>
          <p:cNvSpPr/>
          <p:nvPr/>
        </p:nvSpPr>
        <p:spPr>
          <a:xfrm>
            <a:off x="652929" y="2261347"/>
            <a:ext cx="508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Noto Sans SC"/>
                <a:ea typeface="Noto Sans SC"/>
                <a:cs typeface="Noto Sans SC"/>
                <a:sym typeface="Noto Sans SC"/>
              </a:rPr>
              <a:t>生产环境隔离：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将 main 分支设为受保护分支，映射生产环境，严禁直接推送，从源头保障线上版本的绝对稳定。</a:t>
            </a:r>
            <a:endParaRPr lang="en-US" sz="1400"/>
          </a:p>
          <a:p>
            <a:pPr marL="0" indent="0" algn="l">
              <a:lnSpc>
                <a:spcPct val="116666"/>
              </a:lnSpc>
            </a:pPr>
            <a:r>
              <a:rPr lang="en-US" sz="1600" b="1" i="0" u="none" strike="noStrike">
                <a:solidFill>
                  <a:srgbClr val="15803D"/>
                </a:solidFill>
                <a:latin typeface="Noto Sans SC"/>
                <a:ea typeface="Noto Sans SC"/>
                <a:cs typeface="Noto Sans SC"/>
                <a:sym typeface="Noto Sans SC"/>
              </a:rPr>
              <a:t>功能并行开发：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采用 feature/* 分支模式，实现多任务并行开发互不干扰，通过 PR 合并形成完整的代码变更审计链路。</a:t>
            </a:r>
          </a:p>
        </p:txBody>
      </p:sp>
      <p:sp>
        <p:nvSpPr>
          <p:cNvPr id="9" name="AutoShape 10">
            <a:extLst>
              <a:ext uri="{FF2B5EF4-FFF2-40B4-BE49-F238E27FC236}">
                <a16:creationId xmlns:a16="http://schemas.microsoft.com/office/drawing/2014/main" id="{E1A191DC-9EA2-453A-AE7B-C67EE1C21417}"/>
              </a:ext>
            </a:extLst>
          </p:cNvPr>
          <p:cNvSpPr/>
          <p:nvPr/>
        </p:nvSpPr>
        <p:spPr>
          <a:xfrm>
            <a:off x="652929" y="3738134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质量门禁：代码审查的制度落地</a:t>
            </a:r>
            <a:endParaRPr lang="en-US" sz="1400"/>
          </a:p>
        </p:txBody>
      </p:sp>
      <p:sp>
        <p:nvSpPr>
          <p:cNvPr id="10" name="AutoShape 12">
            <a:extLst>
              <a:ext uri="{FF2B5EF4-FFF2-40B4-BE49-F238E27FC236}">
                <a16:creationId xmlns:a16="http://schemas.microsoft.com/office/drawing/2014/main" id="{62EB9AA5-D0C2-4074-8AE6-6C93E762FF47}"/>
              </a:ext>
            </a:extLst>
          </p:cNvPr>
          <p:cNvSpPr/>
          <p:nvPr/>
        </p:nvSpPr>
        <p:spPr>
          <a:xfrm>
            <a:off x="652929" y="4309634"/>
            <a:ext cx="508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Noto Sans SC"/>
                <a:ea typeface="Noto Sans SC"/>
                <a:cs typeface="Noto Sans SC"/>
                <a:sym typeface="Noto Sans SC"/>
              </a:rPr>
              <a:t>强制双人复核：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确立“至少一人批准”原则，将代码审查作为合并的必要条件，有效拦截潜在的逻辑漏洞与风格问题。</a:t>
            </a:r>
            <a:endParaRPr lang="en-US" sz="1400"/>
          </a:p>
          <a:p>
            <a:pPr marL="0" indent="0" algn="l">
              <a:lnSpc>
                <a:spcPct val="116666"/>
              </a:lnSpc>
            </a:pPr>
            <a:r>
              <a:rPr lang="en-US" sz="1600" b="1" i="0" u="none" strike="noStrike">
                <a:solidFill>
                  <a:srgbClr val="15803D"/>
                </a:solidFill>
                <a:latin typeface="Noto Sans SC"/>
                <a:ea typeface="Noto Sans SC"/>
                <a:cs typeface="Noto Sans SC"/>
                <a:sym typeface="Noto Sans SC"/>
              </a:rPr>
              <a:t>冲突与闭环管理：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合并前强制解决代码冲突，审查意见需逐条反馈并落实修改，确保每一行入仓代码都经过校验。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B6F9109-976E-492B-8CAB-51A5FD6C9F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2908" y="1266862"/>
            <a:ext cx="2130171" cy="5247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9862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powerpoint template design by DAJU_PPT正版来源小红书大橘PPT微信DAJU_PPT请勿抄袭搬运！盗版必究！"/>
          <p:cNvGrpSpPr/>
          <p:nvPr/>
        </p:nvGrpSpPr>
        <p:grpSpPr>
          <a:xfrm>
            <a:off x="0" y="5283200"/>
            <a:ext cx="12192188" cy="1574800"/>
            <a:chOff x="1" y="5283225"/>
            <a:chExt cx="12191999" cy="1574776"/>
          </a:xfrm>
        </p:grpSpPr>
        <p:sp>
          <p:nvSpPr>
            <p:cNvPr id="4" name="powerpoint template design by DAJU_PPT正版来源小红书大橘PPT微信DAJU_PPT请勿抄袭搬运！盗版必究！-1"/>
            <p:cNvSpPr/>
            <p:nvPr/>
          </p:nvSpPr>
          <p:spPr>
            <a:xfrm>
              <a:off x="1" y="5283225"/>
              <a:ext cx="12191999" cy="1574776"/>
            </a:xfrm>
            <a:custGeom>
              <a:avLst/>
              <a:gdLst>
                <a:gd name="connsiteX0" fmla="*/ 0 w 12191999"/>
                <a:gd name="connsiteY0" fmla="*/ 0 h 1574776"/>
                <a:gd name="connsiteX1" fmla="*/ 121527 w 12191999"/>
                <a:gd name="connsiteY1" fmla="*/ 105084 h 1574776"/>
                <a:gd name="connsiteX2" fmla="*/ 6096001 w 12191999"/>
                <a:gd name="connsiteY2" fmla="*/ 1545053 h 1574776"/>
                <a:gd name="connsiteX3" fmla="*/ 12070473 w 12191999"/>
                <a:gd name="connsiteY3" fmla="*/ 105085 h 1574776"/>
                <a:gd name="connsiteX4" fmla="*/ 12191999 w 12191999"/>
                <a:gd name="connsiteY4" fmla="*/ 1 h 1574776"/>
                <a:gd name="connsiteX5" fmla="*/ 12191999 w 12191999"/>
                <a:gd name="connsiteY5" fmla="*/ 1574776 h 1574776"/>
                <a:gd name="connsiteX6" fmla="*/ 0 w 12191999"/>
                <a:gd name="connsiteY6" fmla="*/ 1574776 h 157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574776">
                  <a:moveTo>
                    <a:pt x="0" y="0"/>
                  </a:moveTo>
                  <a:lnTo>
                    <a:pt x="121527" y="105084"/>
                  </a:lnTo>
                  <a:cubicBezTo>
                    <a:pt x="1232752" y="959961"/>
                    <a:pt x="3490973" y="1545053"/>
                    <a:pt x="6096001" y="1545053"/>
                  </a:cubicBezTo>
                  <a:cubicBezTo>
                    <a:pt x="8701028" y="1545053"/>
                    <a:pt x="10959248" y="959962"/>
                    <a:pt x="12070473" y="105085"/>
                  </a:cubicBezTo>
                  <a:lnTo>
                    <a:pt x="12191999" y="1"/>
                  </a:lnTo>
                  <a:lnTo>
                    <a:pt x="12191999" y="1574776"/>
                  </a:lnTo>
                  <a:lnTo>
                    <a:pt x="0" y="1574776"/>
                  </a:lnTo>
                  <a:close/>
                </a:path>
              </a:pathLst>
            </a:cu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5" name="powerpoint template design by DAJU_PPT正版来源小红书大橘PPT微信DAJU_PPT请勿抄袭搬运！盗版必究！-2" hidden="1"/>
            <p:cNvSpPr/>
            <p:nvPr userDrawn="1"/>
          </p:nvSpPr>
          <p:spPr>
            <a:xfrm>
              <a:off x="1" y="5804166"/>
              <a:ext cx="12191999" cy="1053835"/>
            </a:xfrm>
            <a:custGeom>
              <a:avLst/>
              <a:gdLst>
                <a:gd name="connsiteX0" fmla="*/ 0 w 12191999"/>
                <a:gd name="connsiteY0" fmla="*/ 0 h 1053835"/>
                <a:gd name="connsiteX1" fmla="*/ 84912 w 12191999"/>
                <a:gd name="connsiteY1" fmla="*/ 44439 h 1053835"/>
                <a:gd name="connsiteX2" fmla="*/ 6096001 w 12191999"/>
                <a:gd name="connsiteY2" fmla="*/ 918960 h 1053835"/>
                <a:gd name="connsiteX3" fmla="*/ 12107089 w 12191999"/>
                <a:gd name="connsiteY3" fmla="*/ 44439 h 1053835"/>
                <a:gd name="connsiteX4" fmla="*/ 12191999 w 12191999"/>
                <a:gd name="connsiteY4" fmla="*/ 1 h 1053835"/>
                <a:gd name="connsiteX5" fmla="*/ 12191999 w 12191999"/>
                <a:gd name="connsiteY5" fmla="*/ 1053835 h 1053835"/>
                <a:gd name="connsiteX6" fmla="*/ 0 w 12191999"/>
                <a:gd name="connsiteY6" fmla="*/ 1053835 h 105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53835">
                  <a:moveTo>
                    <a:pt x="0" y="0"/>
                  </a:moveTo>
                  <a:lnTo>
                    <a:pt x="84912" y="44439"/>
                  </a:lnTo>
                  <a:cubicBezTo>
                    <a:pt x="1182612" y="562756"/>
                    <a:pt x="3462028" y="918960"/>
                    <a:pt x="6096001" y="918960"/>
                  </a:cubicBezTo>
                  <a:cubicBezTo>
                    <a:pt x="8729972" y="918960"/>
                    <a:pt x="11009388" y="562756"/>
                    <a:pt x="12107089" y="44439"/>
                  </a:cubicBezTo>
                  <a:lnTo>
                    <a:pt x="12191999" y="1"/>
                  </a:lnTo>
                  <a:lnTo>
                    <a:pt x="12191999" y="1053835"/>
                  </a:lnTo>
                  <a:lnTo>
                    <a:pt x="0" y="1053835"/>
                  </a:ln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8" name="powerpoint template design by DAJU_PPT正版来源小红书大橘PPT微信DAJU_PPT请勿抄袭搬运！盗版必究！-3"/>
            <p:cNvSpPr/>
            <p:nvPr userDrawn="1"/>
          </p:nvSpPr>
          <p:spPr>
            <a:xfrm>
              <a:off x="1" y="5826095"/>
              <a:ext cx="12191999" cy="1031906"/>
            </a:xfrm>
            <a:custGeom>
              <a:avLst/>
              <a:gdLst>
                <a:gd name="connsiteX0" fmla="*/ 0 w 12191999"/>
                <a:gd name="connsiteY0" fmla="*/ 0 h 1031906"/>
                <a:gd name="connsiteX1" fmla="*/ 97612 w 12191999"/>
                <a:gd name="connsiteY1" fmla="*/ 51085 h 1031906"/>
                <a:gd name="connsiteX2" fmla="*/ 6108700 w 12191999"/>
                <a:gd name="connsiteY2" fmla="*/ 925606 h 1031906"/>
                <a:gd name="connsiteX3" fmla="*/ 12119789 w 12191999"/>
                <a:gd name="connsiteY3" fmla="*/ 51085 h 1031906"/>
                <a:gd name="connsiteX4" fmla="*/ 12191999 w 12191999"/>
                <a:gd name="connsiteY4" fmla="*/ 13293 h 1031906"/>
                <a:gd name="connsiteX5" fmla="*/ 12191999 w 12191999"/>
                <a:gd name="connsiteY5" fmla="*/ 1031906 h 1031906"/>
                <a:gd name="connsiteX6" fmla="*/ 0 w 12191999"/>
                <a:gd name="connsiteY6" fmla="*/ 1031906 h 103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31906">
                  <a:moveTo>
                    <a:pt x="0" y="0"/>
                  </a:moveTo>
                  <a:lnTo>
                    <a:pt x="97612" y="51085"/>
                  </a:lnTo>
                  <a:cubicBezTo>
                    <a:pt x="1195312" y="569402"/>
                    <a:pt x="3474728" y="925606"/>
                    <a:pt x="6108700" y="925606"/>
                  </a:cubicBezTo>
                  <a:cubicBezTo>
                    <a:pt x="8742672" y="925606"/>
                    <a:pt x="11022088" y="569402"/>
                    <a:pt x="12119789" y="51085"/>
                  </a:cubicBezTo>
                  <a:lnTo>
                    <a:pt x="12191999" y="13293"/>
                  </a:lnTo>
                  <a:lnTo>
                    <a:pt x="12191999" y="1031906"/>
                  </a:lnTo>
                  <a:lnTo>
                    <a:pt x="0" y="1031906"/>
                  </a:lnTo>
                  <a:close/>
                </a:path>
              </a:pathLst>
            </a:custGeom>
            <a:solidFill>
              <a:schemeClr val="accent1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</p:grpSp>
      <p:sp>
        <p:nvSpPr>
          <p:cNvPr id="87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>
                <a:solidFill>
                  <a:schemeClr val="bg1"/>
                </a:solidFill>
              </a:rPr>
              <a:t>7</a:t>
            </a:fld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 txBox="1"/>
          <p:nvPr/>
        </p:nvSpPr>
        <p:spPr>
          <a:xfrm>
            <a:off x="959417" y="8553167"/>
            <a:ext cx="65" cy="73866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zh-CN" altLang="en-US" sz="4800" b="1" spc="300" dirty="0">
              <a:solidFill>
                <a:schemeClr val="accent1"/>
              </a:solidFill>
              <a:cs typeface="+mn-ea"/>
              <a:sym typeface="+mn-lt"/>
            </a:endParaRPr>
          </a:p>
        </p:txBody>
      </p:sp>
      <p:sp>
        <p:nvSpPr>
          <p:cNvPr id="9" name="powerpoint template design by DAJU_PPT正版来源小红书大橘PPT微信DAJU_PPT请勿抄袭搬运！盗版必究！"/>
          <p:cNvSpPr txBox="1"/>
          <p:nvPr/>
        </p:nvSpPr>
        <p:spPr>
          <a:xfrm>
            <a:off x="2075669" y="2030205"/>
            <a:ext cx="8040663" cy="18466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zh-CN" sz="6600" b="1" spc="300" dirty="0">
                <a:solidFill>
                  <a:schemeClr val="accent2"/>
                </a:solidFill>
                <a:cs typeface="+mn-ea"/>
                <a:sym typeface="+mn-lt"/>
              </a:rPr>
              <a:t>THANKS</a:t>
            </a:r>
          </a:p>
          <a:p>
            <a:pPr algn="ctr"/>
            <a:r>
              <a:rPr lang="zh-CN" altLang="en-US" sz="5400" b="1" spc="300" dirty="0">
                <a:solidFill>
                  <a:schemeClr val="accent1"/>
                </a:solidFill>
                <a:cs typeface="+mn-ea"/>
                <a:sym typeface="+mn-lt"/>
              </a:rPr>
              <a:t>谢谢观看，恳请批评指正</a:t>
            </a:r>
          </a:p>
        </p:txBody>
      </p:sp>
      <p:grpSp>
        <p:nvGrpSpPr>
          <p:cNvPr id="13" name="powerpoint template design by DAJU_PPT正版来源小红书大橘PPT微信DAJU_PPT请勿抄袭搬运！盗版必究！"/>
          <p:cNvGrpSpPr/>
          <p:nvPr/>
        </p:nvGrpSpPr>
        <p:grpSpPr>
          <a:xfrm>
            <a:off x="2656946" y="4543521"/>
            <a:ext cx="6878109" cy="160811"/>
            <a:chOff x="2656946" y="4546640"/>
            <a:chExt cx="6878109" cy="160811"/>
          </a:xfrm>
        </p:grpSpPr>
        <p:cxnSp>
          <p:nvCxnSpPr>
            <p:cNvPr id="14" name="powerpoint template design by DAJU_PPT正版来源小红书大橘PPT微信DAJU_PPT请勿抄袭搬运！盗版必究！-1"/>
            <p:cNvCxnSpPr/>
            <p:nvPr/>
          </p:nvCxnSpPr>
          <p:spPr>
            <a:xfrm>
              <a:off x="2978668" y="4627045"/>
              <a:ext cx="6234664" cy="0"/>
            </a:xfrm>
            <a:prstGeom prst="line">
              <a:avLst/>
            </a:prstGeom>
            <a:solidFill>
              <a:schemeClr val="accent2"/>
            </a:solidFill>
            <a:ln w="12700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组合 14"/>
            <p:cNvGrpSpPr/>
            <p:nvPr/>
          </p:nvGrpSpPr>
          <p:grpSpPr>
            <a:xfrm>
              <a:off x="2656946" y="4546640"/>
              <a:ext cx="6878109" cy="160811"/>
              <a:chOff x="3756540" y="4546640"/>
              <a:chExt cx="6878109" cy="160811"/>
            </a:xfrm>
          </p:grpSpPr>
          <p:grpSp>
            <p:nvGrpSpPr>
              <p:cNvPr id="16" name="组合 15"/>
              <p:cNvGrpSpPr/>
              <p:nvPr/>
            </p:nvGrpSpPr>
            <p:grpSpPr>
              <a:xfrm>
                <a:off x="10375329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27" name="powerpoint template design by DAJU_PPT正版来源小红书大橘PPT微信DAJU_PPT请勿抄袭搬运！盗版必究！-2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8" name="powerpoint template design by DAJU_PPT正版来源小红书大橘PPT微信DAJU_PPT请勿抄袭搬运！盗版必究！-3"/>
                <p:cNvSpPr/>
                <p:nvPr>
                  <p:custDataLst>
                    <p:tags r:id="rId6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9" name="powerpoint template design by DAJU_PPT正版来源小红书大橘PPT微信DAJU_PPT请勿抄袭搬运！盗版必究！-4"/>
                <p:cNvSpPr/>
                <p:nvPr>
                  <p:custDataLst>
                    <p:tags r:id="rId7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 flipH="1">
                <a:off x="3756540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19" name="powerpoint template design by DAJU_PPT正版来源小红书大橘PPT微信DAJU_PPT请勿抄袭搬运！盗版必究！-5"/>
                <p:cNvSpPr/>
                <p:nvPr>
                  <p:custDataLst>
                    <p:tags r:id="rId2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powerpoint template design by DAJU_PPT正版来源小红书大橘PPT微信DAJU_PPT请勿抄袭搬运！盗版必究！-6"/>
                <p:cNvSpPr/>
                <p:nvPr>
                  <p:custDataLst>
                    <p:tags r:id="rId3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powerpoint template design by DAJU_PPT正版来源小红书大橘PPT微信DAJU_PPT请勿抄袭搬运！盗版必究！-7"/>
                <p:cNvSpPr/>
                <p:nvPr>
                  <p:custDataLst>
                    <p:tags r:id="rId4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pic>
        <p:nvPicPr>
          <p:cNvPr id="6" name="图片 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027" y="533337"/>
            <a:ext cx="1499612" cy="1499612"/>
          </a:xfrm>
          <a:prstGeom prst="rect">
            <a:avLst/>
          </a:prstGeom>
        </p:spPr>
      </p:pic>
      <p:sp>
        <p:nvSpPr>
          <p:cNvPr id="21" name="powerpoint template design by DAJU_PPT正版来源小红书大橘PPT微信DAJU_PPT请勿抄袭搬运！盗版必究！-1"/>
          <p:cNvSpPr txBox="1"/>
          <p:nvPr/>
        </p:nvSpPr>
        <p:spPr>
          <a:xfrm>
            <a:off x="4242045" y="4107167"/>
            <a:ext cx="3707911" cy="45465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800" b="1" dirty="0">
                <a:latin typeface="+mn-ea"/>
              </a:rPr>
              <a:t>汇报</a:t>
            </a:r>
            <a:r>
              <a:rPr lang="zh-CN" altLang="en-US" sz="1800" b="1">
                <a:latin typeface="+mn-ea"/>
              </a:rPr>
              <a:t>人：</a:t>
            </a:r>
            <a:r>
              <a:rPr lang="zh-CN" altLang="en-US" b="1">
                <a:latin typeface="+mn-ea"/>
              </a:rPr>
              <a:t>查琪乐、褚茂誉、邱嘉堃</a:t>
            </a:r>
            <a:endParaRPr lang="en-US" altLang="zh-CN" sz="1800" b="1">
              <a:latin typeface="+mn-ea"/>
            </a:endParaRPr>
          </a:p>
        </p:txBody>
      </p:sp>
    </p:spTree>
    <p:custDataLst>
      <p:tags r:id="rId1"/>
    </p:custData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null,&quot;Name&quot;:&quot;适中&quot;,&quot;HeaderHeight&quot;:10.0,&quot;FooterHeight&quot;:5.0,&quot;SideMargin&quot;:5.0,&quot;TopMargin&quot;:0.0,&quot;BottomMargin&quot;:0.0,&quot;IntervalMargin&quot;:1.5,&quot;SettingType&quot;:&quot;System&quot;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36637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36637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heme/theme1.xml><?xml version="1.0" encoding="utf-8"?>
<a:theme xmlns:a="http://schemas.openxmlformats.org/drawingml/2006/main" name="Office Theme">
  <a:themeElements>
    <a:clrScheme name="00深蓝+金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394761"/>
      </a:accent1>
      <a:accent2>
        <a:srgbClr val="D0B296"/>
      </a:accent2>
      <a:accent3>
        <a:srgbClr val="394761"/>
      </a:accent3>
      <a:accent4>
        <a:srgbClr val="D0B296"/>
      </a:accent4>
      <a:accent5>
        <a:srgbClr val="394761"/>
      </a:accent5>
      <a:accent6>
        <a:srgbClr val="D0B296"/>
      </a:accent6>
      <a:hlink>
        <a:srgbClr val="DF213B"/>
      </a:hlink>
      <a:folHlink>
        <a:srgbClr val="954F72"/>
      </a:folHlink>
    </a:clrScheme>
    <a:fontScheme name="mmhun255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533</Words>
  <Application>Microsoft Office PowerPoint</Application>
  <PresentationFormat>宽屏</PresentationFormat>
  <Paragraphs>74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3" baseType="lpstr">
      <vt:lpstr>Noto Sans SC</vt:lpstr>
      <vt:lpstr>阿里巴巴普惠体 2.0 45 Light</vt:lpstr>
      <vt:lpstr>等线</vt:lpstr>
      <vt:lpstr>微软雅黑</vt:lpstr>
      <vt:lpstr>Arial</vt:lpstr>
      <vt:lpstr>Office Theme</vt:lpstr>
      <vt:lpstr>PowerPoint 演示文稿</vt:lpstr>
      <vt:lpstr>查琪乐-主要职责</vt:lpstr>
      <vt:lpstr>查琪乐- 部署与运维能力</vt:lpstr>
      <vt:lpstr>查琪乐-代码质量把控</vt:lpstr>
      <vt:lpstr>查琪乐- 任务分解与分配</vt:lpstr>
      <vt:lpstr>查琪乐- Git协作管理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曾子升</dc:creator>
  <cp:lastModifiedBy>light star</cp:lastModifiedBy>
  <cp:revision>969</cp:revision>
  <dcterms:created xsi:type="dcterms:W3CDTF">2019-11-26T03:41:00Z</dcterms:created>
  <dcterms:modified xsi:type="dcterms:W3CDTF">2026-06-23T12:04:49Z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F9D69DD7E767446EB6CAEF19E7BCACAB_13</vt:lpwstr>
  </property>
  <property fmtid="{D5CDD505-2E9C-101B-9397-08002B2CF9AE}" pid="3" name="KSOProductBuildVer">
    <vt:lpwstr>2052-12.1.0.23542</vt:lpwstr>
  </property>
</Properties>
</file>