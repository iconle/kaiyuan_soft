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39" r:id="rId3"/>
    <p:sldId id="643" r:id="rId5"/>
    <p:sldId id="905" r:id="rId6"/>
    <p:sldId id="928" r:id="rId7"/>
    <p:sldId id="924" r:id="rId8"/>
    <p:sldId id="907" r:id="rId9"/>
    <p:sldId id="927" r:id="rId10"/>
    <p:sldId id="987" r:id="rId11"/>
    <p:sldId id="988" r:id="rId12"/>
    <p:sldId id="989" r:id="rId13"/>
    <p:sldId id="990" r:id="rId14"/>
    <p:sldId id="991" r:id="rId15"/>
    <p:sldId id="926" r:id="rId16"/>
    <p:sldId id="992" r:id="rId17"/>
    <p:sldId id="993" r:id="rId18"/>
    <p:sldId id="994" r:id="rId19"/>
    <p:sldId id="906" r:id="rId20"/>
    <p:sldId id="930" r:id="rId21"/>
    <p:sldId id="931" r:id="rId22"/>
    <p:sldId id="995" r:id="rId23"/>
    <p:sldId id="716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85EBCEA-17E7-46C7-8BF8-09EC538FBA5A}">
          <p14:sldIdLst>
            <p14:sldId id="639"/>
            <p14:sldId id="643"/>
            <p14:sldId id="905"/>
            <p14:sldId id="928"/>
            <p14:sldId id="924"/>
            <p14:sldId id="907"/>
            <p14:sldId id="927"/>
            <p14:sldId id="987"/>
            <p14:sldId id="988"/>
            <p14:sldId id="989"/>
            <p14:sldId id="990"/>
            <p14:sldId id="991"/>
            <p14:sldId id="926"/>
            <p14:sldId id="992"/>
            <p14:sldId id="993"/>
            <p14:sldId id="994"/>
            <p14:sldId id="906"/>
            <p14:sldId id="930"/>
            <p14:sldId id="931"/>
            <p14:sldId id="995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BE3"/>
    <a:srgbClr val="66CCFF"/>
    <a:srgbClr val="FFFF66"/>
    <a:srgbClr val="FFFFFF"/>
    <a:srgbClr val="394761"/>
    <a:srgbClr val="023C99"/>
    <a:srgbClr val="D0B296"/>
    <a:srgbClr val="538B4B"/>
    <a:srgbClr val="E8FAE5"/>
    <a:srgbClr val="9D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700" autoAdjust="0"/>
  </p:normalViewPr>
  <p:slideViewPr>
    <p:cSldViewPr snapToGrid="0" showGuides="1">
      <p:cViewPr varScale="1">
        <p:scale>
          <a:sx n="73" d="100"/>
          <a:sy n="73" d="100"/>
        </p:scale>
        <p:origin x="107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7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3553758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2117179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242560" y="3025032"/>
            <a:ext cx="1706880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79809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559444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>
              <a:defRPr lang="zh-CN" altLang="en-US" sz="2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单击此处标题</a:t>
            </a:r>
            <a:endParaRPr lang="zh-CN" altLang="en-US" dirty="0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3452-3CC8-4E8B-993B-C9E13B0C484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1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8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6.xml"/><Relationship Id="rId7" Type="http://schemas.openxmlformats.org/officeDocument/2006/relationships/image" Target="../media/image1.png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0" Type="http://schemas.openxmlformats.org/officeDocument/2006/relationships/notesSlide" Target="../notesSlides/notesSlide19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7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9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4" name="powerpoint template design by DAJU_PPT正版来源小红书大橘PPT微信DAJU_PPT请勿抄袭搬运！盗版必究！"/>
          <p:cNvSpPr txBox="1"/>
          <p:nvPr/>
        </p:nvSpPr>
        <p:spPr>
          <a:xfrm>
            <a:off x="4457797" y="2145249"/>
            <a:ext cx="3276600" cy="9232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spc="300">
                <a:solidFill>
                  <a:schemeClr val="accent1"/>
                </a:solidFill>
                <a:cs typeface="+mn-ea"/>
                <a:sym typeface="+mn-lt"/>
              </a:rPr>
              <a:t>开源软件通识</a:t>
            </a:r>
            <a:endParaRPr lang="zh-CN" altLang="en-US" sz="4000" b="1" spc="30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79" name="powerpoint template design by DAJU_PPT正版来源小红书大橘PPT微信DAJU_PPT请勿抄袭搬运！盗版必究！"/>
          <p:cNvSpPr txBox="1"/>
          <p:nvPr/>
        </p:nvSpPr>
        <p:spPr>
          <a:xfrm>
            <a:off x="1242152" y="3261623"/>
            <a:ext cx="9707884" cy="645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spc="300">
                <a:cs typeface="+mn-ea"/>
                <a:sym typeface="+mn-lt"/>
              </a:rPr>
              <a:t>第十</a:t>
            </a:r>
            <a:r>
              <a:rPr lang="zh-CN" altLang="en-US" sz="2800" spc="300">
                <a:cs typeface="+mn-ea"/>
                <a:sym typeface="+mn-lt"/>
              </a:rPr>
              <a:t>七周汇报</a:t>
            </a:r>
            <a:endParaRPr lang="zh-CN" altLang="en-US" sz="2800" spc="300">
              <a:cs typeface="+mn-ea"/>
              <a:sym typeface="+mn-lt"/>
            </a:endParaRPr>
          </a:p>
        </p:txBody>
      </p:sp>
      <p:sp>
        <p:nvSpPr>
          <p:cNvPr id="52" name="powerpoint template design by DAJU_PPT正版来源小红书大橘PPT微信DAJU_PPT请勿抄袭搬运！盗版必究！"/>
          <p:cNvSpPr txBox="1"/>
          <p:nvPr/>
        </p:nvSpPr>
        <p:spPr>
          <a:xfrm>
            <a:off x="3797300" y="5234940"/>
            <a:ext cx="4956175" cy="12979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>
                <a:latin typeface="+mn-ea"/>
              </a:rPr>
              <a:t>小组成员：查琪乐、邱志斌、邱嘉堃、刘辉艺、吴思雨、闫皇冲、李伟鹏、褚茂誉</a:t>
            </a:r>
            <a:endParaRPr lang="zh-CN" altLang="en-US" b="1">
              <a:latin typeface="+mn-ea"/>
            </a:endParaRPr>
          </a:p>
        </p:txBody>
      </p: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6" name="powerpoint template design by DAJU_PPT正版来源小红书大橘PPT微信DAJU_PPT请勿抄袭搬运！盗版必究！"/>
          <p:cNvGrpSpPr/>
          <p:nvPr/>
        </p:nvGrpSpPr>
        <p:grpSpPr>
          <a:xfrm>
            <a:off x="2656946" y="5016372"/>
            <a:ext cx="6878109" cy="160811"/>
            <a:chOff x="2656946" y="4546640"/>
            <a:chExt cx="6878109" cy="160811"/>
          </a:xfrm>
        </p:grpSpPr>
        <p:cxnSp>
          <p:nvCxnSpPr>
            <p:cNvPr id="12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4" name="powerpoint template design by DAJU_PPT正版来源小红书大橘PPT微信DAJU_PPT请勿抄袭搬运！盗版必究！-2"/>
                <p:cNvSpPr/>
                <p:nvPr>
                  <p:custDataLst>
                    <p:tags r:id="rId1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powerpoint template design by DAJU_PPT正版来源小红书大橘PPT微信DAJU_PPT请勿抄袭搬运！盗版必究！-3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powerpoint template design by DAJU_PPT正版来源小红书大橘PPT微信DAJU_PPT请勿抄袭搬运！盗版必究！-4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689877"/>
            <a:ext cx="1499612" cy="1499612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6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7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6" name="powerpoint template design by DAJU_PPT正版来源小红书大橘PPT微信DAJU_PPT请勿抄袭搬运！盗版必究！" hidden="1"/>
          <p:cNvSpPr/>
          <p:nvPr userDrawn="1"/>
        </p:nvSpPr>
        <p:spPr>
          <a:xfrm>
            <a:off x="-188" y="4585664"/>
            <a:ext cx="12192188" cy="1053851"/>
          </a:xfrm>
          <a:custGeom>
            <a:avLst/>
            <a:gdLst>
              <a:gd name="connsiteX0" fmla="*/ 0 w 12191999"/>
              <a:gd name="connsiteY0" fmla="*/ 0 h 1053835"/>
              <a:gd name="connsiteX1" fmla="*/ 84912 w 12191999"/>
              <a:gd name="connsiteY1" fmla="*/ 44439 h 1053835"/>
              <a:gd name="connsiteX2" fmla="*/ 6096001 w 12191999"/>
              <a:gd name="connsiteY2" fmla="*/ 918960 h 1053835"/>
              <a:gd name="connsiteX3" fmla="*/ 12107089 w 12191999"/>
              <a:gd name="connsiteY3" fmla="*/ 44439 h 1053835"/>
              <a:gd name="connsiteX4" fmla="*/ 12191999 w 12191999"/>
              <a:gd name="connsiteY4" fmla="*/ 1 h 1053835"/>
              <a:gd name="connsiteX5" fmla="*/ 12191999 w 12191999"/>
              <a:gd name="connsiteY5" fmla="*/ 1053835 h 1053835"/>
              <a:gd name="connsiteX6" fmla="*/ 0 w 12191999"/>
              <a:gd name="connsiteY6" fmla="*/ 1053835 h 10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1053835">
                <a:moveTo>
                  <a:pt x="0" y="0"/>
                </a:moveTo>
                <a:lnTo>
                  <a:pt x="84912" y="44439"/>
                </a:lnTo>
                <a:cubicBezTo>
                  <a:pt x="1182612" y="562756"/>
                  <a:pt x="3462028" y="918960"/>
                  <a:pt x="6096001" y="918960"/>
                </a:cubicBezTo>
                <a:cubicBezTo>
                  <a:pt x="8729972" y="918960"/>
                  <a:pt x="11009388" y="562756"/>
                  <a:pt x="12107089" y="44439"/>
                </a:cubicBezTo>
                <a:lnTo>
                  <a:pt x="12191999" y="1"/>
                </a:lnTo>
                <a:lnTo>
                  <a:pt x="12191999" y="1053835"/>
                </a:lnTo>
                <a:lnTo>
                  <a:pt x="0" y="1053835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2.0 45 Light"/>
              <a:ea typeface="阿里巴巴普惠体 2.0 45 Light"/>
              <a:cs typeface="+mn-cs"/>
            </a:endParaRPr>
          </a:p>
        </p:txBody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171825" y="3553460"/>
            <a:ext cx="5956300" cy="553720"/>
          </a:xfrm>
          <a:prstGeom prst="rect">
            <a:avLst/>
          </a:prstGeom>
        </p:spPr>
        <p:txBody>
          <a:bodyPr wrap="square"/>
          <a:lstStyle/>
          <a:p>
            <a:r>
              <a:rPr sz="4000" dirty="0">
                <a:latin typeface="+mn-lt"/>
                <a:ea typeface="+mn-ea"/>
                <a:cs typeface="+mn-ea"/>
                <a:sym typeface="+mn-lt"/>
              </a:rPr>
              <a:t>上周小组工作</a:t>
            </a:r>
            <a:endParaRPr sz="4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01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grpSp>
        <p:nvGrpSpPr>
          <p:cNvPr id="3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3" name="组合 2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4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3" name="组合 1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1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14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32125" y="43764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 dirty="0">
                <a:latin typeface="+mn-ea"/>
                <a:sym typeface="+mn-ea"/>
              </a:rPr>
              <a:t>汇报</a:t>
            </a:r>
            <a:r>
              <a:rPr lang="zh-CN" altLang="en-US" b="1">
                <a:latin typeface="+mn-ea"/>
                <a:sym typeface="+mn-ea"/>
              </a:rPr>
              <a:t>人：吴思雨</a:t>
            </a:r>
            <a:endParaRPr lang="zh-CN" altLang="en-US" b="1">
              <a:latin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lt"/>
              </a:rPr>
              <a:t>阶段成果</a:t>
            </a:r>
            <a:r>
              <a:rPr>
                <a:sym typeface="+mn-lt"/>
              </a:rPr>
              <a:t>总览</a:t>
            </a:r>
            <a:endParaRPr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28650" y="1409700"/>
            <a:ext cx="990600" cy="381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81050" y="1762125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4FF"/>
          </a:solidFill>
          <a:ln w="9525">
            <a:solidFill>
              <a:srgbClr val="C9D8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95350" y="19526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2475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sz="2475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项</a:t>
            </a:r>
            <a:endParaRPr sz="2475" b="1">
              <a:solidFill>
                <a:srgbClr val="1E5B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95350" y="24098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</a:t>
            </a: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周文档记录 Issue 完成</a:t>
            </a:r>
            <a:endParaRPr sz="1050" b="0">
              <a:solidFill>
                <a:srgbClr val="5D6B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028950" y="1762125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8F1"/>
          </a:solidFill>
          <a:ln w="9525">
            <a:solidFill>
              <a:srgbClr val="C9D8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143250" y="19526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2475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sz="2475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个</a:t>
            </a:r>
            <a:endParaRPr sz="2475" b="1">
              <a:solidFill>
                <a:srgbClr val="18A5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143250" y="24098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 已合并</a:t>
            </a:r>
            <a:endParaRPr sz="1050" b="0">
              <a:solidFill>
                <a:srgbClr val="5D6B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276850" y="1762125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FFF4DE"/>
          </a:solidFill>
          <a:ln w="9525">
            <a:solidFill>
              <a:srgbClr val="C9D8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391150" y="19526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75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 个</a:t>
            </a:r>
            <a:endParaRPr sz="2475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391150" y="24098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5D6B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变更文件</a:t>
            </a:r>
            <a:endParaRPr sz="1050" b="0">
              <a:solidFill>
                <a:srgbClr val="5D6B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33450" y="3524250"/>
            <a:ext cx="4762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矩形 25"/>
          <p:cNvSpPr>
            <a:spLocks noGrp="1"/>
          </p:cNvSpPr>
          <p:nvPr/>
        </p:nvSpPr>
        <p:spPr>
          <a:xfrm>
            <a:off x="933450" y="3524250"/>
            <a:ext cx="57150" cy="1600200"/>
          </a:xfrm>
          <a:prstGeom prst="rect">
            <a:avLst/>
          </a:prstGeom>
          <a:solidFill>
            <a:srgbClr val="1E5B9A"/>
          </a:solidFill>
          <a:ln w="0">
            <a:solidFill>
              <a:srgbClr val="1E5B9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23950" y="36957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E5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</a:t>
            </a:r>
            <a:endParaRPr sz="1500" b="1">
              <a:solidFill>
                <a:srgbClr val="1E5B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23950" y="4076700"/>
            <a:ext cx="4381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#140 导出穿透式 </a:t>
            </a:r>
            <a:r>
              <a:rPr lang="en-US" altLang="zh-CN"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Excel </a:t>
            </a:r>
            <a:r>
              <a:rPr lang="zh-CN" altLang="en-US"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台账报错、#138 目标达成度中小数点导出优化、#132 刷新后用户信息显示不全、#121 用户管理界面优化、#128 导入按钮文字未显示、#125 教师用户无法删除且禁用后无法启用、#124 新建学院后无法删除、#106 </a:t>
            </a:r>
            <a:r>
              <a:rPr lang="zh-CN" altLang="en-US"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增加教学班级批量导入功能</a:t>
            </a:r>
            <a:r>
              <a:rPr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1165" b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496050" y="3524250"/>
            <a:ext cx="4762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矩形 29"/>
          <p:cNvSpPr>
            <a:spLocks noGrp="1"/>
          </p:cNvSpPr>
          <p:nvPr/>
        </p:nvSpPr>
        <p:spPr>
          <a:xfrm>
            <a:off x="6496050" y="3524250"/>
            <a:ext cx="57150" cy="1600200"/>
          </a:xfrm>
          <a:prstGeom prst="rect">
            <a:avLst/>
          </a:prstGeom>
          <a:solidFill>
            <a:srgbClr val="18A558"/>
          </a:solidFill>
          <a:ln w="0">
            <a:solidFill>
              <a:srgbClr val="18A55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86550" y="36957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18A5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小组补充</a:t>
            </a:r>
            <a:endParaRPr sz="1500" b="1">
              <a:solidFill>
                <a:srgbClr val="18A5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686550" y="4076700"/>
            <a:ext cx="4381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本周重点完成导出格式、用户状态、权限管理、页面显示</a:t>
            </a:r>
            <a:r>
              <a:rPr lang="zh-CN" altLang="en-US" sz="1165" b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以及导入功能优化，进一步提升系统稳定性与页面使用体验。</a:t>
            </a:r>
            <a:endParaRPr lang="zh-CN" altLang="en-US" sz="1165" b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ea"/>
              </a:rPr>
              <a:t>用户管理界面优化</a:t>
            </a:r>
            <a:endParaRPr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8593" y="1252815"/>
            <a:ext cx="1132775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buClrTx/>
              <a:buSzTx/>
              <a:buNone/>
            </a:pPr>
            <a:r>
              <a:rPr lang="zh-CN" altLang="en-US" sz="1800">
                <a:highlight>
                  <a:srgbClr val="C0C0C0"/>
                </a:highlight>
              </a:rPr>
              <a:t>Issue:</a:t>
            </a:r>
            <a:r>
              <a:rPr lang="zh-CN" altLang="en-US" sz="1800"/>
              <a:t> 管理员-用户管理-创建时间一栏宽度加宽。且创建时间只显示日期，不要显示时间。</a:t>
            </a:r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1980"/>
            <a:ext cx="12192000" cy="35591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386195" y="3001645"/>
            <a:ext cx="1007745" cy="2145665"/>
          </a:xfrm>
          <a:prstGeom prst="rect">
            <a:avLst/>
          </a:prstGeom>
          <a:ln w="1270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ea"/>
              </a:rPr>
              <a:t>用户管理界面优化</a:t>
            </a:r>
            <a:endParaRPr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9443" y="926425"/>
            <a:ext cx="11327757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highlight>
                  <a:srgbClr val="C0C0C0"/>
                </a:highlight>
              </a:rPr>
              <a:t>问题分析</a:t>
            </a:r>
            <a:r>
              <a:rPr lang="zh-CN" altLang="en-US" sz="1800"/>
              <a:t>：原表格列宽设置不够合理：</a:t>
            </a:r>
            <a:endParaRPr lang="zh-CN" altLang="en-US" sz="1800"/>
          </a:p>
          <a:p>
            <a:r>
              <a:rPr lang="zh-CN" altLang="en-US" sz="1800"/>
              <a:t>ID列宽度为80px，略显宽敞</a:t>
            </a:r>
            <a:endParaRPr lang="zh-CN" altLang="en-US" sz="1800"/>
          </a:p>
          <a:p>
            <a:r>
              <a:rPr lang="zh-CN" altLang="en-US" sz="1800"/>
              <a:t>姓名列宽度为220px，过于宽敞</a:t>
            </a:r>
            <a:endParaRPr lang="zh-CN" altLang="en-US" sz="1800"/>
          </a:p>
          <a:p>
            <a:r>
              <a:rPr lang="zh-CN" altLang="en-US" sz="1800"/>
              <a:t>创建时间显示完整日期时间格式（如 T22:25:35），占用空间较多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>
                <a:highlight>
                  <a:srgbClr val="C0C0C0"/>
                </a:highlight>
              </a:rPr>
              <a:t>解决方案</a:t>
            </a:r>
            <a:r>
              <a:rPr lang="zh-CN" altLang="en-US" sz="1800"/>
              <a:t>：</a:t>
            </a:r>
            <a:endParaRPr lang="zh-CN" altLang="en-US" sz="1800"/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706710" y="2859287"/>
          <a:ext cx="8020685" cy="2319020"/>
        </p:xfrm>
        <a:graphic>
          <a:graphicData uri="http://schemas.openxmlformats.org/drawingml/2006/table">
            <a:tbl>
              <a:tblPr/>
              <a:tblGrid>
                <a:gridCol w="1757680"/>
                <a:gridCol w="2021840"/>
                <a:gridCol w="2021840"/>
                <a:gridCol w="2219325"/>
              </a:tblGrid>
              <a:tr h="66548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列名</a:t>
                      </a:r>
                      <a:endParaRPr lang="zh-CN" sz="2000" b="1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原宽度</a:t>
                      </a:r>
                      <a:endParaRPr lang="zh-CN" sz="2000" b="1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新宽度</a:t>
                      </a:r>
                      <a:endParaRPr lang="zh-CN" sz="2000" b="1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说明</a:t>
                      </a:r>
                      <a:endParaRPr lang="zh-CN" sz="2000" b="1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802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8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80px</a:t>
                      </a:r>
                      <a:endParaRPr lang="en-US" altLang="zh-CN" sz="18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70px</a:t>
                      </a:r>
                      <a:endParaRPr lang="en-US" altLang="zh-CN" sz="18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缩小</a:t>
                      </a:r>
                      <a:r>
                        <a:rPr lang="en-US" alt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10px</a:t>
                      </a:r>
                      <a:endParaRPr lang="en-US" altLang="zh-CN" sz="18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姓名</a:t>
                      </a:r>
                      <a:endParaRPr lang="zh-CN" sz="18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220px</a:t>
                      </a:r>
                      <a:endParaRPr lang="en-US" altLang="zh-CN" sz="18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160px</a:t>
                      </a:r>
                      <a:endParaRPr lang="en-US" altLang="zh-CN" sz="18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缩小</a:t>
                      </a:r>
                      <a:r>
                        <a:rPr lang="en-US" altLang="zh-CN" sz="18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60px</a:t>
                      </a:r>
                      <a:endParaRPr lang="en-US" altLang="zh-CN" sz="18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lt"/>
              </a:rPr>
              <a:t>用户信息持久化</a:t>
            </a:r>
            <a:r>
              <a:rPr lang="en-US" altLang="zh-CN">
                <a:sym typeface="+mn-lt"/>
              </a:rPr>
              <a:t>Bug</a:t>
            </a:r>
            <a:r>
              <a:rPr lang="zh-CN" altLang="en-US">
                <a:sym typeface="+mn-lt"/>
              </a:rPr>
              <a:t>修复</a:t>
            </a:r>
            <a:endParaRPr lang="zh-CN" altLang="en-US"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9443" y="970875"/>
            <a:ext cx="11327757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：页面刷新后，右上角显示的用户姓名、角色等信息丢失，显示为空白或部分缺失。需要重新登录才能恢复正常显示。</a:t>
            </a:r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zh-CN" altLang="en-US" sz="1800">
                <a:highlight>
                  <a:srgbClr val="C0C0C0"/>
                </a:highlight>
              </a:rPr>
              <a:t>问题分析</a:t>
            </a:r>
            <a:r>
              <a:rPr lang="zh-CN" altLang="en-US" sz="1800"/>
              <a:t>：</a:t>
            </a:r>
            <a:r>
              <a:rPr lang="en-US" altLang="zh-CN" sz="1800"/>
              <a:t>userStore </a:t>
            </a:r>
            <a:r>
              <a:rPr lang="zh-CN" altLang="en-US" sz="1800"/>
              <a:t>中的用户信息（</a:t>
            </a:r>
            <a:r>
              <a:rPr lang="en-US" altLang="zh-CN" sz="1800"/>
              <a:t>username、realName、roleCode、roleName）</a:t>
            </a:r>
            <a:r>
              <a:rPr lang="zh-CN" altLang="en-US" sz="1800"/>
              <a:t>仅存储在内存中（</a:t>
            </a:r>
            <a:r>
              <a:rPr lang="en-US" altLang="zh-CN" sz="1800"/>
              <a:t>ref），</a:t>
            </a:r>
            <a:r>
              <a:rPr lang="zh-CN" altLang="en-US" sz="1800"/>
              <a:t>没有持久化到 </a:t>
            </a:r>
            <a:r>
              <a:rPr lang="en-US" altLang="zh-CN" sz="1800"/>
              <a:t>localStorage。</a:t>
            </a:r>
            <a:r>
              <a:rPr lang="zh-CN" altLang="en-US" sz="1800"/>
              <a:t>页面刷新时，这些值被重置为空字符串。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>
                <a:highlight>
                  <a:srgbClr val="C0C0C0"/>
                </a:highlight>
              </a:rPr>
              <a:t>解决方案</a:t>
            </a:r>
            <a:r>
              <a:rPr lang="zh-CN" altLang="en-US" sz="1800"/>
              <a:t>：</a:t>
            </a:r>
            <a:endParaRPr lang="zh-CN" altLang="en-US" sz="1800"/>
          </a:p>
          <a:p>
            <a:r>
              <a:rPr lang="zh-CN" altLang="en-US" sz="1800"/>
              <a:t>1.</a:t>
            </a:r>
            <a:r>
              <a:rPr lang="en-US" altLang="zh-CN" sz="1800"/>
              <a:t> </a:t>
            </a:r>
            <a:r>
              <a:rPr lang="zh-CN" altLang="en-US" sz="1800"/>
              <a:t>初始化时从 </a:t>
            </a:r>
            <a:r>
              <a:rPr lang="en-US" altLang="zh-CN" sz="1800"/>
              <a:t>localStorage </a:t>
            </a:r>
            <a:r>
              <a:rPr lang="zh-CN" altLang="en-US" sz="1800"/>
              <a:t>读取用户信息</a:t>
            </a:r>
            <a:endParaRPr lang="zh-CN" altLang="en-US" sz="1800"/>
          </a:p>
          <a:p>
            <a:r>
              <a:rPr lang="zh-CN" altLang="en-US" sz="1800"/>
              <a:t>2.</a:t>
            </a:r>
            <a:r>
              <a:rPr lang="en-US" altLang="zh-CN" sz="1800"/>
              <a:t> </a:t>
            </a:r>
            <a:r>
              <a:rPr lang="zh-CN" altLang="en-US" sz="1800"/>
              <a:t>登录时将所有用户信息保存到 </a:t>
            </a:r>
            <a:r>
              <a:rPr lang="en-US" altLang="zh-CN" sz="1800"/>
              <a:t>localStorage</a:t>
            </a:r>
            <a:endParaRPr lang="en-US" altLang="zh-CN" sz="1800"/>
          </a:p>
          <a:p>
            <a:r>
              <a:rPr lang="zh-CN" altLang="en-US" sz="1800"/>
              <a:t>3.</a:t>
            </a:r>
            <a:r>
              <a:rPr lang="en-US" altLang="zh-CN" sz="1800"/>
              <a:t> </a:t>
            </a:r>
            <a:r>
              <a:rPr lang="zh-CN" altLang="en-US" sz="1800"/>
              <a:t>退出时清除所有 </a:t>
            </a:r>
            <a:r>
              <a:rPr lang="en-US" altLang="zh-CN" sz="1800"/>
              <a:t>localStorage </a:t>
            </a:r>
            <a:r>
              <a:rPr lang="zh-CN" altLang="en-US" sz="1800"/>
              <a:t>中的用户信息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>
                <a:highlight>
                  <a:srgbClr val="C0C0C0"/>
                </a:highlight>
              </a:rPr>
              <a:t>本次修复涉及的核心技术点</a:t>
            </a:r>
            <a:r>
              <a:rPr lang="zh-CN" altLang="en-US" sz="1800"/>
              <a:t>：</a:t>
            </a:r>
            <a:endParaRPr lang="zh-CN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/>
              <a:t>Pinia Store </a:t>
            </a:r>
            <a:r>
              <a:rPr lang="zh-CN" altLang="en-US" sz="1800"/>
              <a:t>状态管理: 理解 </a:t>
            </a:r>
            <a:r>
              <a:rPr lang="en-US" altLang="zh-CN" sz="1800"/>
              <a:t>ref </a:t>
            </a:r>
            <a:r>
              <a:rPr lang="zh-CN" altLang="en-US" sz="1800"/>
              <a:t>响应式变量仅在内存中持久</a:t>
            </a:r>
            <a:endParaRPr lang="zh-CN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/>
              <a:t>localStorage </a:t>
            </a:r>
            <a:r>
              <a:rPr lang="zh-CN" altLang="en-US" sz="1800"/>
              <a:t>持久化: 关键用户数据需要同步到 </a:t>
            </a:r>
            <a:r>
              <a:rPr lang="en-US" altLang="zh-CN" sz="1800"/>
              <a:t>localStorage</a:t>
            </a:r>
            <a:endParaRPr lang="en-US" altLang="zh-CN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/>
              <a:t>Vue </a:t>
            </a:r>
            <a:r>
              <a:rPr lang="zh-CN" altLang="en-US" sz="1800"/>
              <a:t>组件生命周期: 页面刷新会重新初始化所有响应式状态</a:t>
            </a:r>
            <a:endParaRPr lang="zh-CN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800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0000"/>
                </a:solidFill>
              </a:rPr>
              <a:t>⚠️经验教训</a:t>
            </a:r>
            <a:r>
              <a:rPr lang="zh-CN" altLang="en-US" sz="1800"/>
              <a:t>: 用户认证相关的核心数据（如 </a:t>
            </a:r>
            <a:r>
              <a:rPr lang="en-US" altLang="zh-CN" sz="1800"/>
              <a:t>token、userId、</a:t>
            </a:r>
            <a:r>
              <a:rPr lang="zh-CN" altLang="en-US" sz="1800"/>
              <a:t>用户信息）应当完整持久化，避免页面刷新导致状态丢失。</a:t>
            </a:r>
            <a:endParaRPr lang="zh-CN" altLang="en-US" sz="18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1536700"/>
            <a:ext cx="2223135" cy="6699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lt"/>
              </a:rPr>
              <a:t>优化目标达成度小数点导出问题</a:t>
            </a:r>
            <a:endParaRPr lang="zh-CN" altLang="en-US"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9443" y="970875"/>
            <a:ext cx="11327757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：课程级计算导出的 </a:t>
            </a:r>
            <a:r>
              <a:rPr lang="en-US" altLang="zh-CN" sz="1800"/>
              <a:t>Excel </a:t>
            </a:r>
            <a:r>
              <a:rPr lang="zh-CN" altLang="en-US" sz="1800"/>
              <a:t>报告中，“达成度”列未严格保留小数点后四位；</a:t>
            </a:r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zh-CN" altLang="en-US" sz="1800">
                <a:highlight>
                  <a:srgbClr val="C0C0C0"/>
                </a:highlight>
              </a:rPr>
              <a:t>问题分析</a:t>
            </a:r>
            <a:r>
              <a:rPr lang="zh-CN" altLang="en-US" sz="1800"/>
              <a:t>：课程级计算导出的 </a:t>
            </a:r>
            <a:r>
              <a:rPr lang="en-US" altLang="zh-CN" sz="1800"/>
              <a:t>Excel </a:t>
            </a:r>
            <a:r>
              <a:rPr lang="zh-CN" altLang="en-US" sz="1800"/>
              <a:t>报告中，原始数据虽然可能已经具备四位小数精度，但 </a:t>
            </a:r>
            <a:r>
              <a:rPr lang="en-US" altLang="zh-CN" sz="1800"/>
              <a:t>Excel </a:t>
            </a:r>
            <a:r>
              <a:rPr lang="zh-CN" altLang="en-US" sz="1800"/>
              <a:t>单元格未设置固定小数格式，因此会自动省略末尾的 0。</a:t>
            </a:r>
            <a:endParaRPr lang="zh-CN" altLang="en-US" sz="1800"/>
          </a:p>
          <a:p>
            <a:r>
              <a:rPr lang="zh-CN" altLang="en-US" sz="1800"/>
              <a:t>根本原因是后端在生成 </a:t>
            </a:r>
            <a:r>
              <a:rPr lang="en-US" altLang="zh-CN" sz="1800"/>
              <a:t>Excel </a:t>
            </a:r>
            <a:r>
              <a:rPr lang="zh-CN" altLang="en-US" sz="1800"/>
              <a:t>时，直接将 </a:t>
            </a:r>
            <a:r>
              <a:rPr lang="en-US" altLang="zh-CN" sz="1800"/>
              <a:t>BigDecimal </a:t>
            </a:r>
            <a:r>
              <a:rPr lang="zh-CN" altLang="en-US" sz="1800"/>
              <a:t>或 </a:t>
            </a:r>
            <a:r>
              <a:rPr lang="en-US" altLang="zh-CN" sz="1800"/>
              <a:t>Number </a:t>
            </a:r>
            <a:r>
              <a:rPr lang="zh-CN" altLang="en-US" sz="1800"/>
              <a:t>写入单元格，并统一使用普通数据样式，没有对“达成度”列设置 0.0000 的数字格式。</a:t>
            </a:r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820" y="1566545"/>
            <a:ext cx="4596765" cy="2073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lt"/>
              </a:rPr>
              <a:t>优化目标达成度小数点导出问题</a:t>
            </a:r>
            <a:endParaRPr lang="zh-CN" altLang="en-US"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9443" y="970875"/>
            <a:ext cx="11327757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highlight>
                  <a:srgbClr val="C0C0C0"/>
                </a:highlight>
              </a:rPr>
              <a:t>解决方案</a:t>
            </a:r>
            <a:r>
              <a:rPr lang="zh-CN" altLang="en-US" sz="1800"/>
              <a:t>：在 </a:t>
            </a:r>
            <a:r>
              <a:rPr lang="en-US" altLang="zh-CN" sz="1800"/>
              <a:t>CourseExcelExporter.java </a:t>
            </a:r>
            <a:r>
              <a:rPr lang="zh-CN" altLang="en-US" sz="1800"/>
              <a:t>中新增四位小数样式，并仅对表头为“达成度”的列应用该样式。</a:t>
            </a:r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zh-CN" altLang="en-US" sz="1800">
                <a:highlight>
                  <a:srgbClr val="C0C0C0"/>
                </a:highlight>
              </a:rPr>
              <a:t>优化效果</a:t>
            </a:r>
            <a:r>
              <a:rPr lang="zh-CN" altLang="en-US" sz="1800"/>
              <a:t>：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15" y="1365250"/>
            <a:ext cx="7273925" cy="36404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270" y="5121275"/>
            <a:ext cx="3781425" cy="13906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lt"/>
              </a:rPr>
              <a:t>优化目标达成度小数点导出问题</a:t>
            </a:r>
            <a:endParaRPr lang="zh-CN" altLang="en-US"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9443" y="970875"/>
            <a:ext cx="11327757" cy="507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：课程级计算导出的 </a:t>
            </a:r>
            <a:r>
              <a:rPr lang="en-US" altLang="zh-CN" sz="1800"/>
              <a:t>PDF </a:t>
            </a:r>
            <a:r>
              <a:rPr lang="zh-CN" altLang="en-US" sz="1800"/>
              <a:t>报告中，目标达成度会自动省略末尾 0；</a:t>
            </a:r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zh-CN" altLang="en-US" sz="1800">
                <a:highlight>
                  <a:srgbClr val="C0C0C0"/>
                </a:highlight>
              </a:rPr>
              <a:t>问题分析</a:t>
            </a:r>
            <a:r>
              <a:rPr lang="zh-CN" altLang="en-US" sz="1800"/>
              <a:t>：</a:t>
            </a:r>
            <a:r>
              <a:rPr lang="en-US" altLang="zh-CN" sz="1800"/>
              <a:t>PDF </a:t>
            </a:r>
            <a:r>
              <a:rPr lang="zh-CN" altLang="en-US" sz="1800"/>
              <a:t>报告中目标达成度原先调用统一的 </a:t>
            </a:r>
            <a:r>
              <a:rPr lang="en-US" altLang="zh-CN" sz="1800"/>
              <a:t>format </a:t>
            </a:r>
            <a:r>
              <a:rPr lang="zh-CN" altLang="en-US" sz="1800"/>
              <a:t>方法，该方法使用了：</a:t>
            </a:r>
            <a:endParaRPr lang="zh-CN" altLang="en-US" sz="1800"/>
          </a:p>
          <a:p>
            <a:r>
              <a:rPr lang="en-US" altLang="zh-CN" sz="1800"/>
              <a:t>value.stripTrailingZeros().toPlainString()</a:t>
            </a:r>
            <a:r>
              <a:rPr lang="zh-CN" altLang="en-US" sz="1800"/>
              <a:t>，该写法会主动去除末尾的 0。后来如果直接将统一的 </a:t>
            </a:r>
            <a:r>
              <a:rPr lang="en-US" altLang="zh-CN" sz="1800"/>
              <a:t>format </a:t>
            </a:r>
            <a:r>
              <a:rPr lang="zh-CN" altLang="en-US" sz="1800"/>
              <a:t>方法改为四位小数，又会导致“满分”“平均分”等分数字段也变为四位小数，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例如：满分: 100.0000</a:t>
            </a:r>
            <a:endParaRPr lang="zh-CN" altLang="en-US" sz="1800"/>
          </a:p>
          <a:p>
            <a:pPr indent="457200"/>
            <a:r>
              <a:rPr lang="en-US" altLang="zh-CN" sz="1800"/>
              <a:t>   </a:t>
            </a:r>
            <a:r>
              <a:rPr lang="zh-CN" altLang="en-US" sz="1800"/>
              <a:t>平均分: 84.0000</a:t>
            </a:r>
            <a:endParaRPr lang="zh-CN" altLang="en-US" sz="1800"/>
          </a:p>
          <a:p>
            <a:r>
              <a:rPr lang="zh-CN" altLang="en-US" sz="1800"/>
              <a:t>这不符合 </a:t>
            </a:r>
            <a:r>
              <a:rPr lang="en-US" altLang="zh-CN" sz="1800"/>
              <a:t>PDF </a:t>
            </a:r>
            <a:r>
              <a:rPr lang="zh-CN" altLang="en-US" sz="1800"/>
              <a:t>报告的正常阅读习惯。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1368425"/>
            <a:ext cx="8082280" cy="23812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lt"/>
              </a:rPr>
              <a:t>优化目标达成度小数点导出问题</a:t>
            </a:r>
            <a:endParaRPr lang="zh-CN" altLang="en-US"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9443" y="970875"/>
            <a:ext cx="11327757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highlight>
                  <a:srgbClr val="C0C0C0"/>
                </a:highlight>
              </a:rPr>
              <a:t>解决方案</a:t>
            </a:r>
            <a:r>
              <a:rPr lang="zh-CN" altLang="en-US" sz="1800"/>
              <a:t>：在 </a:t>
            </a:r>
            <a:r>
              <a:rPr lang="en-US" altLang="zh-CN" sz="1800"/>
              <a:t>PdfExporter.java </a:t>
            </a:r>
            <a:r>
              <a:rPr lang="zh-CN" altLang="en-US" sz="1800"/>
              <a:t>中区分“达成度”和“分数”两类数据格式。</a:t>
            </a:r>
            <a:endParaRPr lang="zh-CN" altLang="en-US" sz="1800"/>
          </a:p>
          <a:p>
            <a:r>
              <a:rPr lang="zh-CN" altLang="en-US" sz="1800"/>
              <a:t>新增两个格式化方法：</a:t>
            </a:r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zh-CN" altLang="en-US" sz="1800"/>
              <a:t>其中：</a:t>
            </a:r>
            <a:endParaRPr lang="zh-CN" altLang="en-US" sz="1800"/>
          </a:p>
          <a:p>
            <a:r>
              <a:rPr lang="en-US" altLang="zh-CN" sz="1800"/>
              <a:t>• formatAchievement </a:t>
            </a:r>
            <a:r>
              <a:rPr lang="zh-CN" altLang="en-US" sz="1800"/>
              <a:t>专门用于课程目标达成度和课程级指标点达成度；</a:t>
            </a:r>
            <a:endParaRPr lang="zh-CN" altLang="en-US" sz="1800"/>
          </a:p>
          <a:p>
            <a:r>
              <a:rPr lang="en-US" altLang="zh-CN" sz="1800"/>
              <a:t>• formatScore </a:t>
            </a:r>
            <a:r>
              <a:rPr lang="zh-CN" altLang="en-US" sz="1800"/>
              <a:t>用于满分、平均分等分数字段。</a:t>
            </a:r>
            <a:endParaRPr lang="zh-CN" altLang="en-US" sz="1800"/>
          </a:p>
          <a:p>
            <a:r>
              <a:rPr lang="zh-CN" altLang="en-US" sz="1800">
                <a:highlight>
                  <a:srgbClr val="C0C0C0"/>
                </a:highlight>
              </a:rPr>
              <a:t>优化效果</a:t>
            </a:r>
            <a:r>
              <a:rPr lang="zh-CN" altLang="en-US" sz="1800"/>
              <a:t>：</a:t>
            </a:r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75" y="1601470"/>
            <a:ext cx="8185150" cy="2362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75" y="4907915"/>
            <a:ext cx="1640205" cy="18929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755" y="4907915"/>
            <a:ext cx="4619625" cy="174244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736850" y="4946650"/>
            <a:ext cx="520700" cy="171450"/>
          </a:xfrm>
          <a:prstGeom prst="rect">
            <a:avLst/>
          </a:prstGeom>
          <a:noFill/>
          <a:ln w="952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963285" y="5321300"/>
            <a:ext cx="1453515" cy="171450"/>
          </a:xfrm>
          <a:prstGeom prst="rect">
            <a:avLst/>
          </a:prstGeom>
          <a:noFill/>
          <a:ln w="952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lt"/>
              </a:rPr>
              <a:t>优化目标达成度小数点导出问题</a:t>
            </a:r>
            <a:endParaRPr lang="zh-CN" altLang="en-US"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9443" y="970875"/>
            <a:ext cx="11327757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：课程级计算页面中的平均达成度、最高达成度、最低达成度原先只显示三位小数；个人达成度页面中的平均达成度、综合达成度原先只显示三位小数。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>
                <a:highlight>
                  <a:srgbClr val="C0C0C0"/>
                </a:highlight>
              </a:rPr>
              <a:t>本次修改目标是</a:t>
            </a:r>
            <a:r>
              <a:rPr lang="zh-CN" altLang="en-US" sz="1800"/>
              <a:t>：所有达成度类数据统一保留小数点后四位，数量类和分数字段不强制保留四位小数，同时不改变原有计算逻辑</a:t>
            </a:r>
            <a:endParaRPr lang="zh-CN" altLang="en-US" sz="1800"/>
          </a:p>
          <a:p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7397"/>
          <a:stretch>
            <a:fillRect/>
          </a:stretch>
        </p:blipFill>
        <p:spPr>
          <a:xfrm>
            <a:off x="6079490" y="2929890"/>
            <a:ext cx="6112510" cy="36169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2745" r="2834"/>
          <a:stretch>
            <a:fillRect/>
          </a:stretch>
        </p:blipFill>
        <p:spPr>
          <a:xfrm>
            <a:off x="0" y="3086100"/>
            <a:ext cx="6115050" cy="33528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715500" y="4927600"/>
            <a:ext cx="324485" cy="1339850"/>
          </a:xfrm>
          <a:prstGeom prst="rect">
            <a:avLst/>
          </a:prstGeom>
          <a:noFill/>
          <a:ln w="952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722235" y="3994150"/>
            <a:ext cx="560070" cy="304800"/>
          </a:xfrm>
          <a:prstGeom prst="rect">
            <a:avLst/>
          </a:prstGeom>
          <a:noFill/>
          <a:ln w="952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lt"/>
              </a:rPr>
              <a:t>优化目标达成度小数点导出问题</a:t>
            </a:r>
            <a:endParaRPr lang="zh-CN" altLang="en-US"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9443" y="970875"/>
            <a:ext cx="11327757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highlight>
                  <a:srgbClr val="C0C0C0"/>
                </a:highlight>
              </a:rPr>
              <a:t>解决方案</a:t>
            </a:r>
            <a:r>
              <a:rPr lang="zh-CN" altLang="en-US" sz="1800"/>
              <a:t>：在 </a:t>
            </a:r>
            <a:r>
              <a:rPr lang="en-US" altLang="zh-CN" sz="1800"/>
              <a:t>CourseCompute.vue </a:t>
            </a:r>
            <a:r>
              <a:rPr lang="zh-CN" altLang="en-US" sz="1800"/>
              <a:t>中，将平均达成度、最高达成度、最低达成度统一改为调用四位小数格式化方法：</a:t>
            </a:r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zh-CN" altLang="en-US" sz="1800">
                <a:highlight>
                  <a:srgbClr val="C0C0C0"/>
                </a:highlight>
              </a:rPr>
              <a:t>优化效果</a:t>
            </a:r>
            <a:r>
              <a:rPr lang="zh-CN" altLang="en-US" sz="1800"/>
              <a:t>：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400175"/>
            <a:ext cx="4350385" cy="26104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10481" r="28829"/>
          <a:stretch>
            <a:fillRect/>
          </a:stretch>
        </p:blipFill>
        <p:spPr>
          <a:xfrm>
            <a:off x="368300" y="4097020"/>
            <a:ext cx="5441950" cy="27609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 l="24053" r="13334" b="40708"/>
          <a:stretch>
            <a:fillRect/>
          </a:stretch>
        </p:blipFill>
        <p:spPr>
          <a:xfrm>
            <a:off x="5892800" y="4010660"/>
            <a:ext cx="6196965" cy="28257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教学</a:t>
            </a:r>
            <a:r>
              <a:rPr lang="zh-CN" altLang="en-US">
                <a:sym typeface="+mn-lt"/>
              </a:rPr>
              <a:t>班级批量导入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9443" y="970875"/>
            <a:ext cx="11327757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：解决教务管理员只能逐个新增教学班级的问题，新增模板下载、批量导入、格式校验、错误提示和重复提交防护。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zh-CN" altLang="en-US" sz="1800">
                <a:highlight>
                  <a:srgbClr val="C0C0C0"/>
                </a:highlight>
              </a:rPr>
              <a:t>模板</a:t>
            </a:r>
            <a:r>
              <a:rPr lang="zh-CN" altLang="en-US" sz="1800"/>
              <a:t>：</a:t>
            </a:r>
            <a:endParaRPr lang="zh-CN" altLang="en-US" sz="1800"/>
          </a:p>
          <a:p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1601470"/>
            <a:ext cx="7391400" cy="306260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833360" y="2044700"/>
            <a:ext cx="951865" cy="2603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300" y="4868545"/>
            <a:ext cx="4374515" cy="16198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学院删除失败修复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9443" y="970875"/>
            <a:ext cx="11327757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：补齐学院删除链路，并在删除前校验学院是否存在、是否被专业、学生或用户引用，避免产生脏数据。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zh-CN" altLang="en-US" sz="1800"/>
              <a:t>在数据字典管理中“新建学院后无法删除”。要求先定位学院管理页面、前端 </a:t>
            </a:r>
            <a:r>
              <a:rPr lang="en-US" altLang="zh-CN" sz="1800"/>
              <a:t>API </a:t>
            </a:r>
            <a:r>
              <a:rPr lang="zh-CN" altLang="en-US" sz="1800"/>
              <a:t>和后端学院接口，补齐删除链路。删除前必须校验学院是否存在，以及是否被专业、学生或用户等数据引用。若存在关联数据，应阻止删除并返回明确提示。</a:t>
            </a:r>
            <a:endParaRPr lang="zh-CN" altLang="en-US" sz="1800"/>
          </a:p>
          <a:p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" y="1377950"/>
            <a:ext cx="11341100" cy="29413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416300" y="1384300"/>
            <a:ext cx="3327400" cy="4127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lt"/>
              </a:rPr>
              <a:t>教师用户启用与安全删除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9443" y="970875"/>
            <a:ext cx="11327757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：教师用户新增后无法删除，并且禁用后无法启用。需要考虑当前登录用户不能被删除/禁用，操作成功后列表要刷新，失败时要给出明确提示。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" y="2198370"/>
            <a:ext cx="9874250" cy="22606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457700" y="2203450"/>
            <a:ext cx="850900" cy="38100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05" y="5110480"/>
            <a:ext cx="9601200" cy="54483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9398000" y="5194300"/>
            <a:ext cx="463550" cy="355600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导入按钮文字不可见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9443" y="970875"/>
            <a:ext cx="11327757" cy="618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：修复课程目标、考核点、题目、成绩导入按钮文字与背景对比度不足的问题。加宽课程目标维度列，避免“测试1”“测试2”等短文本换行。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r>
              <a:rPr lang="zh-CN" altLang="en-US" sz="1800">
                <a:highlight>
                  <a:srgbClr val="C0C0C0"/>
                </a:highlight>
              </a:rPr>
              <a:t>优化效果</a:t>
            </a:r>
            <a:r>
              <a:rPr lang="zh-CN" altLang="en-US" sz="1800"/>
              <a:t>：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t="3557" b="11311"/>
          <a:stretch>
            <a:fillRect/>
          </a:stretch>
        </p:blipFill>
        <p:spPr>
          <a:xfrm>
            <a:off x="2448560" y="1619250"/>
            <a:ext cx="6925310" cy="2705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850" y="4544695"/>
            <a:ext cx="9220835" cy="22148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系统问题排查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59180" y="949960"/>
            <a:ext cx="10073640" cy="1275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在检查系统可完善点时，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需要优先关注登录后用户状态恢复这一类基础问题。该类问题虽然不一定直接影响某个单独页面的按钮，但会影响刷新页面、重新进入系统、角色菜单判断和用户信息展示，是后台管理系统中比较基础也比较重要的稳定性问题。</a:t>
            </a:r>
            <a:endParaRPr lang="zh-CN" altLang="en-US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2288540"/>
            <a:ext cx="9466580" cy="35147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当前用户信息接口修复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9443" y="970875"/>
            <a:ext cx="11327757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highlight>
                  <a:srgbClr val="C0C0C0"/>
                </a:highlight>
              </a:rPr>
              <a:t>issue</a:t>
            </a:r>
            <a:r>
              <a:rPr lang="zh-CN" altLang="en-US" sz="1800"/>
              <a:t>：系统原有 `/</a:t>
            </a:r>
            <a:r>
              <a:rPr lang="en-US" altLang="zh-CN" sz="1800"/>
              <a:t>api/auth/info` </a:t>
            </a:r>
            <a:r>
              <a:rPr lang="zh-CN" altLang="en-US" sz="1800"/>
              <a:t>接口在 </a:t>
            </a:r>
            <a:r>
              <a:rPr lang="en-US" altLang="zh-CN" sz="1800"/>
              <a:t>AuthController </a:t>
            </a:r>
            <a:r>
              <a:rPr lang="zh-CN" altLang="en-US" sz="1800"/>
              <a:t>中只调用 `</a:t>
            </a:r>
            <a:r>
              <a:rPr lang="en-US" altLang="zh-CN" sz="1800"/>
              <a:t>authService.getCurrentUserId()`，</a:t>
            </a:r>
            <a:r>
              <a:rPr lang="zh-CN" altLang="en-US" sz="1800"/>
              <a:t>最后返回 `</a:t>
            </a:r>
            <a:r>
              <a:rPr lang="en-US" altLang="zh-CN" sz="1800"/>
              <a:t>Result.ok(null)`。</a:t>
            </a:r>
            <a:r>
              <a:rPr lang="zh-CN" altLang="en-US" sz="1800"/>
              <a:t>这会导致前端虽然持有 </a:t>
            </a:r>
            <a:r>
              <a:rPr lang="en-US" altLang="zh-CN" sz="1800"/>
              <a:t>token，</a:t>
            </a:r>
            <a:r>
              <a:rPr lang="zh-CN" altLang="en-US" sz="1800"/>
              <a:t>但无法通过接口恢复当前登录用户的用户名、真实姓名、角色编码和角色名称。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>
                <a:highlight>
                  <a:srgbClr val="C0C0C0"/>
                </a:highlight>
              </a:rPr>
              <a:t>优化方法</a:t>
            </a:r>
            <a:r>
              <a:rPr lang="zh-CN" altLang="en-US" sz="1800"/>
              <a:t>：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20" y="2190750"/>
            <a:ext cx="6997065" cy="44519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>
                <a:sym typeface="+mn-lt"/>
              </a:rPr>
              <a:t>当前用户信息接口修复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9443" y="970875"/>
            <a:ext cx="11327757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highlight>
                  <a:srgbClr val="C0C0C0"/>
                </a:highlight>
              </a:rPr>
              <a:t>测试与验证</a:t>
            </a:r>
            <a:r>
              <a:rPr lang="zh-CN" altLang="en-US" sz="1800"/>
              <a:t>：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70" y="1674495"/>
            <a:ext cx="8646160" cy="3086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point template design by DAJU_PPT正版来源小红书大橘PPT微信DAJU_PPT请勿抄袭搬运！盗版必究！"/>
          <p:cNvGrpSpPr/>
          <p:nvPr/>
        </p:nvGrpSpPr>
        <p:grpSpPr>
          <a:xfrm>
            <a:off x="-188" y="5152472"/>
            <a:ext cx="12192188" cy="1705528"/>
            <a:chOff x="-188" y="4064715"/>
            <a:chExt cx="12192188" cy="2382647"/>
          </a:xfrm>
        </p:grpSpPr>
        <p:sp>
          <p:nvSpPr>
            <p:cNvPr id="36" name="powerpoint template design by DAJU_PPT正版来源小红书大橘PPT微信DAJU_PPT请勿抄袭搬运！盗版必究！-1"/>
            <p:cNvSpPr/>
            <p:nvPr/>
          </p:nvSpPr>
          <p:spPr>
            <a:xfrm>
              <a:off x="-188" y="4064715"/>
              <a:ext cx="12192188" cy="1574800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37" name="powerpoint template design by DAJU_PPT正版来源小红书大橘PPT微信DAJU_PPT请勿抄袭搬运！盗版必究！-2"/>
            <p:cNvSpPr/>
            <p:nvPr userDrawn="1"/>
          </p:nvSpPr>
          <p:spPr>
            <a:xfrm>
              <a:off x="-188" y="4607593"/>
              <a:ext cx="12192188" cy="1839769"/>
            </a:xfrm>
            <a:custGeom>
              <a:avLst/>
              <a:gdLst>
                <a:gd name="connsiteX0" fmla="*/ 0 w 12192188"/>
                <a:gd name="connsiteY0" fmla="*/ 0 h 1839769"/>
                <a:gd name="connsiteX1" fmla="*/ 97614 w 12192188"/>
                <a:gd name="connsiteY1" fmla="*/ 51086 h 1839769"/>
                <a:gd name="connsiteX2" fmla="*/ 6108795 w 12192188"/>
                <a:gd name="connsiteY2" fmla="*/ 925621 h 1839769"/>
                <a:gd name="connsiteX3" fmla="*/ 12119977 w 12192188"/>
                <a:gd name="connsiteY3" fmla="*/ 51086 h 1839769"/>
                <a:gd name="connsiteX4" fmla="*/ 12192188 w 12192188"/>
                <a:gd name="connsiteY4" fmla="*/ 13293 h 1839769"/>
                <a:gd name="connsiteX5" fmla="*/ 12192188 w 12192188"/>
                <a:gd name="connsiteY5" fmla="*/ 1008771 h 1839769"/>
                <a:gd name="connsiteX6" fmla="*/ 12192188 w 12192188"/>
                <a:gd name="connsiteY6" fmla="*/ 1031922 h 1839769"/>
                <a:gd name="connsiteX7" fmla="*/ 12192188 w 12192188"/>
                <a:gd name="connsiteY7" fmla="*/ 1839769 h 1839769"/>
                <a:gd name="connsiteX8" fmla="*/ 0 w 12192188"/>
                <a:gd name="connsiteY8" fmla="*/ 1839769 h 1839769"/>
                <a:gd name="connsiteX9" fmla="*/ 0 w 12192188"/>
                <a:gd name="connsiteY9" fmla="*/ 1031922 h 1839769"/>
                <a:gd name="connsiteX10" fmla="*/ 0 w 12192188"/>
                <a:gd name="connsiteY10" fmla="*/ 1008771 h 183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188" h="1839769">
                  <a:moveTo>
                    <a:pt x="0" y="0"/>
                  </a:moveTo>
                  <a:lnTo>
                    <a:pt x="97614" y="51086"/>
                  </a:lnTo>
                  <a:cubicBezTo>
                    <a:pt x="1195331" y="569411"/>
                    <a:pt x="3474782" y="925621"/>
                    <a:pt x="6108795" y="925621"/>
                  </a:cubicBezTo>
                  <a:cubicBezTo>
                    <a:pt x="8742808" y="925621"/>
                    <a:pt x="11022259" y="569411"/>
                    <a:pt x="12119977" y="51086"/>
                  </a:cubicBezTo>
                  <a:lnTo>
                    <a:pt x="12192188" y="13293"/>
                  </a:lnTo>
                  <a:lnTo>
                    <a:pt x="12192188" y="1008771"/>
                  </a:lnTo>
                  <a:lnTo>
                    <a:pt x="12192188" y="1031922"/>
                  </a:lnTo>
                  <a:lnTo>
                    <a:pt x="12192188" y="1839769"/>
                  </a:lnTo>
                  <a:lnTo>
                    <a:pt x="0" y="1839769"/>
                  </a:lnTo>
                  <a:lnTo>
                    <a:pt x="0" y="1031922"/>
                  </a:lnTo>
                  <a:lnTo>
                    <a:pt x="0" y="100877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6" name="powerpoint template design by DAJU_PPT正版来源小红书大橘PPT微信DAJU_PPT请勿抄袭搬运！盗版必究！" hidden="1"/>
          <p:cNvSpPr/>
          <p:nvPr userDrawn="1"/>
        </p:nvSpPr>
        <p:spPr>
          <a:xfrm>
            <a:off x="-188" y="4585664"/>
            <a:ext cx="12192188" cy="1053851"/>
          </a:xfrm>
          <a:custGeom>
            <a:avLst/>
            <a:gdLst>
              <a:gd name="connsiteX0" fmla="*/ 0 w 12191999"/>
              <a:gd name="connsiteY0" fmla="*/ 0 h 1053835"/>
              <a:gd name="connsiteX1" fmla="*/ 84912 w 12191999"/>
              <a:gd name="connsiteY1" fmla="*/ 44439 h 1053835"/>
              <a:gd name="connsiteX2" fmla="*/ 6096001 w 12191999"/>
              <a:gd name="connsiteY2" fmla="*/ 918960 h 1053835"/>
              <a:gd name="connsiteX3" fmla="*/ 12107089 w 12191999"/>
              <a:gd name="connsiteY3" fmla="*/ 44439 h 1053835"/>
              <a:gd name="connsiteX4" fmla="*/ 12191999 w 12191999"/>
              <a:gd name="connsiteY4" fmla="*/ 1 h 1053835"/>
              <a:gd name="connsiteX5" fmla="*/ 12191999 w 12191999"/>
              <a:gd name="connsiteY5" fmla="*/ 1053835 h 1053835"/>
              <a:gd name="connsiteX6" fmla="*/ 0 w 12191999"/>
              <a:gd name="connsiteY6" fmla="*/ 1053835 h 10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1053835">
                <a:moveTo>
                  <a:pt x="0" y="0"/>
                </a:moveTo>
                <a:lnTo>
                  <a:pt x="84912" y="44439"/>
                </a:lnTo>
                <a:cubicBezTo>
                  <a:pt x="1182612" y="562756"/>
                  <a:pt x="3462028" y="918960"/>
                  <a:pt x="6096001" y="918960"/>
                </a:cubicBezTo>
                <a:cubicBezTo>
                  <a:pt x="8729972" y="918960"/>
                  <a:pt x="11009388" y="562756"/>
                  <a:pt x="12107089" y="44439"/>
                </a:cubicBezTo>
                <a:lnTo>
                  <a:pt x="12191999" y="1"/>
                </a:lnTo>
                <a:lnTo>
                  <a:pt x="12191999" y="1053835"/>
                </a:lnTo>
                <a:lnTo>
                  <a:pt x="0" y="1053835"/>
                </a:lnTo>
                <a:close/>
              </a:path>
            </a:pathLst>
          </a:custGeom>
          <a:solidFill>
            <a:srgbClr val="FFFFFF"/>
          </a:soli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2.0 45 Light"/>
              <a:ea typeface="阿里巴巴普惠体 2.0 45 Light"/>
              <a:cs typeface="+mn-cs"/>
            </a:endParaRPr>
          </a:p>
        </p:txBody>
      </p: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171825" y="3553460"/>
            <a:ext cx="5956300" cy="553720"/>
          </a:xfrm>
          <a:prstGeom prst="rect">
            <a:avLst/>
          </a:prstGeom>
        </p:spPr>
        <p:txBody>
          <a:bodyPr wrap="square"/>
          <a:lstStyle/>
          <a:p>
            <a:r>
              <a:rPr sz="4000" dirty="0">
                <a:latin typeface="+mn-lt"/>
                <a:ea typeface="+mn-ea"/>
                <a:cs typeface="+mn-ea"/>
                <a:sym typeface="+mn-lt"/>
              </a:rPr>
              <a:t>系统</a:t>
            </a:r>
            <a:r>
              <a:rPr sz="4000" dirty="0">
                <a:latin typeface="+mn-lt"/>
                <a:ea typeface="+mn-ea"/>
                <a:cs typeface="+mn-ea"/>
                <a:sym typeface="+mn-lt"/>
              </a:rPr>
              <a:t>演示</a:t>
            </a:r>
            <a:endParaRPr sz="4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72455" y="2117179"/>
            <a:ext cx="847090" cy="830580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02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</a:t>
            </a:r>
            <a:r>
              <a:rPr lang="en-US" altLang="zh-CN" dirty="0"/>
              <a:t>TWO</a:t>
            </a:r>
            <a:endParaRPr lang="en-US" altLang="zh-CN" dirty="0"/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grpSp>
        <p:nvGrpSpPr>
          <p:cNvPr id="30" name="powerpoint template design by DAJU_PPT正版来源小红书大橘PPT微信DAJU_PPT请勿抄袭搬运！盗版必究！"/>
          <p:cNvGrpSpPr/>
          <p:nvPr/>
        </p:nvGrpSpPr>
        <p:grpSpPr>
          <a:xfrm>
            <a:off x="4244329" y="3001075"/>
            <a:ext cx="3703343" cy="260364"/>
            <a:chOff x="3930221" y="2703895"/>
            <a:chExt cx="3703343" cy="260364"/>
          </a:xfrm>
        </p:grpSpPr>
        <p:grpSp>
          <p:nvGrpSpPr>
            <p:cNvPr id="11" name="组合 10"/>
            <p:cNvGrpSpPr/>
            <p:nvPr/>
          </p:nvGrpSpPr>
          <p:grpSpPr>
            <a:xfrm>
              <a:off x="3930221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23" name="组合 2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25" name="powerpoint template design by DAJU_PPT正版来源小红书大橘PPT微信DAJU_PPT请勿抄袭搬运！盗版必究！-1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powerpoint template design by DAJU_PPT正版来源小红书大橘PPT微信DAJU_PPT请勿抄袭搬运！盗版必究！-2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24" name="powerpoint template design by DAJU_PPT正版来源小红书大橘PPT微信DAJU_PPT请勿抄袭搬运！盗版必究！-3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 flipH="1">
              <a:off x="6546444" y="2703895"/>
              <a:ext cx="1087120" cy="260364"/>
              <a:chOff x="5874392" y="3867911"/>
              <a:chExt cx="1953753" cy="467922"/>
            </a:xfrm>
            <a:solidFill>
              <a:schemeClr val="accent2"/>
            </a:solidFill>
          </p:grpSpPr>
          <p:grpSp>
            <p:nvGrpSpPr>
              <p:cNvPr id="13" name="组合 12"/>
              <p:cNvGrpSpPr/>
              <p:nvPr/>
            </p:nvGrpSpPr>
            <p:grpSpPr>
              <a:xfrm>
                <a:off x="7295699" y="3867911"/>
                <a:ext cx="532446" cy="467922"/>
                <a:chOff x="3277173" y="3960087"/>
                <a:chExt cx="532446" cy="467922"/>
              </a:xfrm>
              <a:grpFill/>
            </p:grpSpPr>
            <p:sp>
              <p:nvSpPr>
                <p:cNvPr id="15" name="powerpoint template design by DAJU_PPT正版来源小红书大橘PPT微信DAJU_PPT请勿抄袭搬运！盗版必究！-4"/>
                <p:cNvSpPr/>
                <p:nvPr/>
              </p:nvSpPr>
              <p:spPr>
                <a:xfrm>
                  <a:off x="3419475" y="3960087"/>
                  <a:ext cx="390144" cy="467922"/>
                </a:xfrm>
                <a:prstGeom prst="chevron">
                  <a:avLst>
                    <a:gd name="adj" fmla="val 6386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powerpoint template design by DAJU_PPT正版来源小红书大橘PPT微信DAJU_PPT请勿抄袭搬运！盗版必究！-5"/>
                <p:cNvSpPr/>
                <p:nvPr/>
              </p:nvSpPr>
              <p:spPr>
                <a:xfrm>
                  <a:off x="3277173" y="4051746"/>
                  <a:ext cx="284604" cy="284604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60"/>
                </a:p>
              </p:txBody>
            </p:sp>
          </p:grpSp>
          <p:cxnSp>
            <p:nvCxnSpPr>
              <p:cNvPr id="14" name="powerpoint template design by DAJU_PPT正版来源小红书大橘PPT微信DAJU_PPT请勿抄袭搬运！盗版必究！-6"/>
              <p:cNvCxnSpPr/>
              <p:nvPr/>
            </p:nvCxnSpPr>
            <p:spPr>
              <a:xfrm>
                <a:off x="5874392" y="4101873"/>
                <a:ext cx="1421889" cy="0"/>
              </a:xfrm>
              <a:prstGeom prst="line">
                <a:avLst/>
              </a:prstGeom>
              <a:grpFill/>
              <a:ln w="12700" cap="rnd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32125" y="43764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 dirty="0">
                <a:latin typeface="+mn-ea"/>
                <a:sym typeface="+mn-ea"/>
              </a:rPr>
              <a:t>汇报</a:t>
            </a:r>
            <a:r>
              <a:rPr lang="zh-CN" altLang="en-US" b="1">
                <a:latin typeface="+mn-ea"/>
                <a:sym typeface="+mn-ea"/>
              </a:rPr>
              <a:t>人：</a:t>
            </a:r>
            <a:r>
              <a:rPr lang="zh-CN" altLang="en-US" b="1">
                <a:latin typeface="+mn-ea"/>
                <a:sym typeface="+mn-ea"/>
              </a:rPr>
              <a:t>闫皇冲</a:t>
            </a:r>
            <a:endParaRPr lang="zh-CN" altLang="en-US" b="1">
              <a:latin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5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959417" y="8553167"/>
            <a:ext cx="6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4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5372101" y="2030205"/>
            <a:ext cx="1447800" cy="16617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endParaRPr lang="zh-CN" altLang="en-US" sz="5400" b="1" spc="300" dirty="0">
              <a:solidFill>
                <a:schemeClr val="accent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5400" b="1" spc="300" dirty="0">
                <a:solidFill>
                  <a:schemeClr val="accent1"/>
                </a:solidFill>
                <a:cs typeface="+mn-ea"/>
                <a:sym typeface="+mn-lt"/>
              </a:rPr>
              <a:t>谢谢</a:t>
            </a:r>
            <a:endParaRPr lang="zh-CN" altLang="en-US" sz="5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13" name="powerpoint template design by DAJU_PPT正版来源小红书大橘PPT微信DAJU_PPT请勿抄袭搬运！盗版必究！"/>
          <p:cNvGrpSpPr/>
          <p:nvPr/>
        </p:nvGrpSpPr>
        <p:grpSpPr>
          <a:xfrm>
            <a:off x="2656946" y="4543521"/>
            <a:ext cx="6878109" cy="160811"/>
            <a:chOff x="2656946" y="4546640"/>
            <a:chExt cx="6878109" cy="160811"/>
          </a:xfrm>
        </p:grpSpPr>
        <p:cxnSp>
          <p:nvCxnSpPr>
            <p:cNvPr id="14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27" name="powerpoint template design by DAJU_PPT正版来源小红书大橘PPT微信DAJU_PPT请勿抄袭搬运！盗版必究！-2"/>
                <p:cNvSpPr/>
                <p:nvPr>
                  <p:custDataLst>
                    <p:tags r:id="rId1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powerpoint template design by DAJU_PPT正版来源小红书大橘PPT微信DAJU_PPT请勿抄袭搬运！盗版必究！-3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powerpoint template design by DAJU_PPT正版来源小红书大橘PPT微信DAJU_PPT请勿抄袭搬运！盗版必究！-4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533337"/>
            <a:ext cx="1499612" cy="1499612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ISLIDE.ICON" val="#36637;"/>
</p:tagLst>
</file>

<file path=ppt/tags/tag8.xml><?xml version="1.0" encoding="utf-8"?>
<p:tagLst xmlns:p="http://schemas.openxmlformats.org/presentationml/2006/main">
  <p:tag name="ISLIDE.ICON" val="#35732;"/>
</p:tagLst>
</file>

<file path=ppt/tags/tag9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0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1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2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3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4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5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6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7.xml><?xml version="1.0" encoding="utf-8"?>
<p:tagLst xmlns:p="http://schemas.openxmlformats.org/presentationml/2006/main">
  <p:tag name="KSO_WM_DIAGRAM_VIRTUALLY_FRAME" val="{&quot;height&quot;:84,&quot;left&quot;:61.5,&quot;top&quot;:138.75,&quot;width&quot;:835.5}"/>
</p:tagLst>
</file>

<file path=ppt/tags/tag18.xml><?xml version="1.0" encoding="utf-8"?>
<p:tagLst xmlns:p="http://schemas.openxmlformats.org/presentationml/2006/main">
  <p:tag name="TABLE_ENDDRAG_ORIGIN_RECT" val="662*138"/>
  <p:tag name="TABLE_ENDDRAG_RECT" val="264*247*662*138"/>
</p:tagLst>
</file>

<file path=ppt/tags/tag19.xml><?xml version="1.0" encoding="utf-8"?>
<p:tagLst xmlns:p="http://schemas.openxmlformats.org/presentationml/2006/main">
  <p:tag name="ISLIDE.ICON" val="#35732;"/>
</p:tagLst>
</file>

<file path=ppt/tags/tag20.xml><?xml version="1.0" encoding="utf-8"?>
<p:tagLst xmlns:p="http://schemas.openxmlformats.org/presentationml/2006/main">
  <p:tag name="PA" val="v5.2.9"/>
</p:tagLst>
</file>

<file path=ppt/tags/tag21.xml><?xml version="1.0" encoding="utf-8"?>
<p:tagLst xmlns:p="http://schemas.openxmlformats.org/presentationml/2006/main">
  <p:tag name="PA" val="v5.2.9"/>
</p:tagLst>
</file>

<file path=ppt/tags/tag22.xml><?xml version="1.0" encoding="utf-8"?>
<p:tagLst xmlns:p="http://schemas.openxmlformats.org/presentationml/2006/main">
  <p:tag name="PA" val="v5.2.9"/>
</p:tagLst>
</file>

<file path=ppt/tags/tag23.xml><?xml version="1.0" encoding="utf-8"?>
<p:tagLst xmlns:p="http://schemas.openxmlformats.org/presentationml/2006/main">
  <p:tag name="PA" val="v5.2.9"/>
</p:tagLst>
</file>

<file path=ppt/tags/tag24.xml><?xml version="1.0" encoding="utf-8"?>
<p:tagLst xmlns:p="http://schemas.openxmlformats.org/presentationml/2006/main">
  <p:tag name="PA" val="v5.2.9"/>
</p:tagLst>
</file>

<file path=ppt/tags/tag25.xml><?xml version="1.0" encoding="utf-8"?>
<p:tagLst xmlns:p="http://schemas.openxmlformats.org/presentationml/2006/main">
  <p:tag name="PA" val="v5.2.9"/>
</p:tagLst>
</file>

<file path=ppt/tags/tag26.xml><?xml version="1.0" encoding="utf-8"?>
<p:tagLst xmlns:p="http://schemas.openxmlformats.org/presentationml/2006/main">
  <p:tag name="ISLIDE.ICON" val="#36637;"/>
</p:tagLst>
</file>

<file path=ppt/tags/tag27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94761"/>
      </a:accent1>
      <a:accent2>
        <a:srgbClr val="D0B296"/>
      </a:accent2>
      <a:accent3>
        <a:srgbClr val="394761"/>
      </a:accent3>
      <a:accent4>
        <a:srgbClr val="D0B296"/>
      </a:accent4>
      <a:accent5>
        <a:srgbClr val="394761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2632</Words>
  <Application>WPS 演示</Application>
  <PresentationFormat>宽屏</PresentationFormat>
  <Paragraphs>344</Paragraphs>
  <Slides>21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阿里巴巴普惠体 2.0 45 Light</vt:lpstr>
      <vt:lpstr>Calibri</vt:lpstr>
      <vt:lpstr>Times New Roman</vt:lpstr>
      <vt:lpstr>等线</vt:lpstr>
      <vt:lpstr>Arial Unicode MS</vt:lpstr>
      <vt:lpstr>AMGDT</vt:lpstr>
      <vt:lpstr>ＭＳ 明朝</vt:lpstr>
      <vt:lpstr>Symbol</vt:lpstr>
      <vt:lpstr>Noto Sans SC</vt:lpstr>
      <vt:lpstr>Poppins</vt:lpstr>
      <vt:lpstr>Calibri</vt:lpstr>
      <vt:lpstr>Poppins SemiBold</vt:lpstr>
      <vt:lpstr>Arial</vt:lpstr>
      <vt:lpstr>Noto Sans SC</vt:lpstr>
      <vt:lpstr>Poppins</vt:lpstr>
      <vt:lpstr>Poppins SemiBold</vt:lpstr>
      <vt:lpstr>Symbol</vt:lpstr>
      <vt:lpstr>阿里巴巴普惠体 2.0 45 Light</vt:lpstr>
      <vt:lpstr>ＭＳ 明朝</vt:lpstr>
      <vt:lpstr>锐字逼格青春体简2.0</vt:lpstr>
      <vt:lpstr>方正VDL哥特明朝 简 M</vt:lpstr>
      <vt:lpstr>Saturday Sans Regular</vt:lpstr>
      <vt:lpstr>A new day begins</vt:lpstr>
      <vt:lpstr>Kata SemiBold</vt:lpstr>
      <vt:lpstr>Cambria</vt:lpstr>
      <vt:lpstr>Office Theme</vt:lpstr>
      <vt:lpstr>PowerPoint 演示文稿</vt:lpstr>
      <vt:lpstr>PowerPoint 演示文稿</vt:lpstr>
      <vt:lpstr>阶段成果总览</vt:lpstr>
      <vt:lpstr>指标点批量导入功能</vt:lpstr>
      <vt:lpstr>指标点批量导入功能</vt:lpstr>
      <vt:lpstr>指标点批量导入功能</vt:lpstr>
      <vt:lpstr>指标点批量导入功能</vt:lpstr>
      <vt:lpstr>优化目标达成度小数点导出问题</vt:lpstr>
      <vt:lpstr>优化目标达成度小数点导出问题</vt:lpstr>
      <vt:lpstr>优化目标达成度小数点导出问题</vt:lpstr>
      <vt:lpstr>优化目标达成度小数点导出问题</vt:lpstr>
      <vt:lpstr>优化目标达成度小数点导出问题</vt:lpstr>
      <vt:lpstr>指标点批量导入功能</vt:lpstr>
      <vt:lpstr>教学班级批量导入</vt:lpstr>
      <vt:lpstr>学院删除失败修复</vt:lpstr>
      <vt:lpstr>学院删除失败修复</vt:lpstr>
      <vt:lpstr>样式调整、界面优化</vt:lpstr>
      <vt:lpstr>教务管理员端界面优化</vt:lpstr>
      <vt:lpstr>教务管理员端界面优化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曾子升</dc:creator>
  <cp:lastModifiedBy>吴思雨</cp:lastModifiedBy>
  <cp:revision>1043</cp:revision>
  <dcterms:created xsi:type="dcterms:W3CDTF">2019-11-26T03:41:00Z</dcterms:created>
  <dcterms:modified xsi:type="dcterms:W3CDTF">2026-06-24T00:42:03Z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487A391E5F844848A870FCEA6864F11D_13</vt:lpwstr>
  </property>
  <property fmtid="{D5CDD505-2E9C-101B-9397-08002B2CF9AE}" pid="3" name="KSOProductBuildVer">
    <vt:lpwstr>2052-12.1.0.26895</vt:lpwstr>
  </property>
</Properties>
</file>